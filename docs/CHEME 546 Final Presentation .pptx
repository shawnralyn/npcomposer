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embeddedFontLst>
    <p:embeddedFont>
      <p:font typeface="Montserrat"/>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4C0D17B-5626-47C9-A5E4-B185B2C88677}">
  <a:tblStyle styleId="{A4C0D17B-5626-47C9-A5E4-B185B2C8867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Montserrat-regular.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Montserrat-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d068cdf79e_1_3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d068cdf79e_1_3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3d068cdf79e_1_3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068cdf79e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068cdf79e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0a5086bb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0a5086bb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0a5086bb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0a5086bb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0a5086bb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0a5086bb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068cdf79e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d068cdf79e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0a5086bb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0a5086bb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0a5086bb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d0a5086bb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0a5086bbc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d0a5086bbc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0a5086bbc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d0a5086bbc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0a5086bbc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d0a5086bbc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0a5086bbc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d0a5086bbc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c5d6c12be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c5d6c12be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d068cdf7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d068cdf7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c5d6c12be5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c5d6c12be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78cfe0e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Now, let me walk you through our RL fine-tuning approach — NPGPT-RL.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We start with NPGPT, which is 2.6-million parameter GPT model pretrained on the COCONUT natural product database. We then apply the REINFORCE policy gradient algorithm to optimize it for generating better molecules.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On the left, you can see the training pipeline. At each step, the model generates a batch of SMILES strings, and we evaluate them with our multi-objective reward function — shown in the table on the right.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The reward has four components: </a:t>
            </a:r>
            <a:r>
              <a:rPr b="1" lang="en" sz="1000">
                <a:solidFill>
                  <a:schemeClr val="dk1"/>
                </a:solidFill>
              </a:rPr>
              <a:t>validity</a:t>
            </a:r>
            <a:r>
              <a:rPr lang="en" sz="1000">
                <a:solidFill>
                  <a:schemeClr val="dk1"/>
                </a:solidFill>
              </a:rPr>
              <a:t> gets the highest weight at 1.0 since generating valid molecules is the most basic requirement. Then we have </a:t>
            </a:r>
            <a:r>
              <a:rPr b="1" lang="en" sz="1000">
                <a:solidFill>
                  <a:schemeClr val="dk1"/>
                </a:solidFill>
              </a:rPr>
              <a:t>QED</a:t>
            </a:r>
            <a:r>
              <a:rPr lang="en" sz="1000">
                <a:solidFill>
                  <a:schemeClr val="dk1"/>
                </a:solidFill>
              </a:rPr>
              <a:t> for drug-likeness, </a:t>
            </a:r>
            <a:r>
              <a:rPr b="1" lang="en" sz="1000">
                <a:solidFill>
                  <a:schemeClr val="dk1"/>
                </a:solidFill>
              </a:rPr>
              <a:t>SA score</a:t>
            </a:r>
            <a:r>
              <a:rPr lang="en" sz="1000">
                <a:solidFill>
                  <a:schemeClr val="dk1"/>
                </a:solidFill>
              </a:rPr>
              <a:t> for synthetic accessibility, and </a:t>
            </a:r>
            <a:r>
              <a:rPr b="1" lang="en" sz="1000">
                <a:solidFill>
                  <a:schemeClr val="dk1"/>
                </a:solidFill>
              </a:rPr>
              <a:t>NP-likeness</a:t>
            </a:r>
            <a:r>
              <a:rPr lang="en" sz="1000">
                <a:solidFill>
                  <a:schemeClr val="dk1"/>
                </a:solidFill>
              </a:rPr>
              <a:t> to keep the molecules natural-product-like. Invalid molecules get a penalty of minus 0.5.</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 The loss function is standard REINFORCE with two important additions: a </a:t>
            </a:r>
            <a:r>
              <a:rPr b="1" lang="en" sz="1000">
                <a:solidFill>
                  <a:schemeClr val="dk1"/>
                </a:solidFill>
              </a:rPr>
              <a:t>baseline</a:t>
            </a:r>
            <a:r>
              <a:rPr lang="en" sz="1000">
                <a:solidFill>
                  <a:schemeClr val="dk1"/>
                </a:solidFill>
              </a:rPr>
              <a:t> — the running mean of rewards — for variance reduction, and a </a:t>
            </a:r>
            <a:r>
              <a:rPr b="1" lang="en" sz="1000">
                <a:solidFill>
                  <a:schemeClr val="dk1"/>
                </a:solidFill>
              </a:rPr>
              <a:t>KL divergence</a:t>
            </a:r>
            <a:r>
              <a:rPr lang="en" sz="1000">
                <a:solidFill>
                  <a:schemeClr val="dk1"/>
                </a:solidFill>
              </a:rPr>
              <a:t> term against a frozen copy of the pretrained model to prevent mode collapse. The best checkpoint was found at step 600.</a:t>
            </a:r>
            <a:endParaRPr sz="1000">
              <a:solidFill>
                <a:schemeClr val="dk1"/>
              </a:solidFill>
            </a:endParaRPr>
          </a:p>
          <a:p>
            <a:pPr indent="0" lvl="0" marL="0" rtl="0" algn="l">
              <a:spcBef>
                <a:spcPts val="0"/>
              </a:spcBef>
              <a:spcAft>
                <a:spcPts val="0"/>
              </a:spcAft>
              <a:buNone/>
            </a:pPr>
            <a:r>
              <a:t/>
            </a:r>
            <a:endParaRPr b="1" sz="900">
              <a:solidFill>
                <a:srgbClr val="569CD6"/>
              </a:solidFill>
              <a:highlight>
                <a:srgbClr val="1F1F1F"/>
              </a:highlight>
              <a:latin typeface="Courier New"/>
              <a:ea typeface="Courier New"/>
              <a:cs typeface="Courier New"/>
              <a:sym typeface="Courier New"/>
            </a:endParaRPr>
          </a:p>
        </p:txBody>
      </p:sp>
      <p:sp>
        <p:nvSpPr>
          <p:cNvPr id="344" name="Google Shape;344;g3d78cfe0e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d78cfe0e1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So does RL actually help Absolutely</a:t>
            </a:r>
            <a:endParaRPr/>
          </a:p>
          <a:p>
            <a:pPr indent="0" lvl="0" marL="0" rtl="0" algn="l">
              <a:lnSpc>
                <a:spcPct val="115000"/>
              </a:lnSpc>
              <a:spcBef>
                <a:spcPts val="1200"/>
              </a:spcBef>
              <a:spcAft>
                <a:spcPts val="0"/>
              </a:spcAft>
              <a:buClr>
                <a:schemeClr val="dk1"/>
              </a:buClr>
              <a:buSzPts val="1100"/>
              <a:buFont typeface="Arial"/>
              <a:buNone/>
            </a:pPr>
            <a:r>
              <a:rPr lang="en"/>
              <a:t>Here we compare the pretrained NPGPT against the RL finetuned version evaluated on 50 molecules across 3 random seeds</a:t>
            </a:r>
            <a:endParaRPr/>
          </a:p>
          <a:p>
            <a:pPr indent="0" lvl="0" marL="0" rtl="0" algn="l">
              <a:lnSpc>
                <a:spcPct val="115000"/>
              </a:lnSpc>
              <a:spcBef>
                <a:spcPts val="1200"/>
              </a:spcBef>
              <a:spcAft>
                <a:spcPts val="0"/>
              </a:spcAft>
              <a:buClr>
                <a:schemeClr val="dk1"/>
              </a:buClr>
              <a:buSzPts val="1100"/>
              <a:buFont typeface="Arial"/>
              <a:buNone/>
            </a:pPr>
            <a:r>
              <a:rPr lang="en"/>
              <a:t>On the left you can see the histograms and comparison table and on the right the key improvements are highlighted</a:t>
            </a:r>
            <a:endParaRPr/>
          </a:p>
          <a:p>
            <a:pPr indent="0" lvl="0" marL="0" rtl="0" algn="l">
              <a:lnSpc>
                <a:spcPct val="115000"/>
              </a:lnSpc>
              <a:spcBef>
                <a:spcPts val="1200"/>
              </a:spcBef>
              <a:spcAft>
                <a:spcPts val="0"/>
              </a:spcAft>
              <a:buClr>
                <a:schemeClr val="dk1"/>
              </a:buClr>
              <a:buSzPts val="1100"/>
              <a:buFont typeface="Arial"/>
              <a:buNone/>
            </a:pPr>
            <a:r>
              <a:rPr lang="en"/>
              <a:t>Validity jumped from 88 percent to 94 percent QED drug likeness improved by 40 percent which is statistically significant at p less than 0.01 SA score decreased by 24 percent meaning the molecules became significantly easier to synthesize NP likeness increased by 47 percent so the molecules are more natural product like And novelty increased by 18 percent meaning fewer duplicates from the training set</a:t>
            </a:r>
            <a:endParaRPr/>
          </a:p>
          <a:p>
            <a:pPr indent="0" lvl="0" marL="0" rtl="0" algn="l">
              <a:lnSpc>
                <a:spcPct val="115000"/>
              </a:lnSpc>
              <a:spcBef>
                <a:spcPts val="1200"/>
              </a:spcBef>
              <a:spcAft>
                <a:spcPts val="0"/>
              </a:spcAft>
              <a:buClr>
                <a:schemeClr val="dk1"/>
              </a:buClr>
              <a:buSzPts val="1100"/>
              <a:buFont typeface="Arial"/>
              <a:buNone/>
            </a:pPr>
            <a:r>
              <a:rPr lang="en"/>
              <a:t>So across every single metric RL fine tuning led to meaningful improvements and most of these are statistically significant</a:t>
            </a:r>
            <a:endParaRPr/>
          </a:p>
          <a:p>
            <a:pPr indent="0" lvl="0" marL="0" rtl="0" algn="l">
              <a:spcBef>
                <a:spcPts val="1200"/>
              </a:spcBef>
              <a:spcAft>
                <a:spcPts val="0"/>
              </a:spcAft>
              <a:buNone/>
            </a:pPr>
            <a:r>
              <a:t/>
            </a:r>
            <a:endParaRPr/>
          </a:p>
        </p:txBody>
      </p:sp>
      <p:sp>
        <p:nvSpPr>
          <p:cNvPr id="360" name="Google Shape;360;g3d78cfe0e1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d78cfe0e1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Now lets zoom out and compare all the models in our platform</a:t>
            </a:r>
            <a:endParaRPr/>
          </a:p>
          <a:p>
            <a:pPr indent="0" lvl="0" marL="0" rtl="0" algn="l">
              <a:lnSpc>
                <a:spcPct val="115000"/>
              </a:lnSpc>
              <a:spcBef>
                <a:spcPts val="1200"/>
              </a:spcBef>
              <a:spcAft>
                <a:spcPts val="0"/>
              </a:spcAft>
              <a:buClr>
                <a:schemeClr val="dk1"/>
              </a:buClr>
              <a:buSzPts val="1100"/>
              <a:buFont typeface="Arial"/>
              <a:buNone/>
            </a:pPr>
            <a:r>
              <a:rPr lang="en"/>
              <a:t>This chart shows five metrics across seven model configurations Let me highlight the key takeaways</a:t>
            </a:r>
            <a:endParaRPr/>
          </a:p>
          <a:p>
            <a:pPr indent="0" lvl="0" marL="0" rtl="0" algn="l">
              <a:lnSpc>
                <a:spcPct val="115000"/>
              </a:lnSpc>
              <a:spcBef>
                <a:spcPts val="1200"/>
              </a:spcBef>
              <a:spcAft>
                <a:spcPts val="0"/>
              </a:spcAft>
              <a:buClr>
                <a:schemeClr val="dk1"/>
              </a:buClr>
              <a:buSzPts val="1100"/>
              <a:buFont typeface="Arial"/>
              <a:buNone/>
            </a:pPr>
            <a:r>
              <a:rPr lang="en"/>
              <a:t>GP MoLFormer the 46 point 8 million parameter foundation model achieves the highest QED at 0 point 64 but its NP likeness is actually negative meaning it generates generic drug like molecules rather than natural products</a:t>
            </a:r>
            <a:endParaRPr/>
          </a:p>
          <a:p>
            <a:pPr indent="0" lvl="0" marL="0" rtl="0" algn="l">
              <a:lnSpc>
                <a:spcPct val="115000"/>
              </a:lnSpc>
              <a:spcBef>
                <a:spcPts val="1200"/>
              </a:spcBef>
              <a:spcAft>
                <a:spcPts val="0"/>
              </a:spcAft>
              <a:buClr>
                <a:schemeClr val="dk1"/>
              </a:buClr>
              <a:buSzPts val="1100"/>
              <a:buFont typeface="Arial"/>
              <a:buNone/>
            </a:pPr>
            <a:r>
              <a:rPr lang="en"/>
              <a:t>NPGPT RL our RL model achieves the best validity at 94 percent and the highest NP likeness at 1 point 6 confirming that RL successfully pushes the model toward natural product space</a:t>
            </a:r>
            <a:endParaRPr/>
          </a:p>
          <a:p>
            <a:pPr indent="0" lvl="0" marL="0" rtl="0" algn="l">
              <a:lnSpc>
                <a:spcPct val="115000"/>
              </a:lnSpc>
              <a:spcBef>
                <a:spcPts val="1200"/>
              </a:spcBef>
              <a:spcAft>
                <a:spcPts val="0"/>
              </a:spcAft>
              <a:buClr>
                <a:schemeClr val="dk1"/>
              </a:buClr>
              <a:buSzPts val="1100"/>
              <a:buFont typeface="Arial"/>
              <a:buNone/>
            </a:pPr>
            <a:r>
              <a:rPr lang="en"/>
              <a:t>NPComposer with QED and SA conditioning has the best SA score at 2 point 4 and the highest structural diversity at 0 point 19 showing the power of conditional generation</a:t>
            </a:r>
            <a:endParaRPr/>
          </a:p>
          <a:p>
            <a:pPr indent="0" lvl="0" marL="0" rtl="0" algn="l">
              <a:lnSpc>
                <a:spcPct val="115000"/>
              </a:lnSpc>
              <a:spcBef>
                <a:spcPts val="1200"/>
              </a:spcBef>
              <a:spcAft>
                <a:spcPts val="0"/>
              </a:spcAft>
              <a:buClr>
                <a:schemeClr val="dk1"/>
              </a:buClr>
              <a:buSzPts val="1100"/>
              <a:buFont typeface="Arial"/>
              <a:buNone/>
            </a:pPr>
            <a:r>
              <a:rPr lang="en"/>
              <a:t>And with pathway conditioning like Alkaloids NPComposer achieves 85 percent pathway classification accuracy meaning it reliably generates the type of molecule you ask for</a:t>
            </a:r>
            <a:endParaRPr/>
          </a:p>
          <a:p>
            <a:pPr indent="0" lvl="0" marL="0" rtl="0" algn="l">
              <a:lnSpc>
                <a:spcPct val="115000"/>
              </a:lnSpc>
              <a:spcBef>
                <a:spcPts val="1200"/>
              </a:spcBef>
              <a:spcAft>
                <a:spcPts val="0"/>
              </a:spcAft>
              <a:buClr>
                <a:schemeClr val="dk1"/>
              </a:buClr>
              <a:buSzPts val="1100"/>
              <a:buFont typeface="Arial"/>
              <a:buNone/>
            </a:pPr>
            <a:r>
              <a:rPr lang="en"/>
              <a:t>So each model has its strengths GP MoLFormer for drug likeness NPGPT RL for NP likeness and validity and NPComposer for controllability and diversity</a:t>
            </a:r>
            <a:endParaRPr/>
          </a:p>
          <a:p>
            <a:pPr indent="0" lvl="0" marL="0" rtl="0" algn="l">
              <a:spcBef>
                <a:spcPts val="1200"/>
              </a:spcBef>
              <a:spcAft>
                <a:spcPts val="0"/>
              </a:spcAft>
              <a:buNone/>
            </a:pPr>
            <a:r>
              <a:t/>
            </a:r>
            <a:endParaRPr/>
          </a:p>
        </p:txBody>
      </p:sp>
      <p:sp>
        <p:nvSpPr>
          <p:cNvPr id="396" name="Google Shape;396;g3d78cfe0e1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d78cfe0e14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Finally all of this comes together in the NPComposer platform</a:t>
            </a:r>
            <a:endParaRPr/>
          </a:p>
          <a:p>
            <a:pPr indent="0" lvl="0" marL="0" rtl="0" algn="l">
              <a:lnSpc>
                <a:spcPct val="115000"/>
              </a:lnSpc>
              <a:spcBef>
                <a:spcPts val="1200"/>
              </a:spcBef>
              <a:spcAft>
                <a:spcPts val="0"/>
              </a:spcAft>
              <a:buClr>
                <a:schemeClr val="dk1"/>
              </a:buClr>
              <a:buSzPts val="1100"/>
              <a:buFont typeface="Arial"/>
              <a:buNone/>
            </a:pPr>
            <a:r>
              <a:rPr lang="en"/>
              <a:t>The pipeline flows from left to right we start with three natural product databases COCONUT with 715K molecules NPASS with 203K and NP Drug with 3K known drug molecules These go through data processing K means subsetting filtering and splitting Then we support multiple models NPComposer NPGPT RL GP MoLFormer and NPGPT All models feed into a unified evaluation suite measuring validity QED SA NP likeness and pathway accuracy And finally generation both conditional and unconditional with built in visualization</a:t>
            </a:r>
            <a:endParaRPr/>
          </a:p>
          <a:p>
            <a:pPr indent="0" lvl="0" marL="0" rtl="0" algn="l">
              <a:lnSpc>
                <a:spcPct val="115000"/>
              </a:lnSpc>
              <a:spcBef>
                <a:spcPts val="1200"/>
              </a:spcBef>
              <a:spcAft>
                <a:spcPts val="0"/>
              </a:spcAft>
              <a:buClr>
                <a:schemeClr val="dk1"/>
              </a:buClr>
              <a:buSzPts val="1100"/>
              <a:buFont typeface="Arial"/>
              <a:buNone/>
            </a:pPr>
            <a:r>
              <a:rPr lang="en"/>
              <a:t>The key point this entire pipeline is automated One command make setup through make evaluate handles everything Its extensible you can add your own model by just implementing a generate function And its open source on GitHub Thank you</a:t>
            </a:r>
            <a:endParaRPr/>
          </a:p>
          <a:p>
            <a:pPr indent="0" lvl="0" marL="0" rtl="0" algn="l">
              <a:spcBef>
                <a:spcPts val="1200"/>
              </a:spcBef>
              <a:spcAft>
                <a:spcPts val="0"/>
              </a:spcAft>
              <a:buNone/>
            </a:pPr>
            <a:r>
              <a:t/>
            </a:r>
            <a:endParaRPr/>
          </a:p>
        </p:txBody>
      </p:sp>
      <p:sp>
        <p:nvSpPr>
          <p:cNvPr id="417" name="Google Shape;417;g3d78cfe0e14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14.png"/><Relationship Id="rId7"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2.png"/><Relationship Id="rId8"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26.png"/><Relationship Id="rId5" Type="http://schemas.openxmlformats.org/officeDocument/2006/relationships/image" Target="../media/image31.png"/><Relationship Id="rId6" Type="http://schemas.openxmlformats.org/officeDocument/2006/relationships/image" Target="../media/image23.png"/><Relationship Id="rId7"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0.png"/><Relationship Id="rId4" Type="http://schemas.openxmlformats.org/officeDocument/2006/relationships/image" Target="../media/image32.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420"/>
        </a:solidFill>
      </p:bgPr>
    </p:bg>
    <p:spTree>
      <p:nvGrpSpPr>
        <p:cNvPr id="56" name="Shape 56"/>
        <p:cNvGrpSpPr/>
        <p:nvPr/>
      </p:nvGrpSpPr>
      <p:grpSpPr>
        <a:xfrm>
          <a:off x="0" y="0"/>
          <a:ext cx="0" cy="0"/>
          <a:chOff x="0" y="0"/>
          <a:chExt cx="0" cy="0"/>
        </a:xfrm>
      </p:grpSpPr>
      <p:sp>
        <p:nvSpPr>
          <p:cNvPr id="57" name="Google Shape;57;p15"/>
          <p:cNvSpPr/>
          <p:nvPr/>
        </p:nvSpPr>
        <p:spPr>
          <a:xfrm>
            <a:off x="0" y="0"/>
            <a:ext cx="201300" cy="5143500"/>
          </a:xfrm>
          <a:prstGeom prst="rect">
            <a:avLst/>
          </a:prstGeom>
          <a:solidFill>
            <a:srgbClr val="3D7A5E"/>
          </a:solidFill>
          <a:ln cap="flat" cmpd="sng" w="12700">
            <a:solidFill>
              <a:srgbClr val="3D7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 name="Google Shape;58;p15"/>
          <p:cNvCxnSpPr/>
          <p:nvPr/>
        </p:nvCxnSpPr>
        <p:spPr>
          <a:xfrm>
            <a:off x="201168" y="822960"/>
            <a:ext cx="8942700" cy="0"/>
          </a:xfrm>
          <a:prstGeom prst="straightConnector1">
            <a:avLst/>
          </a:prstGeom>
          <a:noFill/>
          <a:ln cap="flat" cmpd="sng" w="9525">
            <a:solidFill>
              <a:srgbClr val="FFFFFF">
                <a:alpha val="12160"/>
              </a:srgbClr>
            </a:solidFill>
            <a:prstDash val="solid"/>
            <a:round/>
            <a:headEnd len="sm" w="sm" type="none"/>
            <a:tailEnd len="sm" w="sm" type="none"/>
          </a:ln>
        </p:spPr>
      </p:cxnSp>
      <p:cxnSp>
        <p:nvCxnSpPr>
          <p:cNvPr id="59" name="Google Shape;59;p15"/>
          <p:cNvCxnSpPr/>
          <p:nvPr/>
        </p:nvCxnSpPr>
        <p:spPr>
          <a:xfrm>
            <a:off x="201168" y="1536192"/>
            <a:ext cx="8942700" cy="0"/>
          </a:xfrm>
          <a:prstGeom prst="straightConnector1">
            <a:avLst/>
          </a:prstGeom>
          <a:noFill/>
          <a:ln cap="flat" cmpd="sng" w="9525">
            <a:solidFill>
              <a:srgbClr val="FFFFFF">
                <a:alpha val="12160"/>
              </a:srgbClr>
            </a:solidFill>
            <a:prstDash val="solid"/>
            <a:round/>
            <a:headEnd len="sm" w="sm" type="none"/>
            <a:tailEnd len="sm" w="sm" type="none"/>
          </a:ln>
        </p:spPr>
      </p:cxnSp>
      <p:cxnSp>
        <p:nvCxnSpPr>
          <p:cNvPr id="60" name="Google Shape;60;p15"/>
          <p:cNvCxnSpPr/>
          <p:nvPr/>
        </p:nvCxnSpPr>
        <p:spPr>
          <a:xfrm>
            <a:off x="201168" y="2249424"/>
            <a:ext cx="8942700" cy="0"/>
          </a:xfrm>
          <a:prstGeom prst="straightConnector1">
            <a:avLst/>
          </a:prstGeom>
          <a:noFill/>
          <a:ln cap="flat" cmpd="sng" w="9525">
            <a:solidFill>
              <a:srgbClr val="FFFFFF">
                <a:alpha val="12160"/>
              </a:srgbClr>
            </a:solidFill>
            <a:prstDash val="solid"/>
            <a:round/>
            <a:headEnd len="sm" w="sm" type="none"/>
            <a:tailEnd len="sm" w="sm" type="none"/>
          </a:ln>
        </p:spPr>
      </p:cxnSp>
      <p:cxnSp>
        <p:nvCxnSpPr>
          <p:cNvPr id="61" name="Google Shape;61;p15"/>
          <p:cNvCxnSpPr/>
          <p:nvPr/>
        </p:nvCxnSpPr>
        <p:spPr>
          <a:xfrm>
            <a:off x="201168" y="2962656"/>
            <a:ext cx="8942700" cy="0"/>
          </a:xfrm>
          <a:prstGeom prst="straightConnector1">
            <a:avLst/>
          </a:prstGeom>
          <a:noFill/>
          <a:ln cap="flat" cmpd="sng" w="9525">
            <a:solidFill>
              <a:srgbClr val="FFFFFF">
                <a:alpha val="12160"/>
              </a:srgbClr>
            </a:solidFill>
            <a:prstDash val="solid"/>
            <a:round/>
            <a:headEnd len="sm" w="sm" type="none"/>
            <a:tailEnd len="sm" w="sm" type="none"/>
          </a:ln>
        </p:spPr>
      </p:cxnSp>
      <p:cxnSp>
        <p:nvCxnSpPr>
          <p:cNvPr id="62" name="Google Shape;62;p15"/>
          <p:cNvCxnSpPr/>
          <p:nvPr/>
        </p:nvCxnSpPr>
        <p:spPr>
          <a:xfrm>
            <a:off x="201168" y="3675888"/>
            <a:ext cx="8942700" cy="0"/>
          </a:xfrm>
          <a:prstGeom prst="straightConnector1">
            <a:avLst/>
          </a:prstGeom>
          <a:noFill/>
          <a:ln cap="flat" cmpd="sng" w="9525">
            <a:solidFill>
              <a:srgbClr val="FFFFFF">
                <a:alpha val="12160"/>
              </a:srgbClr>
            </a:solidFill>
            <a:prstDash val="solid"/>
            <a:round/>
            <a:headEnd len="sm" w="sm" type="none"/>
            <a:tailEnd len="sm" w="sm" type="none"/>
          </a:ln>
        </p:spPr>
      </p:cxnSp>
      <p:cxnSp>
        <p:nvCxnSpPr>
          <p:cNvPr id="63" name="Google Shape;63;p15"/>
          <p:cNvCxnSpPr/>
          <p:nvPr/>
        </p:nvCxnSpPr>
        <p:spPr>
          <a:xfrm>
            <a:off x="201168" y="4389120"/>
            <a:ext cx="8942700" cy="0"/>
          </a:xfrm>
          <a:prstGeom prst="straightConnector1">
            <a:avLst/>
          </a:prstGeom>
          <a:noFill/>
          <a:ln cap="flat" cmpd="sng" w="9525">
            <a:solidFill>
              <a:srgbClr val="FFFFFF">
                <a:alpha val="12160"/>
              </a:srgbClr>
            </a:solidFill>
            <a:prstDash val="solid"/>
            <a:round/>
            <a:headEnd len="sm" w="sm" type="none"/>
            <a:tailEnd len="sm" w="sm" type="none"/>
          </a:ln>
        </p:spPr>
      </p:cxnSp>
      <p:sp>
        <p:nvSpPr>
          <p:cNvPr id="64" name="Google Shape;64;p15"/>
          <p:cNvSpPr/>
          <p:nvPr/>
        </p:nvSpPr>
        <p:spPr>
          <a:xfrm>
            <a:off x="502920" y="1188720"/>
            <a:ext cx="6858000" cy="164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4000"/>
              <a:buFont typeface="Cambria"/>
              <a:buNone/>
            </a:pPr>
            <a:r>
              <a:rPr b="1" lang="en" sz="3500">
                <a:solidFill>
                  <a:srgbClr val="FFFFFF"/>
                </a:solidFill>
                <a:latin typeface="Montserrat"/>
                <a:ea typeface="Montserrat"/>
                <a:cs typeface="Montserrat"/>
                <a:sym typeface="Montserrat"/>
              </a:rPr>
              <a:t>NPComposer: A</a:t>
            </a:r>
            <a:r>
              <a:rPr b="1" lang="en" sz="3500">
                <a:solidFill>
                  <a:srgbClr val="FFFFFF"/>
                </a:solidFill>
                <a:latin typeface="Montserrat"/>
                <a:ea typeface="Montserrat"/>
                <a:cs typeface="Montserrat"/>
                <a:sym typeface="Montserrat"/>
              </a:rPr>
              <a:t>n </a:t>
            </a:r>
            <a:r>
              <a:rPr b="1" lang="en" sz="3500">
                <a:solidFill>
                  <a:srgbClr val="FFFFFF"/>
                </a:solidFill>
                <a:latin typeface="Montserrat"/>
                <a:ea typeface="Montserrat"/>
                <a:cs typeface="Montserrat"/>
                <a:sym typeface="Montserrat"/>
              </a:rPr>
              <a:t>advanced platform for natural product generation methods</a:t>
            </a:r>
            <a:endParaRPr b="1" i="0" sz="3500" u="none" cap="none" strike="noStrike">
              <a:solidFill>
                <a:schemeClr val="dk1"/>
              </a:solidFill>
              <a:latin typeface="Montserrat"/>
              <a:ea typeface="Montserrat"/>
              <a:cs typeface="Montserrat"/>
              <a:sym typeface="Montserrat"/>
            </a:endParaRPr>
          </a:p>
        </p:txBody>
      </p:sp>
      <p:sp>
        <p:nvSpPr>
          <p:cNvPr id="65" name="Google Shape;65;p15"/>
          <p:cNvSpPr/>
          <p:nvPr/>
        </p:nvSpPr>
        <p:spPr>
          <a:xfrm>
            <a:off x="502920" y="2926080"/>
            <a:ext cx="6858000" cy="731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A9BA8"/>
              </a:buClr>
              <a:buSzPts val="1400"/>
              <a:buFont typeface="Calibri"/>
              <a:buNone/>
            </a:pPr>
            <a:r>
              <a:rPr lang="en">
                <a:solidFill>
                  <a:srgbClr val="8A9BA8"/>
                </a:solidFill>
                <a:latin typeface="Calibri"/>
                <a:ea typeface="Calibri"/>
                <a:cs typeface="Calibri"/>
                <a:sym typeface="Calibri"/>
              </a:rPr>
              <a:t>Final Presentation</a:t>
            </a:r>
            <a:r>
              <a:rPr lang="en">
                <a:solidFill>
                  <a:srgbClr val="8A9BA8"/>
                </a:solidFill>
                <a:latin typeface="Calibri"/>
                <a:ea typeface="Calibri"/>
                <a:cs typeface="Calibri"/>
                <a:sym typeface="Calibri"/>
              </a:rPr>
              <a:t> – ChemE 546</a:t>
            </a:r>
            <a:endParaRPr b="0" i="0" sz="1400" u="none" cap="none" strike="noStrike">
              <a:solidFill>
                <a:schemeClr val="dk1"/>
              </a:solidFill>
              <a:latin typeface="Calibri"/>
              <a:ea typeface="Calibri"/>
              <a:cs typeface="Calibri"/>
              <a:sym typeface="Calibri"/>
            </a:endParaRPr>
          </a:p>
        </p:txBody>
      </p:sp>
      <p:cxnSp>
        <p:nvCxnSpPr>
          <p:cNvPr id="66" name="Google Shape;66;p15"/>
          <p:cNvCxnSpPr/>
          <p:nvPr/>
        </p:nvCxnSpPr>
        <p:spPr>
          <a:xfrm>
            <a:off x="502920" y="3794760"/>
            <a:ext cx="3200400" cy="0"/>
          </a:xfrm>
          <a:prstGeom prst="straightConnector1">
            <a:avLst/>
          </a:prstGeom>
          <a:noFill/>
          <a:ln cap="flat" cmpd="sng" w="19050">
            <a:solidFill>
              <a:srgbClr val="3D7A5E"/>
            </a:solidFill>
            <a:prstDash val="solid"/>
            <a:round/>
            <a:headEnd len="sm" w="sm" type="none"/>
            <a:tailEnd len="sm" w="sm" type="none"/>
          </a:ln>
        </p:spPr>
      </p:cxnSp>
      <p:sp>
        <p:nvSpPr>
          <p:cNvPr id="67" name="Google Shape;67;p15"/>
          <p:cNvSpPr/>
          <p:nvPr/>
        </p:nvSpPr>
        <p:spPr>
          <a:xfrm>
            <a:off x="502920" y="4023360"/>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BA8"/>
              </a:buClr>
              <a:buSzPts val="1000"/>
              <a:buFont typeface="Calibri"/>
              <a:buNone/>
            </a:pPr>
            <a:r>
              <a:rPr lang="en" sz="1000">
                <a:solidFill>
                  <a:srgbClr val="8A9BA8"/>
                </a:solidFill>
                <a:latin typeface="Calibri"/>
                <a:ea typeface="Calibri"/>
                <a:cs typeface="Calibri"/>
                <a:sym typeface="Calibri"/>
              </a:rPr>
              <a:t>Shawn Ralyn, Juyoung Choi, Drew Levitt</a:t>
            </a:r>
            <a:r>
              <a:rPr b="0" i="0" lang="en" sz="1000" u="none" cap="none" strike="noStrike">
                <a:solidFill>
                  <a:srgbClr val="8A9BA8"/>
                </a:solidFill>
                <a:latin typeface="Calibri"/>
                <a:ea typeface="Calibri"/>
                <a:cs typeface="Calibri"/>
                <a:sym typeface="Calibri"/>
              </a:rPr>
              <a:t> ·  </a:t>
            </a:r>
            <a:r>
              <a:rPr lang="en" sz="1000">
                <a:solidFill>
                  <a:srgbClr val="8A9BA8"/>
                </a:solidFill>
                <a:latin typeface="Calibri"/>
                <a:ea typeface="Calibri"/>
                <a:cs typeface="Calibri"/>
                <a:sym typeface="Calibri"/>
              </a:rPr>
              <a:t>University of Washington</a:t>
            </a:r>
            <a:r>
              <a:rPr b="0" i="0" lang="en" sz="1000" u="none" cap="none" strike="noStrike">
                <a:solidFill>
                  <a:srgbClr val="8A9BA8"/>
                </a:solidFill>
                <a:latin typeface="Calibri"/>
                <a:ea typeface="Calibri"/>
                <a:cs typeface="Calibri"/>
                <a:sym typeface="Calibri"/>
              </a:rPr>
              <a:t>  ·  202</a:t>
            </a:r>
            <a:r>
              <a:rPr lang="en" sz="1000">
                <a:solidFill>
                  <a:srgbClr val="8A9BA8"/>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cxnSp>
        <p:nvCxnSpPr>
          <p:cNvPr id="68" name="Google Shape;68;p15"/>
          <p:cNvCxnSpPr/>
          <p:nvPr/>
        </p:nvCxnSpPr>
        <p:spPr>
          <a:xfrm>
            <a:off x="7498080" y="914400"/>
            <a:ext cx="822900" cy="1005900"/>
          </a:xfrm>
          <a:prstGeom prst="straightConnector1">
            <a:avLst/>
          </a:prstGeom>
          <a:noFill/>
          <a:ln cap="flat" cmpd="sng" w="12700">
            <a:solidFill>
              <a:srgbClr val="3D7A5E">
                <a:alpha val="50199"/>
              </a:srgbClr>
            </a:solidFill>
            <a:prstDash val="solid"/>
            <a:round/>
            <a:headEnd len="sm" w="sm" type="none"/>
            <a:tailEnd len="sm" w="sm" type="none"/>
          </a:ln>
        </p:spPr>
      </p:cxnSp>
      <p:cxnSp>
        <p:nvCxnSpPr>
          <p:cNvPr id="69" name="Google Shape;69;p15"/>
          <p:cNvCxnSpPr/>
          <p:nvPr/>
        </p:nvCxnSpPr>
        <p:spPr>
          <a:xfrm flipH="1">
            <a:off x="6949380" y="914400"/>
            <a:ext cx="548700" cy="1280100"/>
          </a:xfrm>
          <a:prstGeom prst="straightConnector1">
            <a:avLst/>
          </a:prstGeom>
          <a:noFill/>
          <a:ln cap="flat" cmpd="sng" w="12700">
            <a:solidFill>
              <a:srgbClr val="3D7A5E">
                <a:alpha val="50199"/>
              </a:srgbClr>
            </a:solidFill>
            <a:prstDash val="solid"/>
            <a:round/>
            <a:headEnd len="sm" w="sm" type="none"/>
            <a:tailEnd len="sm" w="sm" type="none"/>
          </a:ln>
        </p:spPr>
      </p:cxnSp>
      <p:cxnSp>
        <p:nvCxnSpPr>
          <p:cNvPr id="70" name="Google Shape;70;p15"/>
          <p:cNvCxnSpPr/>
          <p:nvPr/>
        </p:nvCxnSpPr>
        <p:spPr>
          <a:xfrm flipH="1">
            <a:off x="7955340" y="1920240"/>
            <a:ext cx="365700" cy="1097400"/>
          </a:xfrm>
          <a:prstGeom prst="straightConnector1">
            <a:avLst/>
          </a:prstGeom>
          <a:noFill/>
          <a:ln cap="flat" cmpd="sng" w="12700">
            <a:solidFill>
              <a:srgbClr val="3D7A5E">
                <a:alpha val="50199"/>
              </a:srgbClr>
            </a:solidFill>
            <a:prstDash val="solid"/>
            <a:round/>
            <a:headEnd len="sm" w="sm" type="none"/>
            <a:tailEnd len="sm" w="sm" type="none"/>
          </a:ln>
        </p:spPr>
      </p:cxnSp>
      <p:cxnSp>
        <p:nvCxnSpPr>
          <p:cNvPr id="71" name="Google Shape;71;p15"/>
          <p:cNvCxnSpPr/>
          <p:nvPr/>
        </p:nvCxnSpPr>
        <p:spPr>
          <a:xfrm>
            <a:off x="6949440" y="2194560"/>
            <a:ext cx="1005900" cy="822900"/>
          </a:xfrm>
          <a:prstGeom prst="straightConnector1">
            <a:avLst/>
          </a:prstGeom>
          <a:noFill/>
          <a:ln cap="flat" cmpd="sng" w="12700">
            <a:solidFill>
              <a:srgbClr val="3D7A5E">
                <a:alpha val="50199"/>
              </a:srgbClr>
            </a:solidFill>
            <a:prstDash val="solid"/>
            <a:round/>
            <a:headEnd len="sm" w="sm" type="none"/>
            <a:tailEnd len="sm" w="sm" type="none"/>
          </a:ln>
        </p:spPr>
      </p:cxnSp>
      <p:cxnSp>
        <p:nvCxnSpPr>
          <p:cNvPr id="72" name="Google Shape;72;p15"/>
          <p:cNvCxnSpPr/>
          <p:nvPr/>
        </p:nvCxnSpPr>
        <p:spPr>
          <a:xfrm flipH="1">
            <a:off x="6766680" y="3017520"/>
            <a:ext cx="1188600" cy="457200"/>
          </a:xfrm>
          <a:prstGeom prst="straightConnector1">
            <a:avLst/>
          </a:prstGeom>
          <a:noFill/>
          <a:ln cap="flat" cmpd="sng" w="12700">
            <a:solidFill>
              <a:srgbClr val="3D7A5E">
                <a:alpha val="50199"/>
              </a:srgbClr>
            </a:solidFill>
            <a:prstDash val="solid"/>
            <a:round/>
            <a:headEnd len="sm" w="sm" type="none"/>
            <a:tailEnd len="sm" w="sm" type="none"/>
          </a:ln>
        </p:spPr>
      </p:cxnSp>
      <p:cxnSp>
        <p:nvCxnSpPr>
          <p:cNvPr id="73" name="Google Shape;73;p15"/>
          <p:cNvCxnSpPr/>
          <p:nvPr/>
        </p:nvCxnSpPr>
        <p:spPr>
          <a:xfrm>
            <a:off x="7955280" y="3017520"/>
            <a:ext cx="548700" cy="731400"/>
          </a:xfrm>
          <a:prstGeom prst="straightConnector1">
            <a:avLst/>
          </a:prstGeom>
          <a:noFill/>
          <a:ln cap="flat" cmpd="sng" w="12700">
            <a:solidFill>
              <a:srgbClr val="3D7A5E">
                <a:alpha val="50199"/>
              </a:srgbClr>
            </a:solidFill>
            <a:prstDash val="solid"/>
            <a:round/>
            <a:headEnd len="sm" w="sm" type="none"/>
            <a:tailEnd len="sm" w="sm" type="none"/>
          </a:ln>
        </p:spPr>
      </p:cxnSp>
      <p:sp>
        <p:nvSpPr>
          <p:cNvPr id="74" name="Google Shape;74;p15"/>
          <p:cNvSpPr/>
          <p:nvPr/>
        </p:nvSpPr>
        <p:spPr>
          <a:xfrm>
            <a:off x="6995160" y="411480"/>
            <a:ext cx="1005900" cy="1005900"/>
          </a:xfrm>
          <a:prstGeom prst="ellipse">
            <a:avLst/>
          </a:prstGeom>
          <a:solidFill>
            <a:srgbClr val="3D7A5E">
              <a:alpha val="34900"/>
            </a:srgbClr>
          </a:solidFill>
          <a:ln cap="flat" cmpd="sng" w="12700">
            <a:solidFill>
              <a:srgbClr val="3D7A5E">
                <a:alpha val="7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p:nvPr/>
        </p:nvSpPr>
        <p:spPr>
          <a:xfrm>
            <a:off x="8001000" y="1600200"/>
            <a:ext cx="640200" cy="640200"/>
          </a:xfrm>
          <a:prstGeom prst="ellipse">
            <a:avLst/>
          </a:prstGeom>
          <a:solidFill>
            <a:srgbClr val="3D7A5E">
              <a:alpha val="34900"/>
            </a:srgbClr>
          </a:solidFill>
          <a:ln cap="flat" cmpd="sng" w="12700">
            <a:solidFill>
              <a:srgbClr val="3D7A5E">
                <a:alpha val="7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a:off x="6693408" y="1938528"/>
            <a:ext cx="512100" cy="512100"/>
          </a:xfrm>
          <a:prstGeom prst="ellipse">
            <a:avLst/>
          </a:prstGeom>
          <a:solidFill>
            <a:srgbClr val="3D7A5E">
              <a:alpha val="34900"/>
            </a:srgbClr>
          </a:solidFill>
          <a:ln cap="flat" cmpd="sng" w="12700">
            <a:solidFill>
              <a:srgbClr val="3D7A5E">
                <a:alpha val="7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a:off x="7543800" y="2606040"/>
            <a:ext cx="822900" cy="822900"/>
          </a:xfrm>
          <a:prstGeom prst="ellipse">
            <a:avLst/>
          </a:prstGeom>
          <a:solidFill>
            <a:srgbClr val="3D7A5E">
              <a:alpha val="34900"/>
            </a:srgbClr>
          </a:solidFill>
          <a:ln cap="flat" cmpd="sng" w="12700">
            <a:solidFill>
              <a:srgbClr val="3D7A5E">
                <a:alpha val="7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5"/>
          <p:cNvSpPr/>
          <p:nvPr/>
        </p:nvSpPr>
        <p:spPr>
          <a:xfrm>
            <a:off x="6565392" y="3273552"/>
            <a:ext cx="402300" cy="402300"/>
          </a:xfrm>
          <a:prstGeom prst="ellipse">
            <a:avLst/>
          </a:prstGeom>
          <a:solidFill>
            <a:srgbClr val="3D7A5E">
              <a:alpha val="34900"/>
            </a:srgbClr>
          </a:solidFill>
          <a:ln cap="flat" cmpd="sng" w="12700">
            <a:solidFill>
              <a:srgbClr val="3D7A5E">
                <a:alpha val="7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5"/>
          <p:cNvSpPr/>
          <p:nvPr/>
        </p:nvSpPr>
        <p:spPr>
          <a:xfrm>
            <a:off x="8229600" y="3474720"/>
            <a:ext cx="548700" cy="548700"/>
          </a:xfrm>
          <a:prstGeom prst="ellipse">
            <a:avLst/>
          </a:prstGeom>
          <a:solidFill>
            <a:srgbClr val="3D7A5E">
              <a:alpha val="34900"/>
            </a:srgbClr>
          </a:solidFill>
          <a:ln cap="flat" cmpd="sng" w="12700">
            <a:solidFill>
              <a:srgbClr val="3D7A5E">
                <a:alpha val="7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ctrTitle"/>
          </p:nvPr>
        </p:nvSpPr>
        <p:spPr>
          <a:xfrm>
            <a:off x="0" y="1039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090">
                <a:latin typeface="Montserrat"/>
                <a:ea typeface="Montserrat"/>
                <a:cs typeface="Montserrat"/>
                <a:sym typeface="Montserrat"/>
              </a:rPr>
              <a:t>Natural product are </a:t>
            </a:r>
            <a:r>
              <a:rPr b="1" lang="en" sz="2090">
                <a:latin typeface="Montserrat"/>
                <a:ea typeface="Montserrat"/>
                <a:cs typeface="Montserrat"/>
                <a:sym typeface="Montserrat"/>
              </a:rPr>
              <a:t>complex</a:t>
            </a:r>
            <a:r>
              <a:rPr b="1" lang="en" sz="2090">
                <a:latin typeface="Montserrat"/>
                <a:ea typeface="Montserrat"/>
                <a:cs typeface="Montserrat"/>
                <a:sym typeface="Montserrat"/>
              </a:rPr>
              <a:t> and interesting molecules</a:t>
            </a:r>
            <a:endParaRPr b="1" sz="2090">
              <a:latin typeface="Montserrat"/>
              <a:ea typeface="Montserrat"/>
              <a:cs typeface="Montserrat"/>
              <a:sym typeface="Montserrat"/>
            </a:endParaRPr>
          </a:p>
        </p:txBody>
      </p:sp>
      <p:pic>
        <p:nvPicPr>
          <p:cNvPr id="85" name="Google Shape;85;p16"/>
          <p:cNvPicPr preferRelativeResize="0"/>
          <p:nvPr/>
        </p:nvPicPr>
        <p:blipFill>
          <a:blip r:embed="rId3">
            <a:alphaModFix/>
          </a:blip>
          <a:stretch>
            <a:fillRect/>
          </a:stretch>
        </p:blipFill>
        <p:spPr>
          <a:xfrm>
            <a:off x="378075" y="2230873"/>
            <a:ext cx="3299500" cy="1559001"/>
          </a:xfrm>
          <a:prstGeom prst="rect">
            <a:avLst/>
          </a:prstGeom>
          <a:noFill/>
          <a:ln>
            <a:noFill/>
          </a:ln>
        </p:spPr>
      </p:pic>
      <p:sp>
        <p:nvSpPr>
          <p:cNvPr id="86" name="Google Shape;86;p16"/>
          <p:cNvSpPr txBox="1"/>
          <p:nvPr/>
        </p:nvSpPr>
        <p:spPr>
          <a:xfrm>
            <a:off x="286875" y="827050"/>
            <a:ext cx="8650500" cy="877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30% of FDA approved drugs are sourced from natural products</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Natural products have </a:t>
            </a:r>
            <a:r>
              <a:rPr lang="en" sz="1500">
                <a:solidFill>
                  <a:schemeClr val="dk2"/>
                </a:solidFill>
                <a:latin typeface="Montserrat"/>
                <a:ea typeface="Montserrat"/>
                <a:cs typeface="Montserrat"/>
                <a:sym typeface="Montserrat"/>
              </a:rPr>
              <a:t>innate</a:t>
            </a:r>
            <a:r>
              <a:rPr lang="en" sz="1500">
                <a:solidFill>
                  <a:schemeClr val="dk2"/>
                </a:solidFill>
                <a:latin typeface="Montserrat"/>
                <a:ea typeface="Montserrat"/>
                <a:cs typeface="Montserrat"/>
                <a:sym typeface="Montserrat"/>
              </a:rPr>
              <a:t> bioactivity</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Natural-</a:t>
            </a:r>
            <a:r>
              <a:rPr lang="en" sz="1500">
                <a:solidFill>
                  <a:schemeClr val="dk2"/>
                </a:solidFill>
                <a:latin typeface="Montserrat"/>
                <a:ea typeface="Montserrat"/>
                <a:cs typeface="Montserrat"/>
                <a:sym typeface="Montserrat"/>
              </a:rPr>
              <a:t>product</a:t>
            </a:r>
            <a:r>
              <a:rPr lang="en" sz="1500">
                <a:solidFill>
                  <a:schemeClr val="dk2"/>
                </a:solidFill>
                <a:latin typeface="Montserrat"/>
                <a:ea typeface="Montserrat"/>
                <a:cs typeface="Montserrat"/>
                <a:sym typeface="Montserrat"/>
              </a:rPr>
              <a:t> derived </a:t>
            </a:r>
            <a:r>
              <a:rPr lang="en" sz="1500">
                <a:solidFill>
                  <a:schemeClr val="dk2"/>
                </a:solidFill>
                <a:latin typeface="Montserrat"/>
                <a:ea typeface="Montserrat"/>
                <a:cs typeface="Montserrat"/>
                <a:sym typeface="Montserrat"/>
              </a:rPr>
              <a:t>specialty</a:t>
            </a:r>
            <a:r>
              <a:rPr lang="en" sz="1500">
                <a:solidFill>
                  <a:schemeClr val="dk2"/>
                </a:solidFill>
                <a:latin typeface="Montserrat"/>
                <a:ea typeface="Montserrat"/>
                <a:cs typeface="Montserrat"/>
                <a:sym typeface="Montserrat"/>
              </a:rPr>
              <a:t> chemicals are widely used across many industries</a:t>
            </a:r>
            <a:endParaRPr sz="1500">
              <a:solidFill>
                <a:schemeClr val="dk2"/>
              </a:solidFill>
              <a:latin typeface="Montserrat"/>
              <a:ea typeface="Montserrat"/>
              <a:cs typeface="Montserrat"/>
              <a:sym typeface="Montserrat"/>
            </a:endParaRPr>
          </a:p>
        </p:txBody>
      </p:sp>
      <p:sp>
        <p:nvSpPr>
          <p:cNvPr id="87" name="Google Shape;87;p16"/>
          <p:cNvSpPr txBox="1"/>
          <p:nvPr/>
        </p:nvSpPr>
        <p:spPr>
          <a:xfrm>
            <a:off x="345675" y="4561800"/>
            <a:ext cx="8532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000000"/>
                </a:solidFill>
                <a:latin typeface="Calibri"/>
                <a:ea typeface="Calibri"/>
                <a:cs typeface="Calibri"/>
                <a:sym typeface="Calibri"/>
              </a:rPr>
              <a:t>[1] L. Laraia and H. Waldmann, “Natural product inspired compound collections: evolutionary principle, chemical synthesis, phenotypic screening, and target identification,” Drug Discovery Today: Technologies, vol. 23, pp. 75–82, Mar. 2017, doi: 10.1016/j.ddtec.2017.03.003.</a:t>
            </a:r>
            <a:endParaRPr sz="800">
              <a:solidFill>
                <a:srgbClr val="000000"/>
              </a:solidFill>
              <a:latin typeface="Calibri"/>
              <a:ea typeface="Calibri"/>
              <a:cs typeface="Calibri"/>
              <a:sym typeface="Calibri"/>
            </a:endParaRPr>
          </a:p>
        </p:txBody>
      </p:sp>
      <p:pic>
        <p:nvPicPr>
          <p:cNvPr id="88" name="Google Shape;88;p16" title="Screenshot 2026-03-16 at 12.33.03 PM.png"/>
          <p:cNvPicPr preferRelativeResize="0"/>
          <p:nvPr/>
        </p:nvPicPr>
        <p:blipFill>
          <a:blip r:embed="rId4">
            <a:alphaModFix/>
          </a:blip>
          <a:stretch>
            <a:fillRect/>
          </a:stretch>
        </p:blipFill>
        <p:spPr>
          <a:xfrm>
            <a:off x="4936102" y="1925325"/>
            <a:ext cx="1813605" cy="1216475"/>
          </a:xfrm>
          <a:prstGeom prst="rect">
            <a:avLst/>
          </a:prstGeom>
          <a:noFill/>
          <a:ln>
            <a:noFill/>
          </a:ln>
        </p:spPr>
      </p:pic>
      <p:pic>
        <p:nvPicPr>
          <p:cNvPr id="89" name="Google Shape;89;p16" title="Screenshot 2026-03-15 at 3.36.53 PM.png"/>
          <p:cNvPicPr preferRelativeResize="0"/>
          <p:nvPr/>
        </p:nvPicPr>
        <p:blipFill rotWithShape="1">
          <a:blip r:embed="rId5">
            <a:alphaModFix/>
          </a:blip>
          <a:srcRect b="17655" l="3197" r="6502" t="21904"/>
          <a:stretch/>
        </p:blipFill>
        <p:spPr>
          <a:xfrm>
            <a:off x="6775915" y="1836825"/>
            <a:ext cx="2135051" cy="1135400"/>
          </a:xfrm>
          <a:prstGeom prst="rect">
            <a:avLst/>
          </a:prstGeom>
          <a:noFill/>
          <a:ln>
            <a:noFill/>
          </a:ln>
        </p:spPr>
      </p:pic>
      <p:pic>
        <p:nvPicPr>
          <p:cNvPr id="90" name="Google Shape;90;p16" title="Screenshot 2026-03-16 at 12.43.02 PM.png"/>
          <p:cNvPicPr preferRelativeResize="0"/>
          <p:nvPr/>
        </p:nvPicPr>
        <p:blipFill>
          <a:blip r:embed="rId6">
            <a:alphaModFix/>
          </a:blip>
          <a:stretch>
            <a:fillRect/>
          </a:stretch>
        </p:blipFill>
        <p:spPr>
          <a:xfrm>
            <a:off x="5102964" y="3190525"/>
            <a:ext cx="1479909" cy="938474"/>
          </a:xfrm>
          <a:prstGeom prst="rect">
            <a:avLst/>
          </a:prstGeom>
          <a:noFill/>
          <a:ln>
            <a:noFill/>
          </a:ln>
        </p:spPr>
      </p:pic>
      <p:pic>
        <p:nvPicPr>
          <p:cNvPr id="91" name="Google Shape;91;p16" title="Screenshot 2026-03-16 at 12.43.41 PM.png"/>
          <p:cNvPicPr preferRelativeResize="0"/>
          <p:nvPr/>
        </p:nvPicPr>
        <p:blipFill>
          <a:blip r:embed="rId7">
            <a:alphaModFix/>
          </a:blip>
          <a:stretch>
            <a:fillRect/>
          </a:stretch>
        </p:blipFill>
        <p:spPr>
          <a:xfrm>
            <a:off x="7006002" y="3049945"/>
            <a:ext cx="1479926" cy="1122191"/>
          </a:xfrm>
          <a:prstGeom prst="rect">
            <a:avLst/>
          </a:prstGeom>
          <a:noFill/>
          <a:ln>
            <a:noFill/>
          </a:ln>
        </p:spPr>
      </p:pic>
      <p:cxnSp>
        <p:nvCxnSpPr>
          <p:cNvPr id="92" name="Google Shape;92;p16"/>
          <p:cNvCxnSpPr/>
          <p:nvPr/>
        </p:nvCxnSpPr>
        <p:spPr>
          <a:xfrm>
            <a:off x="4054750" y="3010375"/>
            <a:ext cx="7026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ctrTitle"/>
          </p:nvPr>
        </p:nvSpPr>
        <p:spPr>
          <a:xfrm>
            <a:off x="0" y="1039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090">
                <a:latin typeface="Montserrat"/>
                <a:ea typeface="Montserrat"/>
                <a:cs typeface="Montserrat"/>
                <a:sym typeface="Montserrat"/>
              </a:rPr>
              <a:t>Natural product generation methods can be improved</a:t>
            </a:r>
            <a:endParaRPr b="1" sz="209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ctrTitle"/>
          </p:nvPr>
        </p:nvSpPr>
        <p:spPr>
          <a:xfrm>
            <a:off x="0" y="1039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090">
                <a:latin typeface="Montserrat"/>
                <a:ea typeface="Montserrat"/>
                <a:cs typeface="Montserrat"/>
                <a:sym typeface="Montserrat"/>
              </a:rPr>
              <a:t>Natural product generation methods can be improved</a:t>
            </a:r>
            <a:endParaRPr b="1" sz="2090">
              <a:latin typeface="Montserrat"/>
              <a:ea typeface="Montserrat"/>
              <a:cs typeface="Montserrat"/>
              <a:sym typeface="Montserrat"/>
            </a:endParaRPr>
          </a:p>
        </p:txBody>
      </p:sp>
      <p:sp>
        <p:nvSpPr>
          <p:cNvPr id="103" name="Google Shape;103;p18"/>
          <p:cNvSpPr txBox="1"/>
          <p:nvPr/>
        </p:nvSpPr>
        <p:spPr>
          <a:xfrm>
            <a:off x="246750" y="921600"/>
            <a:ext cx="4050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Montserrat"/>
                <a:ea typeface="Montserrat"/>
                <a:cs typeface="Montserrat"/>
                <a:sym typeface="Montserrat"/>
              </a:rPr>
              <a:t>Outputs of NP generation methods suffer from reduced validity, uniqueness, etc.</a:t>
            </a:r>
            <a:endParaRPr>
              <a:solidFill>
                <a:schemeClr val="dk2"/>
              </a:solidFill>
              <a:latin typeface="Montserrat"/>
              <a:ea typeface="Montserrat"/>
              <a:cs typeface="Montserrat"/>
              <a:sym typeface="Montserrat"/>
            </a:endParaRPr>
          </a:p>
        </p:txBody>
      </p:sp>
      <p:pic>
        <p:nvPicPr>
          <p:cNvPr id="104" name="Google Shape;104;p18" title="Screenshot 2026-03-16 at 12.36.25 PM.png"/>
          <p:cNvPicPr preferRelativeResize="0"/>
          <p:nvPr/>
        </p:nvPicPr>
        <p:blipFill>
          <a:blip r:embed="rId3">
            <a:alphaModFix/>
          </a:blip>
          <a:stretch>
            <a:fillRect/>
          </a:stretch>
        </p:blipFill>
        <p:spPr>
          <a:xfrm>
            <a:off x="5162213" y="650576"/>
            <a:ext cx="2151000" cy="1334387"/>
          </a:xfrm>
          <a:prstGeom prst="rect">
            <a:avLst/>
          </a:prstGeom>
          <a:noFill/>
          <a:ln>
            <a:noFill/>
          </a:ln>
        </p:spPr>
      </p:pic>
      <p:sp>
        <p:nvSpPr>
          <p:cNvPr id="105" name="Google Shape;105;p18"/>
          <p:cNvSpPr txBox="1"/>
          <p:nvPr/>
        </p:nvSpPr>
        <p:spPr>
          <a:xfrm>
            <a:off x="6474700" y="1540638"/>
            <a:ext cx="9975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Is this real?</a:t>
            </a:r>
            <a:endParaRPr sz="12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p:nvPr/>
        </p:nvSpPr>
        <p:spPr>
          <a:xfrm>
            <a:off x="6421159" y="2170368"/>
            <a:ext cx="2013900" cy="1112700"/>
          </a:xfrm>
          <a:prstGeom prst="roundRect">
            <a:avLst>
              <a:gd fmla="val 16667" name="adj"/>
            </a:avLst>
          </a:prstGeom>
          <a:noFill/>
          <a:ln cap="flat" cmpd="sng" w="7650">
            <a:solidFill>
              <a:schemeClr val="dk2"/>
            </a:solidFill>
            <a:prstDash val="solid"/>
            <a:round/>
            <a:headEnd len="sm" w="sm" type="none"/>
            <a:tailEnd len="sm" w="sm" type="none"/>
          </a:ln>
        </p:spPr>
        <p:txBody>
          <a:bodyPr anchorCtr="0" anchor="ctr" bIns="73475" lIns="73475" spcFirstLastPara="1" rIns="73475" wrap="square" tIns="73475">
            <a:noAutofit/>
          </a:bodyPr>
          <a:lstStyle/>
          <a:p>
            <a:pPr indent="0" lvl="0" marL="0" rtl="0" algn="ctr">
              <a:spcBef>
                <a:spcPts val="0"/>
              </a:spcBef>
              <a:spcAft>
                <a:spcPts val="0"/>
              </a:spcAft>
              <a:buNone/>
            </a:pPr>
            <a:r>
              <a:t/>
            </a:r>
            <a:endParaRPr sz="1125"/>
          </a:p>
        </p:txBody>
      </p:sp>
      <p:sp>
        <p:nvSpPr>
          <p:cNvPr id="111" name="Google Shape;111;p19"/>
          <p:cNvSpPr/>
          <p:nvPr/>
        </p:nvSpPr>
        <p:spPr>
          <a:xfrm>
            <a:off x="4216817" y="2170368"/>
            <a:ext cx="2013900" cy="1112700"/>
          </a:xfrm>
          <a:prstGeom prst="roundRect">
            <a:avLst>
              <a:gd fmla="val 16667" name="adj"/>
            </a:avLst>
          </a:prstGeom>
          <a:noFill/>
          <a:ln cap="flat" cmpd="sng" w="7650">
            <a:solidFill>
              <a:schemeClr val="dk2"/>
            </a:solidFill>
            <a:prstDash val="solid"/>
            <a:round/>
            <a:headEnd len="sm" w="sm" type="none"/>
            <a:tailEnd len="sm" w="sm" type="none"/>
          </a:ln>
        </p:spPr>
        <p:txBody>
          <a:bodyPr anchorCtr="0" anchor="ctr" bIns="73475" lIns="73475" spcFirstLastPara="1" rIns="73475" wrap="square" tIns="73475">
            <a:noAutofit/>
          </a:bodyPr>
          <a:lstStyle/>
          <a:p>
            <a:pPr indent="0" lvl="0" marL="0" rtl="0" algn="ctr">
              <a:spcBef>
                <a:spcPts val="0"/>
              </a:spcBef>
              <a:spcAft>
                <a:spcPts val="0"/>
              </a:spcAft>
              <a:buNone/>
            </a:pPr>
            <a:r>
              <a:t/>
            </a:r>
            <a:endParaRPr sz="1125"/>
          </a:p>
        </p:txBody>
      </p:sp>
      <p:sp>
        <p:nvSpPr>
          <p:cNvPr id="112" name="Google Shape;112;p19"/>
          <p:cNvSpPr txBox="1"/>
          <p:nvPr>
            <p:ph type="ctrTitle"/>
          </p:nvPr>
        </p:nvSpPr>
        <p:spPr>
          <a:xfrm>
            <a:off x="0" y="1039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090">
                <a:latin typeface="Montserrat"/>
                <a:ea typeface="Montserrat"/>
                <a:cs typeface="Montserrat"/>
                <a:sym typeface="Montserrat"/>
              </a:rPr>
              <a:t>Natural product generation methods can be improved</a:t>
            </a:r>
            <a:endParaRPr b="1" sz="2090">
              <a:latin typeface="Montserrat"/>
              <a:ea typeface="Montserrat"/>
              <a:cs typeface="Montserrat"/>
              <a:sym typeface="Montserrat"/>
            </a:endParaRPr>
          </a:p>
        </p:txBody>
      </p:sp>
      <p:sp>
        <p:nvSpPr>
          <p:cNvPr id="113" name="Google Shape;113;p19"/>
          <p:cNvSpPr txBox="1"/>
          <p:nvPr/>
        </p:nvSpPr>
        <p:spPr>
          <a:xfrm>
            <a:off x="246750" y="921600"/>
            <a:ext cx="4050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Montserrat"/>
                <a:ea typeface="Montserrat"/>
                <a:cs typeface="Montserrat"/>
                <a:sym typeface="Montserrat"/>
              </a:rPr>
              <a:t>Outputs of NP generation methods suffer from reduced validity, uniqueness, etc.</a:t>
            </a:r>
            <a:endParaRPr>
              <a:solidFill>
                <a:schemeClr val="dk2"/>
              </a:solidFill>
              <a:latin typeface="Montserrat"/>
              <a:ea typeface="Montserrat"/>
              <a:cs typeface="Montserrat"/>
              <a:sym typeface="Montserrat"/>
            </a:endParaRPr>
          </a:p>
        </p:txBody>
      </p:sp>
      <p:sp>
        <p:nvSpPr>
          <p:cNvPr id="114" name="Google Shape;114;p19"/>
          <p:cNvSpPr txBox="1"/>
          <p:nvPr/>
        </p:nvSpPr>
        <p:spPr>
          <a:xfrm>
            <a:off x="264617" y="2426543"/>
            <a:ext cx="3307200" cy="589500"/>
          </a:xfrm>
          <a:prstGeom prst="rect">
            <a:avLst/>
          </a:prstGeom>
          <a:noFill/>
          <a:ln>
            <a:noFill/>
          </a:ln>
        </p:spPr>
        <p:txBody>
          <a:bodyPr anchorCtr="0" anchor="t" bIns="78475" lIns="78475" spcFirstLastPara="1" rIns="78475" wrap="square" tIns="78475">
            <a:spAutoFit/>
          </a:bodyPr>
          <a:lstStyle/>
          <a:p>
            <a:pPr indent="0" lvl="0" marL="0" rtl="0" algn="l">
              <a:spcBef>
                <a:spcPts val="0"/>
              </a:spcBef>
              <a:spcAft>
                <a:spcPts val="0"/>
              </a:spcAft>
              <a:buNone/>
            </a:pPr>
            <a:r>
              <a:rPr lang="en">
                <a:solidFill>
                  <a:schemeClr val="dk2"/>
                </a:solidFill>
                <a:latin typeface="Montserrat"/>
                <a:ea typeface="Montserrat"/>
                <a:cs typeface="Montserrat"/>
                <a:sym typeface="Montserrat"/>
              </a:rPr>
              <a:t>Current natural product generation methods lack functionality.</a:t>
            </a:r>
            <a:endParaRPr sz="1201">
              <a:solidFill>
                <a:schemeClr val="dk2"/>
              </a:solidFill>
              <a:latin typeface="Montserrat"/>
              <a:ea typeface="Montserrat"/>
              <a:cs typeface="Montserrat"/>
              <a:sym typeface="Montserrat"/>
            </a:endParaRPr>
          </a:p>
        </p:txBody>
      </p:sp>
      <p:pic>
        <p:nvPicPr>
          <p:cNvPr id="115" name="Google Shape;115;p19" title="Screenshot 2026-03-16 at 12.36.25 PM.png"/>
          <p:cNvPicPr preferRelativeResize="0"/>
          <p:nvPr/>
        </p:nvPicPr>
        <p:blipFill>
          <a:blip r:embed="rId3">
            <a:alphaModFix/>
          </a:blip>
          <a:stretch>
            <a:fillRect/>
          </a:stretch>
        </p:blipFill>
        <p:spPr>
          <a:xfrm>
            <a:off x="5162213" y="650576"/>
            <a:ext cx="2151000" cy="1334387"/>
          </a:xfrm>
          <a:prstGeom prst="rect">
            <a:avLst/>
          </a:prstGeom>
          <a:noFill/>
          <a:ln>
            <a:noFill/>
          </a:ln>
        </p:spPr>
      </p:pic>
      <p:sp>
        <p:nvSpPr>
          <p:cNvPr id="116" name="Google Shape;116;p19"/>
          <p:cNvSpPr/>
          <p:nvPr/>
        </p:nvSpPr>
        <p:spPr>
          <a:xfrm>
            <a:off x="4295126" y="2235303"/>
            <a:ext cx="1204200" cy="429900"/>
          </a:xfrm>
          <a:prstGeom prst="wedgeRoundRectCallout">
            <a:avLst>
              <a:gd fmla="val -46136" name="adj1"/>
              <a:gd fmla="val 77918" name="adj2"/>
              <a:gd fmla="val 0" name="adj3"/>
            </a:avLst>
          </a:prstGeom>
          <a:solidFill>
            <a:schemeClr val="lt2"/>
          </a:solidFill>
          <a:ln cap="flat" cmpd="sng" w="8175">
            <a:solidFill>
              <a:schemeClr val="dk2"/>
            </a:solidFill>
            <a:prstDash val="solid"/>
            <a:round/>
            <a:headEnd len="sm" w="sm" type="none"/>
            <a:tailEnd len="sm" w="sm" type="none"/>
          </a:ln>
        </p:spPr>
        <p:txBody>
          <a:bodyPr anchorCtr="0" anchor="ctr" bIns="78475" lIns="78475" spcFirstLastPara="1" rIns="78475" wrap="square" tIns="78475">
            <a:noAutofit/>
          </a:bodyPr>
          <a:lstStyle/>
          <a:p>
            <a:pPr indent="0" lvl="0" marL="0" rtl="0" algn="ctr">
              <a:spcBef>
                <a:spcPts val="0"/>
              </a:spcBef>
              <a:spcAft>
                <a:spcPts val="0"/>
              </a:spcAft>
              <a:buNone/>
            </a:pPr>
            <a:r>
              <a:rPr lang="en" sz="1115"/>
              <a:t>Generate an alkaloid</a:t>
            </a:r>
            <a:endParaRPr sz="1115"/>
          </a:p>
        </p:txBody>
      </p:sp>
      <p:sp>
        <p:nvSpPr>
          <p:cNvPr id="117" name="Google Shape;117;p19"/>
          <p:cNvSpPr/>
          <p:nvPr/>
        </p:nvSpPr>
        <p:spPr>
          <a:xfrm>
            <a:off x="4989614" y="2780454"/>
            <a:ext cx="559200" cy="210600"/>
          </a:xfrm>
          <a:prstGeom prst="wedgeRoundRectCallout">
            <a:avLst>
              <a:gd fmla="val 51567" name="adj1"/>
              <a:gd fmla="val 87330" name="adj2"/>
              <a:gd fmla="val 0" name="adj3"/>
            </a:avLst>
          </a:prstGeom>
          <a:solidFill>
            <a:schemeClr val="lt2"/>
          </a:solidFill>
          <a:ln cap="flat" cmpd="sng" w="8175">
            <a:solidFill>
              <a:schemeClr val="dk2"/>
            </a:solidFill>
            <a:prstDash val="solid"/>
            <a:round/>
            <a:headEnd len="sm" w="sm" type="none"/>
            <a:tailEnd len="sm" w="sm" type="none"/>
          </a:ln>
        </p:spPr>
        <p:txBody>
          <a:bodyPr anchorCtr="0" anchor="ctr" bIns="78475" lIns="78475" spcFirstLastPara="1" rIns="78475" wrap="square" tIns="78475">
            <a:noAutofit/>
          </a:bodyPr>
          <a:lstStyle/>
          <a:p>
            <a:pPr indent="0" lvl="0" marL="0" rtl="0" algn="ctr">
              <a:spcBef>
                <a:spcPts val="0"/>
              </a:spcBef>
              <a:spcAft>
                <a:spcPts val="0"/>
              </a:spcAft>
              <a:buNone/>
            </a:pPr>
            <a:r>
              <a:rPr lang="en" sz="1115"/>
              <a:t>?</a:t>
            </a:r>
            <a:endParaRPr sz="1115"/>
          </a:p>
        </p:txBody>
      </p:sp>
      <p:pic>
        <p:nvPicPr>
          <p:cNvPr id="118" name="Google Shape;118;p19"/>
          <p:cNvPicPr preferRelativeResize="0"/>
          <p:nvPr/>
        </p:nvPicPr>
        <p:blipFill rotWithShape="1">
          <a:blip r:embed="rId4">
            <a:alphaModFix/>
          </a:blip>
          <a:srcRect b="18492" l="17205" r="20024" t="18611"/>
          <a:stretch/>
        </p:blipFill>
        <p:spPr>
          <a:xfrm>
            <a:off x="5592019" y="2930382"/>
            <a:ext cx="498393" cy="332327"/>
          </a:xfrm>
          <a:prstGeom prst="rect">
            <a:avLst/>
          </a:prstGeom>
          <a:noFill/>
          <a:ln>
            <a:noFill/>
          </a:ln>
        </p:spPr>
      </p:pic>
      <p:sp>
        <p:nvSpPr>
          <p:cNvPr id="119" name="Google Shape;119;p19"/>
          <p:cNvSpPr/>
          <p:nvPr/>
        </p:nvSpPr>
        <p:spPr>
          <a:xfrm>
            <a:off x="6562877" y="2235303"/>
            <a:ext cx="1204200" cy="429900"/>
          </a:xfrm>
          <a:prstGeom prst="wedgeRoundRectCallout">
            <a:avLst>
              <a:gd fmla="val -46136" name="adj1"/>
              <a:gd fmla="val 77918" name="adj2"/>
              <a:gd fmla="val 0" name="adj3"/>
            </a:avLst>
          </a:prstGeom>
          <a:solidFill>
            <a:schemeClr val="lt2"/>
          </a:solidFill>
          <a:ln cap="flat" cmpd="sng" w="8175">
            <a:solidFill>
              <a:schemeClr val="dk2"/>
            </a:solidFill>
            <a:prstDash val="solid"/>
            <a:round/>
            <a:headEnd len="sm" w="sm" type="none"/>
            <a:tailEnd len="sm" w="sm" type="none"/>
          </a:ln>
        </p:spPr>
        <p:txBody>
          <a:bodyPr anchorCtr="0" anchor="ctr" bIns="78475" lIns="78475" spcFirstLastPara="1" rIns="78475" wrap="square" tIns="78475">
            <a:noAutofit/>
          </a:bodyPr>
          <a:lstStyle/>
          <a:p>
            <a:pPr indent="0" lvl="0" marL="0" rtl="0" algn="ctr">
              <a:spcBef>
                <a:spcPts val="0"/>
              </a:spcBef>
              <a:spcAft>
                <a:spcPts val="0"/>
              </a:spcAft>
              <a:buNone/>
            </a:pPr>
            <a:r>
              <a:rPr lang="en" sz="1115"/>
              <a:t>Make this more drug-like</a:t>
            </a:r>
            <a:endParaRPr sz="1115"/>
          </a:p>
        </p:txBody>
      </p:sp>
      <p:sp>
        <p:nvSpPr>
          <p:cNvPr id="120" name="Google Shape;120;p19"/>
          <p:cNvSpPr/>
          <p:nvPr/>
        </p:nvSpPr>
        <p:spPr>
          <a:xfrm>
            <a:off x="7257365" y="2763106"/>
            <a:ext cx="559200" cy="210600"/>
          </a:xfrm>
          <a:prstGeom prst="wedgeRoundRectCallout">
            <a:avLst>
              <a:gd fmla="val 51567" name="adj1"/>
              <a:gd fmla="val 87330" name="adj2"/>
              <a:gd fmla="val 0" name="adj3"/>
            </a:avLst>
          </a:prstGeom>
          <a:solidFill>
            <a:schemeClr val="lt2"/>
          </a:solidFill>
          <a:ln cap="flat" cmpd="sng" w="8175">
            <a:solidFill>
              <a:schemeClr val="dk2"/>
            </a:solidFill>
            <a:prstDash val="solid"/>
            <a:round/>
            <a:headEnd len="sm" w="sm" type="none"/>
            <a:tailEnd len="sm" w="sm" type="none"/>
          </a:ln>
        </p:spPr>
        <p:txBody>
          <a:bodyPr anchorCtr="0" anchor="ctr" bIns="78475" lIns="78475" spcFirstLastPara="1" rIns="78475" wrap="square" tIns="78475">
            <a:noAutofit/>
          </a:bodyPr>
          <a:lstStyle/>
          <a:p>
            <a:pPr indent="0" lvl="0" marL="0" rtl="0" algn="ctr">
              <a:spcBef>
                <a:spcPts val="0"/>
              </a:spcBef>
              <a:spcAft>
                <a:spcPts val="0"/>
              </a:spcAft>
              <a:buNone/>
            </a:pPr>
            <a:r>
              <a:rPr lang="en" sz="1115"/>
              <a:t>no.</a:t>
            </a:r>
            <a:endParaRPr sz="1115"/>
          </a:p>
        </p:txBody>
      </p:sp>
      <p:pic>
        <p:nvPicPr>
          <p:cNvPr id="121" name="Google Shape;121;p19"/>
          <p:cNvPicPr preferRelativeResize="0"/>
          <p:nvPr/>
        </p:nvPicPr>
        <p:blipFill rotWithShape="1">
          <a:blip r:embed="rId4">
            <a:alphaModFix/>
          </a:blip>
          <a:srcRect b="18492" l="17205" r="20024" t="18611"/>
          <a:stretch/>
        </p:blipFill>
        <p:spPr>
          <a:xfrm>
            <a:off x="7816401" y="2939056"/>
            <a:ext cx="498393" cy="332327"/>
          </a:xfrm>
          <a:prstGeom prst="rect">
            <a:avLst/>
          </a:prstGeom>
          <a:noFill/>
          <a:ln>
            <a:noFill/>
          </a:ln>
        </p:spPr>
      </p:pic>
      <p:sp>
        <p:nvSpPr>
          <p:cNvPr id="122" name="Google Shape;122;p19"/>
          <p:cNvSpPr txBox="1"/>
          <p:nvPr/>
        </p:nvSpPr>
        <p:spPr>
          <a:xfrm>
            <a:off x="6474700" y="1540638"/>
            <a:ext cx="9975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Is this real?</a:t>
            </a:r>
            <a:endParaRPr sz="12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p:nvPr/>
        </p:nvSpPr>
        <p:spPr>
          <a:xfrm>
            <a:off x="6421159" y="2170368"/>
            <a:ext cx="2013900" cy="1112700"/>
          </a:xfrm>
          <a:prstGeom prst="roundRect">
            <a:avLst>
              <a:gd fmla="val 16667" name="adj"/>
            </a:avLst>
          </a:prstGeom>
          <a:noFill/>
          <a:ln cap="flat" cmpd="sng" w="7650">
            <a:solidFill>
              <a:schemeClr val="dk2"/>
            </a:solidFill>
            <a:prstDash val="solid"/>
            <a:round/>
            <a:headEnd len="sm" w="sm" type="none"/>
            <a:tailEnd len="sm" w="sm" type="none"/>
          </a:ln>
        </p:spPr>
        <p:txBody>
          <a:bodyPr anchorCtr="0" anchor="ctr" bIns="73475" lIns="73475" spcFirstLastPara="1" rIns="73475" wrap="square" tIns="73475">
            <a:noAutofit/>
          </a:bodyPr>
          <a:lstStyle/>
          <a:p>
            <a:pPr indent="0" lvl="0" marL="0" rtl="0" algn="ctr">
              <a:spcBef>
                <a:spcPts val="0"/>
              </a:spcBef>
              <a:spcAft>
                <a:spcPts val="0"/>
              </a:spcAft>
              <a:buNone/>
            </a:pPr>
            <a:r>
              <a:t/>
            </a:r>
            <a:endParaRPr sz="1125"/>
          </a:p>
        </p:txBody>
      </p:sp>
      <p:sp>
        <p:nvSpPr>
          <p:cNvPr id="128" name="Google Shape;128;p20"/>
          <p:cNvSpPr/>
          <p:nvPr/>
        </p:nvSpPr>
        <p:spPr>
          <a:xfrm>
            <a:off x="4216817" y="2170368"/>
            <a:ext cx="2013900" cy="1112700"/>
          </a:xfrm>
          <a:prstGeom prst="roundRect">
            <a:avLst>
              <a:gd fmla="val 16667" name="adj"/>
            </a:avLst>
          </a:prstGeom>
          <a:noFill/>
          <a:ln cap="flat" cmpd="sng" w="7650">
            <a:solidFill>
              <a:schemeClr val="dk2"/>
            </a:solidFill>
            <a:prstDash val="solid"/>
            <a:round/>
            <a:headEnd len="sm" w="sm" type="none"/>
            <a:tailEnd len="sm" w="sm" type="none"/>
          </a:ln>
        </p:spPr>
        <p:txBody>
          <a:bodyPr anchorCtr="0" anchor="ctr" bIns="73475" lIns="73475" spcFirstLastPara="1" rIns="73475" wrap="square" tIns="73475">
            <a:noAutofit/>
          </a:bodyPr>
          <a:lstStyle/>
          <a:p>
            <a:pPr indent="0" lvl="0" marL="0" rtl="0" algn="ctr">
              <a:spcBef>
                <a:spcPts val="0"/>
              </a:spcBef>
              <a:spcAft>
                <a:spcPts val="0"/>
              </a:spcAft>
              <a:buNone/>
            </a:pPr>
            <a:r>
              <a:t/>
            </a:r>
            <a:endParaRPr sz="1125"/>
          </a:p>
        </p:txBody>
      </p:sp>
      <p:sp>
        <p:nvSpPr>
          <p:cNvPr id="129" name="Google Shape;129;p20"/>
          <p:cNvSpPr txBox="1"/>
          <p:nvPr>
            <p:ph type="ctrTitle"/>
          </p:nvPr>
        </p:nvSpPr>
        <p:spPr>
          <a:xfrm>
            <a:off x="0" y="1039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090">
                <a:latin typeface="Montserrat"/>
                <a:ea typeface="Montserrat"/>
                <a:cs typeface="Montserrat"/>
                <a:sym typeface="Montserrat"/>
              </a:rPr>
              <a:t>Natural product generation methods can be improved</a:t>
            </a:r>
            <a:endParaRPr b="1" sz="2090">
              <a:latin typeface="Montserrat"/>
              <a:ea typeface="Montserrat"/>
              <a:cs typeface="Montserrat"/>
              <a:sym typeface="Montserrat"/>
            </a:endParaRPr>
          </a:p>
        </p:txBody>
      </p:sp>
      <p:sp>
        <p:nvSpPr>
          <p:cNvPr id="130" name="Google Shape;130;p20"/>
          <p:cNvSpPr txBox="1"/>
          <p:nvPr/>
        </p:nvSpPr>
        <p:spPr>
          <a:xfrm>
            <a:off x="246750" y="921600"/>
            <a:ext cx="4050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Montserrat"/>
                <a:ea typeface="Montserrat"/>
                <a:cs typeface="Montserrat"/>
                <a:sym typeface="Montserrat"/>
              </a:rPr>
              <a:t>Outputs </a:t>
            </a:r>
            <a:r>
              <a:rPr lang="en">
                <a:solidFill>
                  <a:schemeClr val="dk2"/>
                </a:solidFill>
                <a:latin typeface="Montserrat"/>
                <a:ea typeface="Montserrat"/>
                <a:cs typeface="Montserrat"/>
                <a:sym typeface="Montserrat"/>
              </a:rPr>
              <a:t>of NP generation methods suffer from reduced validity, </a:t>
            </a:r>
            <a:r>
              <a:rPr lang="en">
                <a:solidFill>
                  <a:schemeClr val="dk2"/>
                </a:solidFill>
                <a:latin typeface="Montserrat"/>
                <a:ea typeface="Montserrat"/>
                <a:cs typeface="Montserrat"/>
                <a:sym typeface="Montserrat"/>
              </a:rPr>
              <a:t>uniqueness</a:t>
            </a:r>
            <a:r>
              <a:rPr lang="en">
                <a:solidFill>
                  <a:schemeClr val="dk2"/>
                </a:solidFill>
                <a:latin typeface="Montserrat"/>
                <a:ea typeface="Montserrat"/>
                <a:cs typeface="Montserrat"/>
                <a:sym typeface="Montserrat"/>
              </a:rPr>
              <a:t>, etc.</a:t>
            </a:r>
            <a:endParaRPr>
              <a:solidFill>
                <a:schemeClr val="dk2"/>
              </a:solidFill>
              <a:latin typeface="Montserrat"/>
              <a:ea typeface="Montserrat"/>
              <a:cs typeface="Montserrat"/>
              <a:sym typeface="Montserrat"/>
            </a:endParaRPr>
          </a:p>
        </p:txBody>
      </p:sp>
      <p:sp>
        <p:nvSpPr>
          <p:cNvPr id="131" name="Google Shape;131;p20"/>
          <p:cNvSpPr txBox="1"/>
          <p:nvPr/>
        </p:nvSpPr>
        <p:spPr>
          <a:xfrm>
            <a:off x="264617" y="2426543"/>
            <a:ext cx="3307200" cy="589500"/>
          </a:xfrm>
          <a:prstGeom prst="rect">
            <a:avLst/>
          </a:prstGeom>
          <a:noFill/>
          <a:ln>
            <a:noFill/>
          </a:ln>
        </p:spPr>
        <p:txBody>
          <a:bodyPr anchorCtr="0" anchor="t" bIns="78475" lIns="78475" spcFirstLastPara="1" rIns="78475" wrap="square" tIns="78475">
            <a:spAutoFit/>
          </a:bodyPr>
          <a:lstStyle/>
          <a:p>
            <a:pPr indent="0" lvl="0" marL="0" rtl="0" algn="l">
              <a:spcBef>
                <a:spcPts val="0"/>
              </a:spcBef>
              <a:spcAft>
                <a:spcPts val="0"/>
              </a:spcAft>
              <a:buNone/>
            </a:pPr>
            <a:r>
              <a:rPr lang="en">
                <a:solidFill>
                  <a:schemeClr val="dk2"/>
                </a:solidFill>
                <a:latin typeface="Montserrat"/>
                <a:ea typeface="Montserrat"/>
                <a:cs typeface="Montserrat"/>
                <a:sym typeface="Montserrat"/>
              </a:rPr>
              <a:t>Current natural product generation methods lack functionality.</a:t>
            </a:r>
            <a:endParaRPr sz="1201">
              <a:solidFill>
                <a:schemeClr val="dk2"/>
              </a:solidFill>
              <a:latin typeface="Montserrat"/>
              <a:ea typeface="Montserrat"/>
              <a:cs typeface="Montserrat"/>
              <a:sym typeface="Montserrat"/>
            </a:endParaRPr>
          </a:p>
        </p:txBody>
      </p:sp>
      <p:sp>
        <p:nvSpPr>
          <p:cNvPr id="132" name="Google Shape;132;p20"/>
          <p:cNvSpPr txBox="1"/>
          <p:nvPr/>
        </p:nvSpPr>
        <p:spPr>
          <a:xfrm>
            <a:off x="264621" y="3977994"/>
            <a:ext cx="3852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Montserrat"/>
                <a:ea typeface="Montserrat"/>
                <a:cs typeface="Montserrat"/>
                <a:sym typeface="Montserrat"/>
              </a:rPr>
              <a:t>Goal: develop a platform for methods for NP generation and </a:t>
            </a:r>
            <a:r>
              <a:rPr lang="en">
                <a:solidFill>
                  <a:schemeClr val="dk2"/>
                </a:solidFill>
                <a:latin typeface="Montserrat"/>
                <a:ea typeface="Montserrat"/>
                <a:cs typeface="Montserrat"/>
                <a:sym typeface="Montserrat"/>
              </a:rPr>
              <a:t>evaluation.</a:t>
            </a:r>
            <a:endParaRPr>
              <a:solidFill>
                <a:schemeClr val="dk2"/>
              </a:solidFill>
              <a:latin typeface="Montserrat"/>
              <a:ea typeface="Montserrat"/>
              <a:cs typeface="Montserrat"/>
              <a:sym typeface="Montserrat"/>
            </a:endParaRPr>
          </a:p>
        </p:txBody>
      </p:sp>
      <p:pic>
        <p:nvPicPr>
          <p:cNvPr id="133" name="Google Shape;133;p20" title="Screenshot 2026-03-16 at 12.36.25 PM.png"/>
          <p:cNvPicPr preferRelativeResize="0"/>
          <p:nvPr/>
        </p:nvPicPr>
        <p:blipFill>
          <a:blip r:embed="rId3">
            <a:alphaModFix/>
          </a:blip>
          <a:stretch>
            <a:fillRect/>
          </a:stretch>
        </p:blipFill>
        <p:spPr>
          <a:xfrm>
            <a:off x="5162213" y="650576"/>
            <a:ext cx="2151000" cy="1334387"/>
          </a:xfrm>
          <a:prstGeom prst="rect">
            <a:avLst/>
          </a:prstGeom>
          <a:noFill/>
          <a:ln>
            <a:noFill/>
          </a:ln>
        </p:spPr>
      </p:pic>
      <p:sp>
        <p:nvSpPr>
          <p:cNvPr id="134" name="Google Shape;134;p20"/>
          <p:cNvSpPr/>
          <p:nvPr/>
        </p:nvSpPr>
        <p:spPr>
          <a:xfrm>
            <a:off x="4295126" y="2235303"/>
            <a:ext cx="1204200" cy="429900"/>
          </a:xfrm>
          <a:prstGeom prst="wedgeRoundRectCallout">
            <a:avLst>
              <a:gd fmla="val -46136" name="adj1"/>
              <a:gd fmla="val 77918" name="adj2"/>
              <a:gd fmla="val 0" name="adj3"/>
            </a:avLst>
          </a:prstGeom>
          <a:solidFill>
            <a:schemeClr val="lt2"/>
          </a:solidFill>
          <a:ln cap="flat" cmpd="sng" w="8175">
            <a:solidFill>
              <a:schemeClr val="dk2"/>
            </a:solidFill>
            <a:prstDash val="solid"/>
            <a:round/>
            <a:headEnd len="sm" w="sm" type="none"/>
            <a:tailEnd len="sm" w="sm" type="none"/>
          </a:ln>
        </p:spPr>
        <p:txBody>
          <a:bodyPr anchorCtr="0" anchor="ctr" bIns="78475" lIns="78475" spcFirstLastPara="1" rIns="78475" wrap="square" tIns="78475">
            <a:noAutofit/>
          </a:bodyPr>
          <a:lstStyle/>
          <a:p>
            <a:pPr indent="0" lvl="0" marL="0" rtl="0" algn="ctr">
              <a:spcBef>
                <a:spcPts val="0"/>
              </a:spcBef>
              <a:spcAft>
                <a:spcPts val="0"/>
              </a:spcAft>
              <a:buNone/>
            </a:pPr>
            <a:r>
              <a:rPr lang="en" sz="1115"/>
              <a:t>Generate an alkaloid</a:t>
            </a:r>
            <a:endParaRPr sz="1115"/>
          </a:p>
        </p:txBody>
      </p:sp>
      <p:sp>
        <p:nvSpPr>
          <p:cNvPr id="135" name="Google Shape;135;p20"/>
          <p:cNvSpPr/>
          <p:nvPr/>
        </p:nvSpPr>
        <p:spPr>
          <a:xfrm>
            <a:off x="4989614" y="2780454"/>
            <a:ext cx="559200" cy="210600"/>
          </a:xfrm>
          <a:prstGeom prst="wedgeRoundRectCallout">
            <a:avLst>
              <a:gd fmla="val 51567" name="adj1"/>
              <a:gd fmla="val 87330" name="adj2"/>
              <a:gd fmla="val 0" name="adj3"/>
            </a:avLst>
          </a:prstGeom>
          <a:solidFill>
            <a:schemeClr val="lt2"/>
          </a:solidFill>
          <a:ln cap="flat" cmpd="sng" w="8175">
            <a:solidFill>
              <a:schemeClr val="dk2"/>
            </a:solidFill>
            <a:prstDash val="solid"/>
            <a:round/>
            <a:headEnd len="sm" w="sm" type="none"/>
            <a:tailEnd len="sm" w="sm" type="none"/>
          </a:ln>
        </p:spPr>
        <p:txBody>
          <a:bodyPr anchorCtr="0" anchor="ctr" bIns="78475" lIns="78475" spcFirstLastPara="1" rIns="78475" wrap="square" tIns="78475">
            <a:noAutofit/>
          </a:bodyPr>
          <a:lstStyle/>
          <a:p>
            <a:pPr indent="0" lvl="0" marL="0" rtl="0" algn="ctr">
              <a:spcBef>
                <a:spcPts val="0"/>
              </a:spcBef>
              <a:spcAft>
                <a:spcPts val="0"/>
              </a:spcAft>
              <a:buNone/>
            </a:pPr>
            <a:r>
              <a:rPr lang="en" sz="1115"/>
              <a:t>?</a:t>
            </a:r>
            <a:endParaRPr sz="1115"/>
          </a:p>
        </p:txBody>
      </p:sp>
      <p:pic>
        <p:nvPicPr>
          <p:cNvPr id="136" name="Google Shape;136;p20"/>
          <p:cNvPicPr preferRelativeResize="0"/>
          <p:nvPr/>
        </p:nvPicPr>
        <p:blipFill rotWithShape="1">
          <a:blip r:embed="rId4">
            <a:alphaModFix/>
          </a:blip>
          <a:srcRect b="18492" l="17205" r="20024" t="18611"/>
          <a:stretch/>
        </p:blipFill>
        <p:spPr>
          <a:xfrm>
            <a:off x="5592019" y="2930382"/>
            <a:ext cx="498393" cy="332327"/>
          </a:xfrm>
          <a:prstGeom prst="rect">
            <a:avLst/>
          </a:prstGeom>
          <a:noFill/>
          <a:ln>
            <a:noFill/>
          </a:ln>
        </p:spPr>
      </p:pic>
      <p:sp>
        <p:nvSpPr>
          <p:cNvPr id="137" name="Google Shape;137;p20"/>
          <p:cNvSpPr/>
          <p:nvPr/>
        </p:nvSpPr>
        <p:spPr>
          <a:xfrm>
            <a:off x="6562877" y="2235303"/>
            <a:ext cx="1204200" cy="429900"/>
          </a:xfrm>
          <a:prstGeom prst="wedgeRoundRectCallout">
            <a:avLst>
              <a:gd fmla="val -46136" name="adj1"/>
              <a:gd fmla="val 77918" name="adj2"/>
              <a:gd fmla="val 0" name="adj3"/>
            </a:avLst>
          </a:prstGeom>
          <a:solidFill>
            <a:schemeClr val="lt2"/>
          </a:solidFill>
          <a:ln cap="flat" cmpd="sng" w="8175">
            <a:solidFill>
              <a:schemeClr val="dk2"/>
            </a:solidFill>
            <a:prstDash val="solid"/>
            <a:round/>
            <a:headEnd len="sm" w="sm" type="none"/>
            <a:tailEnd len="sm" w="sm" type="none"/>
          </a:ln>
        </p:spPr>
        <p:txBody>
          <a:bodyPr anchorCtr="0" anchor="ctr" bIns="78475" lIns="78475" spcFirstLastPara="1" rIns="78475" wrap="square" tIns="78475">
            <a:noAutofit/>
          </a:bodyPr>
          <a:lstStyle/>
          <a:p>
            <a:pPr indent="0" lvl="0" marL="0" rtl="0" algn="ctr">
              <a:spcBef>
                <a:spcPts val="0"/>
              </a:spcBef>
              <a:spcAft>
                <a:spcPts val="0"/>
              </a:spcAft>
              <a:buNone/>
            </a:pPr>
            <a:r>
              <a:rPr lang="en" sz="1115"/>
              <a:t>Make this more drug-like</a:t>
            </a:r>
            <a:endParaRPr sz="1115"/>
          </a:p>
        </p:txBody>
      </p:sp>
      <p:sp>
        <p:nvSpPr>
          <p:cNvPr id="138" name="Google Shape;138;p20"/>
          <p:cNvSpPr/>
          <p:nvPr/>
        </p:nvSpPr>
        <p:spPr>
          <a:xfrm>
            <a:off x="7257365" y="2763106"/>
            <a:ext cx="559200" cy="210600"/>
          </a:xfrm>
          <a:prstGeom prst="wedgeRoundRectCallout">
            <a:avLst>
              <a:gd fmla="val 51567" name="adj1"/>
              <a:gd fmla="val 87330" name="adj2"/>
              <a:gd fmla="val 0" name="adj3"/>
            </a:avLst>
          </a:prstGeom>
          <a:solidFill>
            <a:schemeClr val="lt2"/>
          </a:solidFill>
          <a:ln cap="flat" cmpd="sng" w="8175">
            <a:solidFill>
              <a:schemeClr val="dk2"/>
            </a:solidFill>
            <a:prstDash val="solid"/>
            <a:round/>
            <a:headEnd len="sm" w="sm" type="none"/>
            <a:tailEnd len="sm" w="sm" type="none"/>
          </a:ln>
        </p:spPr>
        <p:txBody>
          <a:bodyPr anchorCtr="0" anchor="ctr" bIns="78475" lIns="78475" spcFirstLastPara="1" rIns="78475" wrap="square" tIns="78475">
            <a:noAutofit/>
          </a:bodyPr>
          <a:lstStyle/>
          <a:p>
            <a:pPr indent="0" lvl="0" marL="0" rtl="0" algn="ctr">
              <a:spcBef>
                <a:spcPts val="0"/>
              </a:spcBef>
              <a:spcAft>
                <a:spcPts val="0"/>
              </a:spcAft>
              <a:buNone/>
            </a:pPr>
            <a:r>
              <a:rPr lang="en" sz="1115"/>
              <a:t>no.</a:t>
            </a:r>
            <a:endParaRPr sz="1115"/>
          </a:p>
        </p:txBody>
      </p:sp>
      <p:pic>
        <p:nvPicPr>
          <p:cNvPr id="139" name="Google Shape;139;p20"/>
          <p:cNvPicPr preferRelativeResize="0"/>
          <p:nvPr/>
        </p:nvPicPr>
        <p:blipFill rotWithShape="1">
          <a:blip r:embed="rId4">
            <a:alphaModFix/>
          </a:blip>
          <a:srcRect b="18492" l="17205" r="20024" t="18611"/>
          <a:stretch/>
        </p:blipFill>
        <p:spPr>
          <a:xfrm>
            <a:off x="7816401" y="2939056"/>
            <a:ext cx="498393" cy="332327"/>
          </a:xfrm>
          <a:prstGeom prst="rect">
            <a:avLst/>
          </a:prstGeom>
          <a:noFill/>
          <a:ln>
            <a:noFill/>
          </a:ln>
        </p:spPr>
      </p:pic>
      <p:pic>
        <p:nvPicPr>
          <p:cNvPr id="140" name="Google Shape;140;p20"/>
          <p:cNvPicPr preferRelativeResize="0"/>
          <p:nvPr/>
        </p:nvPicPr>
        <p:blipFill rotWithShape="1">
          <a:blip r:embed="rId5">
            <a:alphaModFix/>
          </a:blip>
          <a:srcRect b="14990" l="15109" r="14814" t="16904"/>
          <a:stretch/>
        </p:blipFill>
        <p:spPr>
          <a:xfrm>
            <a:off x="5793091" y="3547765"/>
            <a:ext cx="1340275" cy="1302616"/>
          </a:xfrm>
          <a:prstGeom prst="rect">
            <a:avLst/>
          </a:prstGeom>
          <a:noFill/>
          <a:ln>
            <a:noFill/>
          </a:ln>
        </p:spPr>
      </p:pic>
      <p:sp>
        <p:nvSpPr>
          <p:cNvPr id="141" name="Google Shape;141;p20"/>
          <p:cNvSpPr txBox="1"/>
          <p:nvPr/>
        </p:nvSpPr>
        <p:spPr>
          <a:xfrm>
            <a:off x="6474700" y="1540638"/>
            <a:ext cx="9975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Is this real?</a:t>
            </a:r>
            <a:endParaRPr sz="12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txBox="1"/>
          <p:nvPr>
            <p:ph type="ctrTitle"/>
          </p:nvPr>
        </p:nvSpPr>
        <p:spPr>
          <a:xfrm>
            <a:off x="0" y="1039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090">
                <a:latin typeface="Montserrat"/>
                <a:ea typeface="Montserrat"/>
                <a:cs typeface="Montserrat"/>
                <a:sym typeface="Montserrat"/>
              </a:rPr>
              <a:t>Natural Product Drug Discovery</a:t>
            </a:r>
            <a:endParaRPr b="1" sz="2090">
              <a:latin typeface="Montserrat"/>
              <a:ea typeface="Montserrat"/>
              <a:cs typeface="Montserrat"/>
              <a:sym typeface="Montserrat"/>
            </a:endParaRPr>
          </a:p>
        </p:txBody>
      </p:sp>
      <p:sp>
        <p:nvSpPr>
          <p:cNvPr id="147" name="Google Shape;147;p21"/>
          <p:cNvSpPr txBox="1"/>
          <p:nvPr/>
        </p:nvSpPr>
        <p:spPr>
          <a:xfrm>
            <a:off x="286875" y="748863"/>
            <a:ext cx="8650500" cy="646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While bioactive, NPs tend to suffer from poor drug-like properties:</a:t>
            </a:r>
            <a:endParaRPr sz="1500">
              <a:solidFill>
                <a:schemeClr val="dk2"/>
              </a:solidFill>
              <a:latin typeface="Montserrat"/>
              <a:ea typeface="Montserrat"/>
              <a:cs typeface="Montserrat"/>
              <a:sym typeface="Montserrat"/>
            </a:endParaRPr>
          </a:p>
          <a:p>
            <a:pPr indent="-323850" lvl="1" marL="9144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Solubility, ADME profiles, oral bioavailability </a:t>
            </a:r>
            <a:endParaRPr sz="1500">
              <a:solidFill>
                <a:schemeClr val="dk2"/>
              </a:solidFill>
              <a:latin typeface="Montserrat"/>
              <a:ea typeface="Montserrat"/>
              <a:cs typeface="Montserrat"/>
              <a:sym typeface="Montserrat"/>
            </a:endParaRPr>
          </a:p>
        </p:txBody>
      </p:sp>
      <p:pic>
        <p:nvPicPr>
          <p:cNvPr id="148" name="Google Shape;148;p21"/>
          <p:cNvPicPr preferRelativeResize="0"/>
          <p:nvPr/>
        </p:nvPicPr>
        <p:blipFill>
          <a:blip r:embed="rId3">
            <a:alphaModFix/>
          </a:blip>
          <a:stretch>
            <a:fillRect/>
          </a:stretch>
        </p:blipFill>
        <p:spPr>
          <a:xfrm>
            <a:off x="583700" y="1493650"/>
            <a:ext cx="2288999" cy="1696000"/>
          </a:xfrm>
          <a:prstGeom prst="rect">
            <a:avLst/>
          </a:prstGeom>
          <a:noFill/>
          <a:ln>
            <a:noFill/>
          </a:ln>
        </p:spPr>
      </p:pic>
      <p:pic>
        <p:nvPicPr>
          <p:cNvPr id="149" name="Google Shape;149;p21"/>
          <p:cNvPicPr preferRelativeResize="0"/>
          <p:nvPr/>
        </p:nvPicPr>
        <p:blipFill>
          <a:blip r:embed="rId4">
            <a:alphaModFix/>
          </a:blip>
          <a:stretch>
            <a:fillRect/>
          </a:stretch>
        </p:blipFill>
        <p:spPr>
          <a:xfrm>
            <a:off x="713800" y="3305125"/>
            <a:ext cx="2248050" cy="1645850"/>
          </a:xfrm>
          <a:prstGeom prst="rect">
            <a:avLst/>
          </a:prstGeom>
          <a:noFill/>
          <a:ln>
            <a:noFill/>
          </a:ln>
        </p:spPr>
      </p:pic>
      <p:sp>
        <p:nvSpPr>
          <p:cNvPr id="150" name="Google Shape;150;p21"/>
          <p:cNvSpPr txBox="1"/>
          <p:nvPr/>
        </p:nvSpPr>
        <p:spPr>
          <a:xfrm>
            <a:off x="3343500" y="4605725"/>
            <a:ext cx="572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Calibri"/>
                <a:ea typeface="Calibri"/>
                <a:cs typeface="Calibri"/>
                <a:sym typeface="Calibri"/>
              </a:rPr>
              <a:t>Ertl, Peter, et al. “Natural Product-Likeness Score and Its Application for Prioritization of Compound Libraries.” Journal of Chemical Information and Modeling, vol. 48, no. 1, Jan. 2008, pp. 68–74. DOI.org (Crossref), https://doi.org/10.1021/ci700286x.</a:t>
            </a:r>
            <a:endParaRPr sz="800">
              <a:latin typeface="Calibri"/>
              <a:ea typeface="Calibri"/>
              <a:cs typeface="Calibri"/>
              <a:sym typeface="Calibri"/>
            </a:endParaRPr>
          </a:p>
        </p:txBody>
      </p:sp>
      <p:pic>
        <p:nvPicPr>
          <p:cNvPr id="151" name="Google Shape;151;p21"/>
          <p:cNvPicPr preferRelativeResize="0"/>
          <p:nvPr/>
        </p:nvPicPr>
        <p:blipFill rotWithShape="1">
          <a:blip r:embed="rId5">
            <a:alphaModFix/>
          </a:blip>
          <a:srcRect b="0" l="0" r="0" t="4086"/>
          <a:stretch/>
        </p:blipFill>
        <p:spPr>
          <a:xfrm>
            <a:off x="3034900" y="1493675"/>
            <a:ext cx="2467049" cy="1325525"/>
          </a:xfrm>
          <a:prstGeom prst="rect">
            <a:avLst/>
          </a:prstGeom>
          <a:noFill/>
          <a:ln>
            <a:noFill/>
          </a:ln>
        </p:spPr>
      </p:pic>
      <p:sp>
        <p:nvSpPr>
          <p:cNvPr id="152" name="Google Shape;152;p21"/>
          <p:cNvSpPr txBox="1"/>
          <p:nvPr/>
        </p:nvSpPr>
        <p:spPr>
          <a:xfrm>
            <a:off x="3706775" y="2666450"/>
            <a:ext cx="1244700" cy="523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100">
                <a:solidFill>
                  <a:schemeClr val="dk1"/>
                </a:solidFill>
                <a:latin typeface="Calibri"/>
                <a:ea typeface="Calibri"/>
                <a:cs typeface="Calibri"/>
                <a:sym typeface="Calibri"/>
              </a:rPr>
              <a:t>Epoxomicin</a:t>
            </a:r>
            <a:r>
              <a:rPr lang="en" sz="1100">
                <a:solidFill>
                  <a:schemeClr val="dk1"/>
                </a:solidFill>
                <a:latin typeface="Calibri"/>
                <a:ea typeface="Calibri"/>
                <a:cs typeface="Calibri"/>
                <a:sym typeface="Calibri"/>
              </a:rPr>
              <a:t> </a:t>
            </a:r>
            <a:r>
              <a:rPr i="1" lang="en" sz="1100">
                <a:latin typeface="Calibri"/>
                <a:ea typeface="Calibri"/>
                <a:cs typeface="Calibri"/>
                <a:sym typeface="Calibri"/>
              </a:rPr>
              <a:t>natural product</a:t>
            </a:r>
            <a:r>
              <a:rPr lang="en" sz="1100">
                <a:latin typeface="Calibri"/>
                <a:ea typeface="Calibri"/>
                <a:cs typeface="Calibri"/>
                <a:sym typeface="Calibri"/>
              </a:rPr>
              <a:t> </a:t>
            </a:r>
            <a:endParaRPr sz="1100">
              <a:latin typeface="Calibri"/>
              <a:ea typeface="Calibri"/>
              <a:cs typeface="Calibri"/>
              <a:sym typeface="Calibri"/>
            </a:endParaRPr>
          </a:p>
        </p:txBody>
      </p:sp>
      <p:pic>
        <p:nvPicPr>
          <p:cNvPr id="153" name="Google Shape;153;p21"/>
          <p:cNvPicPr preferRelativeResize="0"/>
          <p:nvPr/>
        </p:nvPicPr>
        <p:blipFill rotWithShape="1">
          <a:blip r:embed="rId6">
            <a:alphaModFix/>
          </a:blip>
          <a:srcRect b="0" l="2334" r="0" t="0"/>
          <a:stretch/>
        </p:blipFill>
        <p:spPr>
          <a:xfrm>
            <a:off x="6072275" y="2606650"/>
            <a:ext cx="2702593" cy="1325525"/>
          </a:xfrm>
          <a:prstGeom prst="rect">
            <a:avLst/>
          </a:prstGeom>
          <a:noFill/>
          <a:ln>
            <a:noFill/>
          </a:ln>
        </p:spPr>
      </p:pic>
      <p:sp>
        <p:nvSpPr>
          <p:cNvPr id="154" name="Google Shape;154;p21"/>
          <p:cNvSpPr txBox="1"/>
          <p:nvPr/>
        </p:nvSpPr>
        <p:spPr>
          <a:xfrm>
            <a:off x="6953425" y="3877125"/>
            <a:ext cx="1079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1100">
                <a:latin typeface="Calibri"/>
                <a:ea typeface="Calibri"/>
                <a:cs typeface="Calibri"/>
                <a:sym typeface="Calibri"/>
              </a:rPr>
              <a:t>Carfilzomib</a:t>
            </a:r>
            <a:endParaRPr b="1" sz="1100">
              <a:latin typeface="Calibri"/>
              <a:ea typeface="Calibri"/>
              <a:cs typeface="Calibri"/>
              <a:sym typeface="Calibri"/>
            </a:endParaRPr>
          </a:p>
          <a:p>
            <a:pPr indent="0" lvl="0" marL="0" marR="0" rtl="0" algn="l">
              <a:lnSpc>
                <a:spcPct val="100000"/>
              </a:lnSpc>
              <a:spcBef>
                <a:spcPts val="0"/>
              </a:spcBef>
              <a:spcAft>
                <a:spcPts val="0"/>
              </a:spcAft>
              <a:buNone/>
            </a:pPr>
            <a:r>
              <a:rPr i="1" lang="en" sz="1100">
                <a:latin typeface="Calibri"/>
                <a:ea typeface="Calibri"/>
                <a:cs typeface="Calibri"/>
                <a:sym typeface="Calibri"/>
              </a:rPr>
              <a:t>approved drug</a:t>
            </a:r>
            <a:endParaRPr i="1" sz="1100">
              <a:latin typeface="Calibri"/>
              <a:ea typeface="Calibri"/>
              <a:cs typeface="Calibri"/>
              <a:sym typeface="Calibri"/>
            </a:endParaRPr>
          </a:p>
        </p:txBody>
      </p:sp>
      <p:cxnSp>
        <p:nvCxnSpPr>
          <p:cNvPr id="155" name="Google Shape;155;p21"/>
          <p:cNvCxnSpPr/>
          <p:nvPr/>
        </p:nvCxnSpPr>
        <p:spPr>
          <a:xfrm>
            <a:off x="5295075" y="2653825"/>
            <a:ext cx="658800" cy="380400"/>
          </a:xfrm>
          <a:prstGeom prst="straightConnector1">
            <a:avLst/>
          </a:prstGeom>
          <a:noFill/>
          <a:ln cap="flat" cmpd="sng" w="19050">
            <a:solidFill>
              <a:schemeClr val="dk1"/>
            </a:solidFill>
            <a:prstDash val="solid"/>
            <a:round/>
            <a:headEnd len="med" w="med" type="none"/>
            <a:tailEnd len="med" w="med" type="triangle"/>
          </a:ln>
        </p:spPr>
      </p:cxnSp>
      <p:sp>
        <p:nvSpPr>
          <p:cNvPr id="156" name="Google Shape;156;p21"/>
          <p:cNvSpPr txBox="1"/>
          <p:nvPr/>
        </p:nvSpPr>
        <p:spPr>
          <a:xfrm>
            <a:off x="5568563" y="2369050"/>
            <a:ext cx="4371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22"/>
          <p:cNvPicPr preferRelativeResize="0"/>
          <p:nvPr/>
        </p:nvPicPr>
        <p:blipFill>
          <a:blip r:embed="rId3">
            <a:alphaModFix/>
          </a:blip>
          <a:stretch>
            <a:fillRect/>
          </a:stretch>
        </p:blipFill>
        <p:spPr>
          <a:xfrm>
            <a:off x="249988" y="1051332"/>
            <a:ext cx="1713050" cy="3091549"/>
          </a:xfrm>
          <a:prstGeom prst="rect">
            <a:avLst/>
          </a:prstGeom>
          <a:noFill/>
          <a:ln>
            <a:noFill/>
          </a:ln>
        </p:spPr>
      </p:pic>
      <p:sp>
        <p:nvSpPr>
          <p:cNvPr id="162" name="Google Shape;162;p22"/>
          <p:cNvSpPr/>
          <p:nvPr/>
        </p:nvSpPr>
        <p:spPr>
          <a:xfrm>
            <a:off x="276135" y="686983"/>
            <a:ext cx="1838700" cy="3827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22"/>
          <p:cNvSpPr txBox="1"/>
          <p:nvPr>
            <p:ph type="ctrTitle"/>
          </p:nvPr>
        </p:nvSpPr>
        <p:spPr>
          <a:xfrm>
            <a:off x="0" y="1039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090">
                <a:latin typeface="Montserrat"/>
                <a:ea typeface="Montserrat"/>
                <a:cs typeface="Montserrat"/>
                <a:sym typeface="Montserrat"/>
              </a:rPr>
              <a:t>Parameter-Efficient Pair Tuning for Drug Discovery</a:t>
            </a:r>
            <a:endParaRPr b="1" sz="2090">
              <a:latin typeface="Montserrat"/>
              <a:ea typeface="Montserrat"/>
              <a:cs typeface="Montserrat"/>
              <a:sym typeface="Montserrat"/>
            </a:endParaRPr>
          </a:p>
        </p:txBody>
      </p:sp>
      <p:sp>
        <p:nvSpPr>
          <p:cNvPr id="164" name="Google Shape;164;p22"/>
          <p:cNvSpPr txBox="1"/>
          <p:nvPr/>
        </p:nvSpPr>
        <p:spPr>
          <a:xfrm>
            <a:off x="665685" y="1925353"/>
            <a:ext cx="971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Courier New"/>
                <a:ea typeface="Courier New"/>
                <a:cs typeface="Courier New"/>
                <a:sym typeface="Courier New"/>
              </a:rPr>
              <a:t>46.8m param</a:t>
            </a:r>
            <a:endParaRPr b="1" sz="1100">
              <a:latin typeface="Courier New"/>
              <a:ea typeface="Courier New"/>
              <a:cs typeface="Courier New"/>
              <a:sym typeface="Courier New"/>
            </a:endParaRPr>
          </a:p>
        </p:txBody>
      </p:sp>
      <p:sp>
        <p:nvSpPr>
          <p:cNvPr id="165" name="Google Shape;165;p22"/>
          <p:cNvSpPr txBox="1"/>
          <p:nvPr/>
        </p:nvSpPr>
        <p:spPr>
          <a:xfrm>
            <a:off x="513285" y="724078"/>
            <a:ext cx="1429800" cy="2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latin typeface="Courier New"/>
                <a:ea typeface="Courier New"/>
                <a:cs typeface="Courier New"/>
                <a:sym typeface="Courier New"/>
              </a:rPr>
              <a:t>GP-Molformer</a:t>
            </a:r>
            <a:endParaRPr b="1" sz="1300">
              <a:solidFill>
                <a:schemeClr val="dk2"/>
              </a:solidFill>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3"/>
          <p:cNvSpPr/>
          <p:nvPr/>
        </p:nvSpPr>
        <p:spPr>
          <a:xfrm>
            <a:off x="2611875" y="659532"/>
            <a:ext cx="2980200" cy="3872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3"/>
          <p:cNvSpPr/>
          <p:nvPr/>
        </p:nvSpPr>
        <p:spPr>
          <a:xfrm>
            <a:off x="2807275" y="2640125"/>
            <a:ext cx="2541300" cy="1578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2" name="Google Shape;172;p23"/>
          <p:cNvPicPr preferRelativeResize="0"/>
          <p:nvPr/>
        </p:nvPicPr>
        <p:blipFill>
          <a:blip r:embed="rId3">
            <a:alphaModFix/>
          </a:blip>
          <a:stretch>
            <a:fillRect/>
          </a:stretch>
        </p:blipFill>
        <p:spPr>
          <a:xfrm>
            <a:off x="249988" y="1051332"/>
            <a:ext cx="1713050" cy="3091549"/>
          </a:xfrm>
          <a:prstGeom prst="rect">
            <a:avLst/>
          </a:prstGeom>
          <a:noFill/>
          <a:ln>
            <a:noFill/>
          </a:ln>
        </p:spPr>
      </p:pic>
      <p:sp>
        <p:nvSpPr>
          <p:cNvPr id="173" name="Google Shape;173;p23"/>
          <p:cNvSpPr/>
          <p:nvPr/>
        </p:nvSpPr>
        <p:spPr>
          <a:xfrm>
            <a:off x="2807275" y="1028625"/>
            <a:ext cx="2541300" cy="1520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3"/>
          <p:cNvSpPr/>
          <p:nvPr/>
        </p:nvSpPr>
        <p:spPr>
          <a:xfrm>
            <a:off x="276135" y="686983"/>
            <a:ext cx="1838700" cy="3827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3"/>
          <p:cNvSpPr txBox="1"/>
          <p:nvPr/>
        </p:nvSpPr>
        <p:spPr>
          <a:xfrm>
            <a:off x="3334825" y="4649525"/>
            <a:ext cx="572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Calibri"/>
                <a:ea typeface="Calibri"/>
                <a:cs typeface="Calibri"/>
                <a:sym typeface="Calibri"/>
              </a:rPr>
              <a:t>Ross, Jerret, et al. “GP-MoLFormer: A Foundation Model for Molecular Generation.” Digital Discovery, vol. 4, no. 10, 2025, pp. 2684–96. DOI.org (Crossref), https://doi.org/10.1039/D5DD00122F.</a:t>
            </a:r>
            <a:endParaRPr sz="800">
              <a:latin typeface="Calibri"/>
              <a:ea typeface="Calibri"/>
              <a:cs typeface="Calibri"/>
              <a:sym typeface="Calibri"/>
            </a:endParaRPr>
          </a:p>
        </p:txBody>
      </p:sp>
      <p:sp>
        <p:nvSpPr>
          <p:cNvPr id="176" name="Google Shape;176;p23"/>
          <p:cNvSpPr txBox="1"/>
          <p:nvPr/>
        </p:nvSpPr>
        <p:spPr>
          <a:xfrm>
            <a:off x="665685" y="1925353"/>
            <a:ext cx="971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Courier New"/>
                <a:ea typeface="Courier New"/>
                <a:cs typeface="Courier New"/>
                <a:sym typeface="Courier New"/>
              </a:rPr>
              <a:t>46.8m param</a:t>
            </a:r>
            <a:endParaRPr b="1" sz="1100">
              <a:latin typeface="Courier New"/>
              <a:ea typeface="Courier New"/>
              <a:cs typeface="Courier New"/>
              <a:sym typeface="Courier New"/>
            </a:endParaRPr>
          </a:p>
        </p:txBody>
      </p:sp>
      <p:pic>
        <p:nvPicPr>
          <p:cNvPr id="177" name="Google Shape;177;p23"/>
          <p:cNvPicPr preferRelativeResize="0"/>
          <p:nvPr/>
        </p:nvPicPr>
        <p:blipFill rotWithShape="1">
          <a:blip r:embed="rId4">
            <a:alphaModFix/>
          </a:blip>
          <a:srcRect b="0" l="0" r="0" t="4086"/>
          <a:stretch/>
        </p:blipFill>
        <p:spPr>
          <a:xfrm>
            <a:off x="2930795" y="1308121"/>
            <a:ext cx="1017324" cy="546600"/>
          </a:xfrm>
          <a:prstGeom prst="rect">
            <a:avLst/>
          </a:prstGeom>
          <a:noFill/>
          <a:ln>
            <a:noFill/>
          </a:ln>
        </p:spPr>
      </p:pic>
      <p:pic>
        <p:nvPicPr>
          <p:cNvPr id="178" name="Google Shape;178;p23"/>
          <p:cNvPicPr preferRelativeResize="0"/>
          <p:nvPr/>
        </p:nvPicPr>
        <p:blipFill rotWithShape="1">
          <a:blip r:embed="rId5">
            <a:alphaModFix/>
          </a:blip>
          <a:srcRect b="0" l="2334" r="0" t="0"/>
          <a:stretch/>
        </p:blipFill>
        <p:spPr>
          <a:xfrm>
            <a:off x="4068659" y="1280208"/>
            <a:ext cx="1228232" cy="602400"/>
          </a:xfrm>
          <a:prstGeom prst="rect">
            <a:avLst/>
          </a:prstGeom>
          <a:noFill/>
          <a:ln>
            <a:noFill/>
          </a:ln>
        </p:spPr>
      </p:pic>
      <p:sp>
        <p:nvSpPr>
          <p:cNvPr id="179" name="Google Shape;179;p23"/>
          <p:cNvSpPr txBox="1"/>
          <p:nvPr/>
        </p:nvSpPr>
        <p:spPr>
          <a:xfrm>
            <a:off x="513285" y="724078"/>
            <a:ext cx="1429800" cy="2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latin typeface="Courier New"/>
                <a:ea typeface="Courier New"/>
                <a:cs typeface="Courier New"/>
                <a:sym typeface="Courier New"/>
              </a:rPr>
              <a:t>GP-Molformer</a:t>
            </a:r>
            <a:endParaRPr b="1" sz="1300">
              <a:solidFill>
                <a:schemeClr val="dk2"/>
              </a:solidFill>
              <a:latin typeface="Courier New"/>
              <a:ea typeface="Courier New"/>
              <a:cs typeface="Courier New"/>
              <a:sym typeface="Courier New"/>
            </a:endParaRPr>
          </a:p>
        </p:txBody>
      </p:sp>
      <p:sp>
        <p:nvSpPr>
          <p:cNvPr id="180" name="Google Shape;180;p23"/>
          <p:cNvSpPr txBox="1"/>
          <p:nvPr/>
        </p:nvSpPr>
        <p:spPr>
          <a:xfrm>
            <a:off x="3201325" y="688450"/>
            <a:ext cx="22170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latin typeface="Courier New"/>
                <a:ea typeface="Courier New"/>
                <a:cs typeface="Courier New"/>
                <a:sym typeface="Courier New"/>
              </a:rPr>
              <a:t>LoRA Pair Tuning</a:t>
            </a:r>
            <a:endParaRPr b="1" sz="1300">
              <a:solidFill>
                <a:schemeClr val="dk2"/>
              </a:solidFill>
              <a:latin typeface="Courier New"/>
              <a:ea typeface="Courier New"/>
              <a:cs typeface="Courier New"/>
              <a:sym typeface="Courier New"/>
            </a:endParaRPr>
          </a:p>
        </p:txBody>
      </p:sp>
      <p:sp>
        <p:nvSpPr>
          <p:cNvPr id="181" name="Google Shape;181;p23"/>
          <p:cNvSpPr txBox="1"/>
          <p:nvPr/>
        </p:nvSpPr>
        <p:spPr>
          <a:xfrm>
            <a:off x="2883545" y="1009101"/>
            <a:ext cx="1145100" cy="2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latin typeface="Courier New"/>
                <a:ea typeface="Courier New"/>
                <a:cs typeface="Courier New"/>
                <a:sym typeface="Courier New"/>
              </a:rPr>
              <a:t>Natural Product</a:t>
            </a:r>
            <a:endParaRPr b="1" sz="800">
              <a:solidFill>
                <a:schemeClr val="dk2"/>
              </a:solidFill>
              <a:latin typeface="Courier New"/>
              <a:ea typeface="Courier New"/>
              <a:cs typeface="Courier New"/>
              <a:sym typeface="Courier New"/>
            </a:endParaRPr>
          </a:p>
        </p:txBody>
      </p:sp>
      <p:sp>
        <p:nvSpPr>
          <p:cNvPr id="182" name="Google Shape;182;p23"/>
          <p:cNvSpPr txBox="1"/>
          <p:nvPr/>
        </p:nvSpPr>
        <p:spPr>
          <a:xfrm>
            <a:off x="4255984" y="1009101"/>
            <a:ext cx="1145100" cy="2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latin typeface="Courier New"/>
                <a:ea typeface="Courier New"/>
                <a:cs typeface="Courier New"/>
                <a:sym typeface="Courier New"/>
              </a:rPr>
              <a:t>Drug Analogue</a:t>
            </a:r>
            <a:endParaRPr b="1" sz="800">
              <a:solidFill>
                <a:schemeClr val="dk2"/>
              </a:solidFill>
              <a:latin typeface="Courier New"/>
              <a:ea typeface="Courier New"/>
              <a:cs typeface="Courier New"/>
              <a:sym typeface="Courier New"/>
            </a:endParaRPr>
          </a:p>
        </p:txBody>
      </p:sp>
      <p:pic>
        <p:nvPicPr>
          <p:cNvPr id="183" name="Google Shape;183;p23"/>
          <p:cNvPicPr preferRelativeResize="0"/>
          <p:nvPr/>
        </p:nvPicPr>
        <p:blipFill>
          <a:blip r:embed="rId6">
            <a:alphaModFix/>
          </a:blip>
          <a:stretch>
            <a:fillRect/>
          </a:stretch>
        </p:blipFill>
        <p:spPr>
          <a:xfrm>
            <a:off x="2945920" y="1962688"/>
            <a:ext cx="701785" cy="431100"/>
          </a:xfrm>
          <a:prstGeom prst="rect">
            <a:avLst/>
          </a:prstGeom>
          <a:noFill/>
          <a:ln>
            <a:noFill/>
          </a:ln>
        </p:spPr>
      </p:pic>
      <p:pic>
        <p:nvPicPr>
          <p:cNvPr id="184" name="Google Shape;184;p23"/>
          <p:cNvPicPr preferRelativeResize="0"/>
          <p:nvPr/>
        </p:nvPicPr>
        <p:blipFill rotWithShape="1">
          <a:blip r:embed="rId7">
            <a:alphaModFix/>
          </a:blip>
          <a:srcRect b="6420" l="0" r="0" t="0"/>
          <a:stretch/>
        </p:blipFill>
        <p:spPr>
          <a:xfrm>
            <a:off x="4266275" y="1835825"/>
            <a:ext cx="833000" cy="640787"/>
          </a:xfrm>
          <a:prstGeom prst="rect">
            <a:avLst/>
          </a:prstGeom>
          <a:noFill/>
          <a:ln>
            <a:noFill/>
          </a:ln>
        </p:spPr>
      </p:pic>
      <p:pic>
        <p:nvPicPr>
          <p:cNvPr id="185" name="Google Shape;185;p23"/>
          <p:cNvPicPr preferRelativeResize="0"/>
          <p:nvPr/>
        </p:nvPicPr>
        <p:blipFill rotWithShape="1">
          <a:blip r:embed="rId3">
            <a:alphaModFix/>
          </a:blip>
          <a:srcRect b="55005" l="11290" r="9597" t="8898"/>
          <a:stretch/>
        </p:blipFill>
        <p:spPr>
          <a:xfrm>
            <a:off x="2945925" y="3012325"/>
            <a:ext cx="971699" cy="800101"/>
          </a:xfrm>
          <a:prstGeom prst="rect">
            <a:avLst/>
          </a:prstGeom>
          <a:noFill/>
          <a:ln>
            <a:noFill/>
          </a:ln>
        </p:spPr>
      </p:pic>
      <p:sp>
        <p:nvSpPr>
          <p:cNvPr id="186" name="Google Shape;186;p23"/>
          <p:cNvSpPr/>
          <p:nvPr/>
        </p:nvSpPr>
        <p:spPr>
          <a:xfrm>
            <a:off x="4271600" y="3419718"/>
            <a:ext cx="833100" cy="364800"/>
          </a:xfrm>
          <a:prstGeom prst="triangle">
            <a:avLst>
              <a:gd fmla="val 50000" name="adj"/>
            </a:avLst>
          </a:prstGeom>
          <a:solidFill>
            <a:srgbClr val="CFE0FF"/>
          </a:solidFill>
          <a:ln cap="flat" cmpd="sng" w="9525">
            <a:solidFill>
              <a:srgbClr val="4C8B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23"/>
          <p:cNvSpPr/>
          <p:nvPr/>
        </p:nvSpPr>
        <p:spPr>
          <a:xfrm rot="10800000">
            <a:off x="4271600" y="3054918"/>
            <a:ext cx="833100" cy="364800"/>
          </a:xfrm>
          <a:prstGeom prst="triangle">
            <a:avLst>
              <a:gd fmla="val 50000" name="adj"/>
            </a:avLst>
          </a:prstGeom>
          <a:solidFill>
            <a:srgbClr val="CFE0FF"/>
          </a:solidFill>
          <a:ln cap="flat" cmpd="sng" w="9525">
            <a:solidFill>
              <a:srgbClr val="4C8B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23"/>
          <p:cNvSpPr txBox="1"/>
          <p:nvPr/>
        </p:nvSpPr>
        <p:spPr>
          <a:xfrm>
            <a:off x="4035500" y="3250075"/>
            <a:ext cx="2859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latin typeface="Courier New"/>
                <a:ea typeface="Courier New"/>
                <a:cs typeface="Courier New"/>
                <a:sym typeface="Courier New"/>
              </a:rPr>
              <a:t>+</a:t>
            </a:r>
            <a:endParaRPr b="1" sz="1300">
              <a:solidFill>
                <a:schemeClr val="dk2"/>
              </a:solidFill>
              <a:latin typeface="Courier New"/>
              <a:ea typeface="Courier New"/>
              <a:cs typeface="Courier New"/>
              <a:sym typeface="Courier New"/>
            </a:endParaRPr>
          </a:p>
        </p:txBody>
      </p:sp>
      <p:sp>
        <p:nvSpPr>
          <p:cNvPr id="189" name="Google Shape;189;p23"/>
          <p:cNvSpPr/>
          <p:nvPr/>
        </p:nvSpPr>
        <p:spPr>
          <a:xfrm rot="-5400000">
            <a:off x="4049275" y="2863175"/>
            <a:ext cx="57300" cy="2019000"/>
          </a:xfrm>
          <a:prstGeom prst="lef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3"/>
          <p:cNvSpPr txBox="1"/>
          <p:nvPr/>
        </p:nvSpPr>
        <p:spPr>
          <a:xfrm>
            <a:off x="3505375" y="3925613"/>
            <a:ext cx="1145100" cy="1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latin typeface="Courier New"/>
                <a:ea typeface="Courier New"/>
                <a:cs typeface="Courier New"/>
                <a:sym typeface="Courier New"/>
              </a:rPr>
              <a:t>Natural Product</a:t>
            </a:r>
            <a:endParaRPr b="1" sz="800">
              <a:solidFill>
                <a:schemeClr val="dk2"/>
              </a:solidFill>
              <a:latin typeface="Courier New"/>
              <a:ea typeface="Courier New"/>
              <a:cs typeface="Courier New"/>
              <a:sym typeface="Courier New"/>
            </a:endParaRPr>
          </a:p>
        </p:txBody>
      </p:sp>
      <p:sp>
        <p:nvSpPr>
          <p:cNvPr id="191" name="Google Shape;191;p23"/>
          <p:cNvSpPr txBox="1"/>
          <p:nvPr/>
        </p:nvSpPr>
        <p:spPr>
          <a:xfrm>
            <a:off x="4873850" y="3178675"/>
            <a:ext cx="62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Courier New"/>
                <a:ea typeface="Courier New"/>
                <a:cs typeface="Courier New"/>
                <a:sym typeface="Courier New"/>
              </a:rPr>
              <a:t>500k param</a:t>
            </a:r>
            <a:endParaRPr b="1" sz="1100">
              <a:latin typeface="Courier New"/>
              <a:ea typeface="Courier New"/>
              <a:cs typeface="Courier New"/>
              <a:sym typeface="Courier New"/>
            </a:endParaRPr>
          </a:p>
        </p:txBody>
      </p:sp>
      <p:cxnSp>
        <p:nvCxnSpPr>
          <p:cNvPr id="192" name="Google Shape;192;p23"/>
          <p:cNvCxnSpPr/>
          <p:nvPr/>
        </p:nvCxnSpPr>
        <p:spPr>
          <a:xfrm rot="10800000">
            <a:off x="4572000" y="3903863"/>
            <a:ext cx="0" cy="201600"/>
          </a:xfrm>
          <a:prstGeom prst="straightConnector1">
            <a:avLst/>
          </a:prstGeom>
          <a:noFill/>
          <a:ln cap="flat" cmpd="sng" w="9525">
            <a:solidFill>
              <a:schemeClr val="dk2"/>
            </a:solidFill>
            <a:prstDash val="solid"/>
            <a:round/>
            <a:headEnd len="med" w="med" type="none"/>
            <a:tailEnd len="med" w="med" type="triangle"/>
          </a:ln>
        </p:spPr>
      </p:cxnSp>
      <p:sp>
        <p:nvSpPr>
          <p:cNvPr id="193" name="Google Shape;193;p23"/>
          <p:cNvSpPr txBox="1"/>
          <p:nvPr/>
        </p:nvSpPr>
        <p:spPr>
          <a:xfrm>
            <a:off x="4471025" y="3470325"/>
            <a:ext cx="510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1063FE"/>
                </a:solidFill>
                <a:latin typeface="Courier New"/>
                <a:ea typeface="Courier New"/>
                <a:cs typeface="Courier New"/>
                <a:sym typeface="Courier New"/>
              </a:rPr>
              <a:t>LoRA</a:t>
            </a:r>
            <a:endParaRPr>
              <a:solidFill>
                <a:srgbClr val="1063FE"/>
              </a:solidFill>
            </a:endParaRPr>
          </a:p>
        </p:txBody>
      </p:sp>
      <p:sp>
        <p:nvSpPr>
          <p:cNvPr id="194" name="Google Shape;194;p23"/>
          <p:cNvSpPr/>
          <p:nvPr/>
        </p:nvSpPr>
        <p:spPr>
          <a:xfrm rot="5400000">
            <a:off x="4049275" y="1938675"/>
            <a:ext cx="57300" cy="2019000"/>
          </a:xfrm>
          <a:prstGeom prst="lef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5" name="Google Shape;195;p23"/>
          <p:cNvCxnSpPr/>
          <p:nvPr/>
        </p:nvCxnSpPr>
        <p:spPr>
          <a:xfrm rot="10800000">
            <a:off x="4800600" y="2723063"/>
            <a:ext cx="0" cy="201600"/>
          </a:xfrm>
          <a:prstGeom prst="straightConnector1">
            <a:avLst/>
          </a:prstGeom>
          <a:noFill/>
          <a:ln cap="flat" cmpd="sng" w="9525">
            <a:solidFill>
              <a:schemeClr val="dk2"/>
            </a:solidFill>
            <a:prstDash val="solid"/>
            <a:round/>
            <a:headEnd len="med" w="med" type="none"/>
            <a:tailEnd len="med" w="med" type="triangle"/>
          </a:ln>
        </p:spPr>
      </p:cxnSp>
      <p:sp>
        <p:nvSpPr>
          <p:cNvPr id="196" name="Google Shape;196;p23"/>
          <p:cNvSpPr txBox="1"/>
          <p:nvPr/>
        </p:nvSpPr>
        <p:spPr>
          <a:xfrm>
            <a:off x="3923300" y="2655075"/>
            <a:ext cx="510300" cy="1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latin typeface="Courier New"/>
                <a:ea typeface="Courier New"/>
                <a:cs typeface="Courier New"/>
                <a:sym typeface="Courier New"/>
              </a:rPr>
              <a:t>Drug!</a:t>
            </a:r>
            <a:endParaRPr b="1" sz="800">
              <a:solidFill>
                <a:schemeClr val="dk2"/>
              </a:solidFill>
              <a:latin typeface="Courier New"/>
              <a:ea typeface="Courier New"/>
              <a:cs typeface="Courier New"/>
              <a:sym typeface="Courier New"/>
            </a:endParaRPr>
          </a:p>
        </p:txBody>
      </p:sp>
      <p:sp>
        <p:nvSpPr>
          <p:cNvPr id="197" name="Google Shape;197;p23"/>
          <p:cNvSpPr txBox="1"/>
          <p:nvPr/>
        </p:nvSpPr>
        <p:spPr>
          <a:xfrm>
            <a:off x="4439275" y="3036725"/>
            <a:ext cx="510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1063FE"/>
                </a:solidFill>
                <a:latin typeface="Courier New"/>
                <a:ea typeface="Courier New"/>
                <a:cs typeface="Courier New"/>
                <a:sym typeface="Courier New"/>
              </a:rPr>
              <a:t>LoRA</a:t>
            </a:r>
            <a:endParaRPr>
              <a:solidFill>
                <a:srgbClr val="1063FE"/>
              </a:solidFill>
            </a:endParaRPr>
          </a:p>
        </p:txBody>
      </p:sp>
      <p:cxnSp>
        <p:nvCxnSpPr>
          <p:cNvPr id="198" name="Google Shape;198;p23"/>
          <p:cNvCxnSpPr>
            <a:stCxn id="174" idx="3"/>
            <a:endCxn id="170" idx="1"/>
          </p:cNvCxnSpPr>
          <p:nvPr/>
        </p:nvCxnSpPr>
        <p:spPr>
          <a:xfrm flipH="1" rot="10800000">
            <a:off x="2114835" y="2595583"/>
            <a:ext cx="497100" cy="5100"/>
          </a:xfrm>
          <a:prstGeom prst="straightConnector1">
            <a:avLst/>
          </a:prstGeom>
          <a:noFill/>
          <a:ln cap="flat" cmpd="sng" w="9525">
            <a:solidFill>
              <a:schemeClr val="dk2"/>
            </a:solidFill>
            <a:prstDash val="solid"/>
            <a:round/>
            <a:headEnd len="med" w="med" type="none"/>
            <a:tailEnd len="med" w="med" type="triangle"/>
          </a:ln>
        </p:spPr>
      </p:cxnSp>
      <p:sp>
        <p:nvSpPr>
          <p:cNvPr id="199" name="Google Shape;199;p23"/>
          <p:cNvSpPr txBox="1"/>
          <p:nvPr>
            <p:ph type="ctrTitle"/>
          </p:nvPr>
        </p:nvSpPr>
        <p:spPr>
          <a:xfrm>
            <a:off x="0" y="1039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090">
                <a:latin typeface="Montserrat"/>
                <a:ea typeface="Montserrat"/>
                <a:cs typeface="Montserrat"/>
                <a:sym typeface="Montserrat"/>
              </a:rPr>
              <a:t>Parameter-Efficient Pair Tuning for Drug Discovery</a:t>
            </a:r>
            <a:endParaRPr b="1" sz="2090">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p:nvPr/>
        </p:nvSpPr>
        <p:spPr>
          <a:xfrm>
            <a:off x="5958625" y="659532"/>
            <a:ext cx="2980200" cy="3872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24"/>
          <p:cNvSpPr/>
          <p:nvPr/>
        </p:nvSpPr>
        <p:spPr>
          <a:xfrm>
            <a:off x="2611875" y="659532"/>
            <a:ext cx="2980200" cy="3872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24"/>
          <p:cNvSpPr/>
          <p:nvPr/>
        </p:nvSpPr>
        <p:spPr>
          <a:xfrm>
            <a:off x="2807275" y="2640125"/>
            <a:ext cx="2541300" cy="1578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7" name="Google Shape;207;p24"/>
          <p:cNvPicPr preferRelativeResize="0"/>
          <p:nvPr/>
        </p:nvPicPr>
        <p:blipFill>
          <a:blip r:embed="rId3">
            <a:alphaModFix/>
          </a:blip>
          <a:stretch>
            <a:fillRect/>
          </a:stretch>
        </p:blipFill>
        <p:spPr>
          <a:xfrm>
            <a:off x="249988" y="1051332"/>
            <a:ext cx="1713050" cy="3091549"/>
          </a:xfrm>
          <a:prstGeom prst="rect">
            <a:avLst/>
          </a:prstGeom>
          <a:noFill/>
          <a:ln>
            <a:noFill/>
          </a:ln>
        </p:spPr>
      </p:pic>
      <p:sp>
        <p:nvSpPr>
          <p:cNvPr id="208" name="Google Shape;208;p24"/>
          <p:cNvSpPr/>
          <p:nvPr/>
        </p:nvSpPr>
        <p:spPr>
          <a:xfrm>
            <a:off x="2807275" y="1028625"/>
            <a:ext cx="2541300" cy="1520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24"/>
          <p:cNvSpPr/>
          <p:nvPr/>
        </p:nvSpPr>
        <p:spPr>
          <a:xfrm>
            <a:off x="276135" y="686983"/>
            <a:ext cx="1838700" cy="3827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4"/>
          <p:cNvSpPr txBox="1"/>
          <p:nvPr>
            <p:ph type="ctrTitle"/>
          </p:nvPr>
        </p:nvSpPr>
        <p:spPr>
          <a:xfrm>
            <a:off x="0" y="1039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090">
                <a:latin typeface="Montserrat"/>
                <a:ea typeface="Montserrat"/>
                <a:cs typeface="Montserrat"/>
                <a:sym typeface="Montserrat"/>
              </a:rPr>
              <a:t>Parameter-Efficient Pair Tuning for Drug Discovery</a:t>
            </a:r>
            <a:endParaRPr b="1" sz="2090">
              <a:latin typeface="Montserrat"/>
              <a:ea typeface="Montserrat"/>
              <a:cs typeface="Montserrat"/>
              <a:sym typeface="Montserrat"/>
            </a:endParaRPr>
          </a:p>
        </p:txBody>
      </p:sp>
      <p:sp>
        <p:nvSpPr>
          <p:cNvPr id="211" name="Google Shape;211;p24"/>
          <p:cNvSpPr txBox="1"/>
          <p:nvPr/>
        </p:nvSpPr>
        <p:spPr>
          <a:xfrm>
            <a:off x="3334825" y="4649525"/>
            <a:ext cx="572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Calibri"/>
                <a:ea typeface="Calibri"/>
                <a:cs typeface="Calibri"/>
                <a:sym typeface="Calibri"/>
              </a:rPr>
              <a:t>Ross, Jerret, et al. “GP-MoLFormer: A Foundation Model for Molecular Generation.” Digital Discovery, vol. 4, no. 10, 2025, pp. 2684–96. DOI.org (Crossref), https://doi.org/10.1039/D5DD00122F.</a:t>
            </a:r>
            <a:endParaRPr sz="800">
              <a:latin typeface="Calibri"/>
              <a:ea typeface="Calibri"/>
              <a:cs typeface="Calibri"/>
              <a:sym typeface="Calibri"/>
            </a:endParaRPr>
          </a:p>
        </p:txBody>
      </p:sp>
      <p:sp>
        <p:nvSpPr>
          <p:cNvPr id="212" name="Google Shape;212;p24"/>
          <p:cNvSpPr txBox="1"/>
          <p:nvPr/>
        </p:nvSpPr>
        <p:spPr>
          <a:xfrm>
            <a:off x="665685" y="1925353"/>
            <a:ext cx="971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Courier New"/>
                <a:ea typeface="Courier New"/>
                <a:cs typeface="Courier New"/>
                <a:sym typeface="Courier New"/>
              </a:rPr>
              <a:t>46.8m param</a:t>
            </a:r>
            <a:endParaRPr b="1" sz="1100">
              <a:latin typeface="Courier New"/>
              <a:ea typeface="Courier New"/>
              <a:cs typeface="Courier New"/>
              <a:sym typeface="Courier New"/>
            </a:endParaRPr>
          </a:p>
        </p:txBody>
      </p:sp>
      <p:pic>
        <p:nvPicPr>
          <p:cNvPr id="213" name="Google Shape;213;p24"/>
          <p:cNvPicPr preferRelativeResize="0"/>
          <p:nvPr/>
        </p:nvPicPr>
        <p:blipFill rotWithShape="1">
          <a:blip r:embed="rId4">
            <a:alphaModFix/>
          </a:blip>
          <a:srcRect b="0" l="0" r="0" t="4086"/>
          <a:stretch/>
        </p:blipFill>
        <p:spPr>
          <a:xfrm>
            <a:off x="2930795" y="1308121"/>
            <a:ext cx="1017324" cy="546600"/>
          </a:xfrm>
          <a:prstGeom prst="rect">
            <a:avLst/>
          </a:prstGeom>
          <a:noFill/>
          <a:ln>
            <a:noFill/>
          </a:ln>
        </p:spPr>
      </p:pic>
      <p:pic>
        <p:nvPicPr>
          <p:cNvPr id="214" name="Google Shape;214;p24"/>
          <p:cNvPicPr preferRelativeResize="0"/>
          <p:nvPr/>
        </p:nvPicPr>
        <p:blipFill rotWithShape="1">
          <a:blip r:embed="rId5">
            <a:alphaModFix/>
          </a:blip>
          <a:srcRect b="0" l="2334" r="0" t="0"/>
          <a:stretch/>
        </p:blipFill>
        <p:spPr>
          <a:xfrm>
            <a:off x="4068659" y="1280208"/>
            <a:ext cx="1228232" cy="602400"/>
          </a:xfrm>
          <a:prstGeom prst="rect">
            <a:avLst/>
          </a:prstGeom>
          <a:noFill/>
          <a:ln>
            <a:noFill/>
          </a:ln>
        </p:spPr>
      </p:pic>
      <p:sp>
        <p:nvSpPr>
          <p:cNvPr id="215" name="Google Shape;215;p24"/>
          <p:cNvSpPr txBox="1"/>
          <p:nvPr/>
        </p:nvSpPr>
        <p:spPr>
          <a:xfrm>
            <a:off x="513285" y="724078"/>
            <a:ext cx="1429800" cy="2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latin typeface="Courier New"/>
                <a:ea typeface="Courier New"/>
                <a:cs typeface="Courier New"/>
                <a:sym typeface="Courier New"/>
              </a:rPr>
              <a:t>GP-Molformer</a:t>
            </a:r>
            <a:endParaRPr b="1" sz="1300">
              <a:solidFill>
                <a:schemeClr val="dk2"/>
              </a:solidFill>
              <a:latin typeface="Courier New"/>
              <a:ea typeface="Courier New"/>
              <a:cs typeface="Courier New"/>
              <a:sym typeface="Courier New"/>
            </a:endParaRPr>
          </a:p>
        </p:txBody>
      </p:sp>
      <p:sp>
        <p:nvSpPr>
          <p:cNvPr id="216" name="Google Shape;216;p24"/>
          <p:cNvSpPr txBox="1"/>
          <p:nvPr/>
        </p:nvSpPr>
        <p:spPr>
          <a:xfrm>
            <a:off x="3201325" y="688450"/>
            <a:ext cx="22170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latin typeface="Courier New"/>
                <a:ea typeface="Courier New"/>
                <a:cs typeface="Courier New"/>
                <a:sym typeface="Courier New"/>
              </a:rPr>
              <a:t>LoRA Pair Tuning</a:t>
            </a:r>
            <a:endParaRPr b="1" sz="1300">
              <a:solidFill>
                <a:schemeClr val="dk2"/>
              </a:solidFill>
              <a:latin typeface="Courier New"/>
              <a:ea typeface="Courier New"/>
              <a:cs typeface="Courier New"/>
              <a:sym typeface="Courier New"/>
            </a:endParaRPr>
          </a:p>
        </p:txBody>
      </p:sp>
      <p:sp>
        <p:nvSpPr>
          <p:cNvPr id="217" name="Google Shape;217;p24"/>
          <p:cNvSpPr txBox="1"/>
          <p:nvPr/>
        </p:nvSpPr>
        <p:spPr>
          <a:xfrm>
            <a:off x="2883545" y="1009101"/>
            <a:ext cx="1145100" cy="2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latin typeface="Courier New"/>
                <a:ea typeface="Courier New"/>
                <a:cs typeface="Courier New"/>
                <a:sym typeface="Courier New"/>
              </a:rPr>
              <a:t>Natural Product</a:t>
            </a:r>
            <a:endParaRPr b="1" sz="800">
              <a:solidFill>
                <a:schemeClr val="dk2"/>
              </a:solidFill>
              <a:latin typeface="Courier New"/>
              <a:ea typeface="Courier New"/>
              <a:cs typeface="Courier New"/>
              <a:sym typeface="Courier New"/>
            </a:endParaRPr>
          </a:p>
        </p:txBody>
      </p:sp>
      <p:sp>
        <p:nvSpPr>
          <p:cNvPr id="218" name="Google Shape;218;p24"/>
          <p:cNvSpPr txBox="1"/>
          <p:nvPr/>
        </p:nvSpPr>
        <p:spPr>
          <a:xfrm>
            <a:off x="4255984" y="1009101"/>
            <a:ext cx="1145100" cy="2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latin typeface="Courier New"/>
                <a:ea typeface="Courier New"/>
                <a:cs typeface="Courier New"/>
                <a:sym typeface="Courier New"/>
              </a:rPr>
              <a:t>Drug Analogue</a:t>
            </a:r>
            <a:endParaRPr b="1" sz="800">
              <a:solidFill>
                <a:schemeClr val="dk2"/>
              </a:solidFill>
              <a:latin typeface="Courier New"/>
              <a:ea typeface="Courier New"/>
              <a:cs typeface="Courier New"/>
              <a:sym typeface="Courier New"/>
            </a:endParaRPr>
          </a:p>
        </p:txBody>
      </p:sp>
      <p:pic>
        <p:nvPicPr>
          <p:cNvPr id="219" name="Google Shape;219;p24"/>
          <p:cNvPicPr preferRelativeResize="0"/>
          <p:nvPr/>
        </p:nvPicPr>
        <p:blipFill>
          <a:blip r:embed="rId6">
            <a:alphaModFix/>
          </a:blip>
          <a:stretch>
            <a:fillRect/>
          </a:stretch>
        </p:blipFill>
        <p:spPr>
          <a:xfrm>
            <a:off x="2945920" y="1962688"/>
            <a:ext cx="701785" cy="431100"/>
          </a:xfrm>
          <a:prstGeom prst="rect">
            <a:avLst/>
          </a:prstGeom>
          <a:noFill/>
          <a:ln>
            <a:noFill/>
          </a:ln>
        </p:spPr>
      </p:pic>
      <p:pic>
        <p:nvPicPr>
          <p:cNvPr id="220" name="Google Shape;220;p24"/>
          <p:cNvPicPr preferRelativeResize="0"/>
          <p:nvPr/>
        </p:nvPicPr>
        <p:blipFill rotWithShape="1">
          <a:blip r:embed="rId7">
            <a:alphaModFix/>
          </a:blip>
          <a:srcRect b="6420" l="0" r="0" t="0"/>
          <a:stretch/>
        </p:blipFill>
        <p:spPr>
          <a:xfrm>
            <a:off x="4266275" y="1835825"/>
            <a:ext cx="833000" cy="640787"/>
          </a:xfrm>
          <a:prstGeom prst="rect">
            <a:avLst/>
          </a:prstGeom>
          <a:noFill/>
          <a:ln>
            <a:noFill/>
          </a:ln>
        </p:spPr>
      </p:pic>
      <p:pic>
        <p:nvPicPr>
          <p:cNvPr id="221" name="Google Shape;221;p24"/>
          <p:cNvPicPr preferRelativeResize="0"/>
          <p:nvPr/>
        </p:nvPicPr>
        <p:blipFill rotWithShape="1">
          <a:blip r:embed="rId3">
            <a:alphaModFix/>
          </a:blip>
          <a:srcRect b="55005" l="11290" r="9597" t="8898"/>
          <a:stretch/>
        </p:blipFill>
        <p:spPr>
          <a:xfrm>
            <a:off x="2945925" y="3012325"/>
            <a:ext cx="971699" cy="800101"/>
          </a:xfrm>
          <a:prstGeom prst="rect">
            <a:avLst/>
          </a:prstGeom>
          <a:noFill/>
          <a:ln>
            <a:noFill/>
          </a:ln>
        </p:spPr>
      </p:pic>
      <p:sp>
        <p:nvSpPr>
          <p:cNvPr id="222" name="Google Shape;222;p24"/>
          <p:cNvSpPr/>
          <p:nvPr/>
        </p:nvSpPr>
        <p:spPr>
          <a:xfrm>
            <a:off x="4271600" y="3419718"/>
            <a:ext cx="833100" cy="364800"/>
          </a:xfrm>
          <a:prstGeom prst="triangle">
            <a:avLst>
              <a:gd fmla="val 50000" name="adj"/>
            </a:avLst>
          </a:prstGeom>
          <a:solidFill>
            <a:srgbClr val="CFE0FF"/>
          </a:solidFill>
          <a:ln cap="flat" cmpd="sng" w="9525">
            <a:solidFill>
              <a:srgbClr val="4C8B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24"/>
          <p:cNvSpPr/>
          <p:nvPr/>
        </p:nvSpPr>
        <p:spPr>
          <a:xfrm rot="10800000">
            <a:off x="4271600" y="3054918"/>
            <a:ext cx="833100" cy="364800"/>
          </a:xfrm>
          <a:prstGeom prst="triangle">
            <a:avLst>
              <a:gd fmla="val 50000" name="adj"/>
            </a:avLst>
          </a:prstGeom>
          <a:solidFill>
            <a:srgbClr val="CFE0FF"/>
          </a:solidFill>
          <a:ln cap="flat" cmpd="sng" w="9525">
            <a:solidFill>
              <a:srgbClr val="4C8B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24"/>
          <p:cNvSpPr txBox="1"/>
          <p:nvPr/>
        </p:nvSpPr>
        <p:spPr>
          <a:xfrm>
            <a:off x="4035500" y="3250075"/>
            <a:ext cx="2859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latin typeface="Courier New"/>
                <a:ea typeface="Courier New"/>
                <a:cs typeface="Courier New"/>
                <a:sym typeface="Courier New"/>
              </a:rPr>
              <a:t>+</a:t>
            </a:r>
            <a:endParaRPr b="1" sz="1300">
              <a:solidFill>
                <a:schemeClr val="dk2"/>
              </a:solidFill>
              <a:latin typeface="Courier New"/>
              <a:ea typeface="Courier New"/>
              <a:cs typeface="Courier New"/>
              <a:sym typeface="Courier New"/>
            </a:endParaRPr>
          </a:p>
        </p:txBody>
      </p:sp>
      <p:sp>
        <p:nvSpPr>
          <p:cNvPr id="225" name="Google Shape;225;p24"/>
          <p:cNvSpPr/>
          <p:nvPr/>
        </p:nvSpPr>
        <p:spPr>
          <a:xfrm rot="-5400000">
            <a:off x="4049275" y="2863175"/>
            <a:ext cx="57300" cy="2019000"/>
          </a:xfrm>
          <a:prstGeom prst="lef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 name="Google Shape;226;p24"/>
          <p:cNvSpPr txBox="1"/>
          <p:nvPr/>
        </p:nvSpPr>
        <p:spPr>
          <a:xfrm>
            <a:off x="3505375" y="3925613"/>
            <a:ext cx="1145100" cy="1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latin typeface="Courier New"/>
                <a:ea typeface="Courier New"/>
                <a:cs typeface="Courier New"/>
                <a:sym typeface="Courier New"/>
              </a:rPr>
              <a:t>Natural Product</a:t>
            </a:r>
            <a:endParaRPr b="1" sz="800">
              <a:solidFill>
                <a:schemeClr val="dk2"/>
              </a:solidFill>
              <a:latin typeface="Courier New"/>
              <a:ea typeface="Courier New"/>
              <a:cs typeface="Courier New"/>
              <a:sym typeface="Courier New"/>
            </a:endParaRPr>
          </a:p>
        </p:txBody>
      </p:sp>
      <p:sp>
        <p:nvSpPr>
          <p:cNvPr id="227" name="Google Shape;227;p24"/>
          <p:cNvSpPr txBox="1"/>
          <p:nvPr/>
        </p:nvSpPr>
        <p:spPr>
          <a:xfrm>
            <a:off x="4873850" y="3178675"/>
            <a:ext cx="62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Courier New"/>
                <a:ea typeface="Courier New"/>
                <a:cs typeface="Courier New"/>
                <a:sym typeface="Courier New"/>
              </a:rPr>
              <a:t>500k param</a:t>
            </a:r>
            <a:endParaRPr b="1" sz="1100">
              <a:latin typeface="Courier New"/>
              <a:ea typeface="Courier New"/>
              <a:cs typeface="Courier New"/>
              <a:sym typeface="Courier New"/>
            </a:endParaRPr>
          </a:p>
        </p:txBody>
      </p:sp>
      <p:cxnSp>
        <p:nvCxnSpPr>
          <p:cNvPr id="228" name="Google Shape;228;p24"/>
          <p:cNvCxnSpPr/>
          <p:nvPr/>
        </p:nvCxnSpPr>
        <p:spPr>
          <a:xfrm rot="10800000">
            <a:off x="4572000" y="3903863"/>
            <a:ext cx="0" cy="201600"/>
          </a:xfrm>
          <a:prstGeom prst="straightConnector1">
            <a:avLst/>
          </a:prstGeom>
          <a:noFill/>
          <a:ln cap="flat" cmpd="sng" w="9525">
            <a:solidFill>
              <a:schemeClr val="dk2"/>
            </a:solidFill>
            <a:prstDash val="solid"/>
            <a:round/>
            <a:headEnd len="med" w="med" type="none"/>
            <a:tailEnd len="med" w="med" type="triangle"/>
          </a:ln>
        </p:spPr>
      </p:cxnSp>
      <p:sp>
        <p:nvSpPr>
          <p:cNvPr id="229" name="Google Shape;229;p24"/>
          <p:cNvSpPr txBox="1"/>
          <p:nvPr/>
        </p:nvSpPr>
        <p:spPr>
          <a:xfrm>
            <a:off x="4471025" y="3470325"/>
            <a:ext cx="510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1063FE"/>
                </a:solidFill>
                <a:latin typeface="Courier New"/>
                <a:ea typeface="Courier New"/>
                <a:cs typeface="Courier New"/>
                <a:sym typeface="Courier New"/>
              </a:rPr>
              <a:t>LoRA</a:t>
            </a:r>
            <a:endParaRPr>
              <a:solidFill>
                <a:srgbClr val="1063FE"/>
              </a:solidFill>
            </a:endParaRPr>
          </a:p>
        </p:txBody>
      </p:sp>
      <p:sp>
        <p:nvSpPr>
          <p:cNvPr id="230" name="Google Shape;230;p24"/>
          <p:cNvSpPr/>
          <p:nvPr/>
        </p:nvSpPr>
        <p:spPr>
          <a:xfrm rot="5400000">
            <a:off x="4049275" y="1938675"/>
            <a:ext cx="57300" cy="2019000"/>
          </a:xfrm>
          <a:prstGeom prst="lef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31" name="Google Shape;231;p24"/>
          <p:cNvCxnSpPr/>
          <p:nvPr/>
        </p:nvCxnSpPr>
        <p:spPr>
          <a:xfrm rot="10800000">
            <a:off x="4800600" y="2723063"/>
            <a:ext cx="0" cy="201600"/>
          </a:xfrm>
          <a:prstGeom prst="straightConnector1">
            <a:avLst/>
          </a:prstGeom>
          <a:noFill/>
          <a:ln cap="flat" cmpd="sng" w="9525">
            <a:solidFill>
              <a:schemeClr val="dk2"/>
            </a:solidFill>
            <a:prstDash val="solid"/>
            <a:round/>
            <a:headEnd len="med" w="med" type="none"/>
            <a:tailEnd len="med" w="med" type="triangle"/>
          </a:ln>
        </p:spPr>
      </p:cxnSp>
      <p:sp>
        <p:nvSpPr>
          <p:cNvPr id="232" name="Google Shape;232;p24"/>
          <p:cNvSpPr txBox="1"/>
          <p:nvPr/>
        </p:nvSpPr>
        <p:spPr>
          <a:xfrm>
            <a:off x="3923300" y="2655075"/>
            <a:ext cx="510300" cy="1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latin typeface="Courier New"/>
                <a:ea typeface="Courier New"/>
                <a:cs typeface="Courier New"/>
                <a:sym typeface="Courier New"/>
              </a:rPr>
              <a:t>Drug!</a:t>
            </a:r>
            <a:endParaRPr b="1" sz="800">
              <a:solidFill>
                <a:schemeClr val="dk2"/>
              </a:solidFill>
              <a:latin typeface="Courier New"/>
              <a:ea typeface="Courier New"/>
              <a:cs typeface="Courier New"/>
              <a:sym typeface="Courier New"/>
            </a:endParaRPr>
          </a:p>
        </p:txBody>
      </p:sp>
      <p:sp>
        <p:nvSpPr>
          <p:cNvPr id="233" name="Google Shape;233;p24"/>
          <p:cNvSpPr txBox="1"/>
          <p:nvPr/>
        </p:nvSpPr>
        <p:spPr>
          <a:xfrm>
            <a:off x="4439275" y="3036725"/>
            <a:ext cx="510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1063FE"/>
                </a:solidFill>
                <a:latin typeface="Courier New"/>
                <a:ea typeface="Courier New"/>
                <a:cs typeface="Courier New"/>
                <a:sym typeface="Courier New"/>
              </a:rPr>
              <a:t>LoRA</a:t>
            </a:r>
            <a:endParaRPr>
              <a:solidFill>
                <a:srgbClr val="1063FE"/>
              </a:solidFill>
            </a:endParaRPr>
          </a:p>
        </p:txBody>
      </p:sp>
      <p:sp>
        <p:nvSpPr>
          <p:cNvPr id="234" name="Google Shape;234;p24"/>
          <p:cNvSpPr txBox="1"/>
          <p:nvPr/>
        </p:nvSpPr>
        <p:spPr>
          <a:xfrm>
            <a:off x="6583100" y="700175"/>
            <a:ext cx="18387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latin typeface="Courier New"/>
                <a:ea typeface="Courier New"/>
                <a:cs typeface="Courier New"/>
                <a:sym typeface="Courier New"/>
              </a:rPr>
              <a:t>Pair Generation</a:t>
            </a:r>
            <a:endParaRPr b="1" sz="1300">
              <a:solidFill>
                <a:schemeClr val="dk2"/>
              </a:solidFill>
              <a:latin typeface="Courier New"/>
              <a:ea typeface="Courier New"/>
              <a:cs typeface="Courier New"/>
              <a:sym typeface="Courier New"/>
            </a:endParaRPr>
          </a:p>
        </p:txBody>
      </p:sp>
      <p:pic>
        <p:nvPicPr>
          <p:cNvPr id="235" name="Google Shape;235;p24"/>
          <p:cNvPicPr preferRelativeResize="0"/>
          <p:nvPr/>
        </p:nvPicPr>
        <p:blipFill>
          <a:blip r:embed="rId8">
            <a:alphaModFix/>
          </a:blip>
          <a:stretch>
            <a:fillRect/>
          </a:stretch>
        </p:blipFill>
        <p:spPr>
          <a:xfrm>
            <a:off x="6785175" y="1185879"/>
            <a:ext cx="1327099" cy="276025"/>
          </a:xfrm>
          <a:prstGeom prst="rect">
            <a:avLst/>
          </a:prstGeom>
          <a:noFill/>
          <a:ln>
            <a:noFill/>
          </a:ln>
        </p:spPr>
      </p:pic>
      <p:pic>
        <p:nvPicPr>
          <p:cNvPr id="236" name="Google Shape;236;p24"/>
          <p:cNvPicPr preferRelativeResize="0"/>
          <p:nvPr/>
        </p:nvPicPr>
        <p:blipFill rotWithShape="1">
          <a:blip r:embed="rId9">
            <a:alphaModFix/>
          </a:blip>
          <a:srcRect b="29267" l="0" r="0" t="20780"/>
          <a:stretch/>
        </p:blipFill>
        <p:spPr>
          <a:xfrm>
            <a:off x="6681613" y="2534022"/>
            <a:ext cx="1534220" cy="431100"/>
          </a:xfrm>
          <a:prstGeom prst="rect">
            <a:avLst/>
          </a:prstGeom>
          <a:noFill/>
          <a:ln>
            <a:noFill/>
          </a:ln>
        </p:spPr>
      </p:pic>
      <p:sp>
        <p:nvSpPr>
          <p:cNvPr id="237" name="Google Shape;237;p24"/>
          <p:cNvSpPr/>
          <p:nvPr/>
        </p:nvSpPr>
        <p:spPr>
          <a:xfrm>
            <a:off x="7567850" y="1758796"/>
            <a:ext cx="1057800" cy="4617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Courier New"/>
                <a:ea typeface="Courier New"/>
                <a:cs typeface="Courier New"/>
                <a:sym typeface="Courier New"/>
              </a:rPr>
              <a:t>Similarity by morgan fingerprint</a:t>
            </a:r>
            <a:endParaRPr b="1" sz="800">
              <a:solidFill>
                <a:schemeClr val="dk2"/>
              </a:solidFill>
              <a:latin typeface="Courier New"/>
              <a:ea typeface="Courier New"/>
              <a:cs typeface="Courier New"/>
              <a:sym typeface="Courier New"/>
            </a:endParaRPr>
          </a:p>
        </p:txBody>
      </p:sp>
      <p:sp>
        <p:nvSpPr>
          <p:cNvPr id="238" name="Google Shape;238;p24"/>
          <p:cNvSpPr/>
          <p:nvPr/>
        </p:nvSpPr>
        <p:spPr>
          <a:xfrm>
            <a:off x="6332375" y="1758796"/>
            <a:ext cx="1057800" cy="4617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Courier New"/>
                <a:ea typeface="Courier New"/>
                <a:cs typeface="Courier New"/>
                <a:sym typeface="Courier New"/>
              </a:rPr>
              <a:t>Drug-likeness by QED, SA, LogP</a:t>
            </a:r>
            <a:endParaRPr b="1" sz="800">
              <a:solidFill>
                <a:schemeClr val="dk2"/>
              </a:solidFill>
              <a:latin typeface="Courier New"/>
              <a:ea typeface="Courier New"/>
              <a:cs typeface="Courier New"/>
              <a:sym typeface="Courier New"/>
            </a:endParaRPr>
          </a:p>
        </p:txBody>
      </p:sp>
      <p:cxnSp>
        <p:nvCxnSpPr>
          <p:cNvPr id="239" name="Google Shape;239;p24"/>
          <p:cNvCxnSpPr>
            <a:stCxn id="235" idx="2"/>
            <a:endCxn id="237" idx="0"/>
          </p:cNvCxnSpPr>
          <p:nvPr/>
        </p:nvCxnSpPr>
        <p:spPr>
          <a:xfrm flipH="1" rot="-5400000">
            <a:off x="7624224" y="1286403"/>
            <a:ext cx="297000" cy="648000"/>
          </a:xfrm>
          <a:prstGeom prst="bentConnector3">
            <a:avLst>
              <a:gd fmla="val 49982" name="adj1"/>
            </a:avLst>
          </a:prstGeom>
          <a:noFill/>
          <a:ln cap="flat" cmpd="sng" w="9525">
            <a:solidFill>
              <a:schemeClr val="dk2"/>
            </a:solidFill>
            <a:prstDash val="solid"/>
            <a:round/>
            <a:headEnd len="med" w="med" type="none"/>
            <a:tailEnd len="med" w="med" type="triangle"/>
          </a:ln>
        </p:spPr>
      </p:cxnSp>
      <p:cxnSp>
        <p:nvCxnSpPr>
          <p:cNvPr id="240" name="Google Shape;240;p24"/>
          <p:cNvCxnSpPr>
            <a:stCxn id="235" idx="2"/>
            <a:endCxn id="238" idx="0"/>
          </p:cNvCxnSpPr>
          <p:nvPr/>
        </p:nvCxnSpPr>
        <p:spPr>
          <a:xfrm rot="5400000">
            <a:off x="7006524" y="1316703"/>
            <a:ext cx="297000" cy="587400"/>
          </a:xfrm>
          <a:prstGeom prst="bentConnector3">
            <a:avLst>
              <a:gd fmla="val 49982" name="adj1"/>
            </a:avLst>
          </a:prstGeom>
          <a:noFill/>
          <a:ln cap="flat" cmpd="sng" w="9525">
            <a:solidFill>
              <a:schemeClr val="dk2"/>
            </a:solidFill>
            <a:prstDash val="solid"/>
            <a:round/>
            <a:headEnd len="med" w="med" type="none"/>
            <a:tailEnd len="med" w="med" type="triangle"/>
          </a:ln>
        </p:spPr>
      </p:cxnSp>
      <p:cxnSp>
        <p:nvCxnSpPr>
          <p:cNvPr id="241" name="Google Shape;241;p24"/>
          <p:cNvCxnSpPr>
            <a:stCxn id="237" idx="2"/>
            <a:endCxn id="236" idx="0"/>
          </p:cNvCxnSpPr>
          <p:nvPr/>
        </p:nvCxnSpPr>
        <p:spPr>
          <a:xfrm rot="5400000">
            <a:off x="7616000" y="2053246"/>
            <a:ext cx="313500" cy="648000"/>
          </a:xfrm>
          <a:prstGeom prst="bentConnector3">
            <a:avLst>
              <a:gd fmla="val 50004" name="adj1"/>
            </a:avLst>
          </a:prstGeom>
          <a:noFill/>
          <a:ln cap="flat" cmpd="sng" w="9525">
            <a:solidFill>
              <a:schemeClr val="dk2"/>
            </a:solidFill>
            <a:prstDash val="solid"/>
            <a:round/>
            <a:headEnd len="med" w="med" type="none"/>
            <a:tailEnd len="med" w="med" type="triangle"/>
          </a:ln>
        </p:spPr>
      </p:cxnSp>
      <p:cxnSp>
        <p:nvCxnSpPr>
          <p:cNvPr id="242" name="Google Shape;242;p24"/>
          <p:cNvCxnSpPr>
            <a:stCxn id="238" idx="2"/>
            <a:endCxn id="236" idx="0"/>
          </p:cNvCxnSpPr>
          <p:nvPr/>
        </p:nvCxnSpPr>
        <p:spPr>
          <a:xfrm flipH="1" rot="-5400000">
            <a:off x="6998225" y="2083546"/>
            <a:ext cx="313500" cy="587400"/>
          </a:xfrm>
          <a:prstGeom prst="bentConnector3">
            <a:avLst>
              <a:gd fmla="val 50004" name="adj1"/>
            </a:avLst>
          </a:prstGeom>
          <a:noFill/>
          <a:ln cap="flat" cmpd="sng" w="9525">
            <a:solidFill>
              <a:schemeClr val="dk2"/>
            </a:solidFill>
            <a:prstDash val="solid"/>
            <a:round/>
            <a:headEnd len="med" w="med" type="none"/>
            <a:tailEnd len="med" w="med" type="triangle"/>
          </a:ln>
        </p:spPr>
      </p:cxnSp>
      <p:sp>
        <p:nvSpPr>
          <p:cNvPr id="243" name="Google Shape;243;p24"/>
          <p:cNvSpPr/>
          <p:nvPr/>
        </p:nvSpPr>
        <p:spPr>
          <a:xfrm>
            <a:off x="6552050" y="3178675"/>
            <a:ext cx="1900800" cy="1019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Courier New"/>
                <a:ea typeface="Courier New"/>
                <a:cs typeface="Courier New"/>
                <a:sym typeface="Courier New"/>
              </a:rPr>
              <a:t>Validation set:</a:t>
            </a:r>
            <a:endParaRPr b="1" sz="800">
              <a:solidFill>
                <a:schemeClr val="dk2"/>
              </a:solidFill>
              <a:latin typeface="Courier New"/>
              <a:ea typeface="Courier New"/>
              <a:cs typeface="Courier New"/>
              <a:sym typeface="Courier New"/>
            </a:endParaRPr>
          </a:p>
        </p:txBody>
      </p:sp>
      <p:sp>
        <p:nvSpPr>
          <p:cNvPr id="244" name="Google Shape;244;p24"/>
          <p:cNvSpPr txBox="1"/>
          <p:nvPr/>
        </p:nvSpPr>
        <p:spPr>
          <a:xfrm>
            <a:off x="6681625" y="3468775"/>
            <a:ext cx="1760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Calibri"/>
                <a:ea typeface="Calibri"/>
                <a:cs typeface="Calibri"/>
                <a:sym typeface="Calibri"/>
              </a:rPr>
              <a:t>Stone, Samantha, et al. “Cheminformatic Analysis of Natural Product-Based Drugs and Chemical Probes.” </a:t>
            </a:r>
            <a:endParaRPr sz="800">
              <a:latin typeface="Calibri"/>
              <a:ea typeface="Calibri"/>
              <a:cs typeface="Calibri"/>
              <a:sym typeface="Calibri"/>
            </a:endParaRPr>
          </a:p>
        </p:txBody>
      </p:sp>
      <p:cxnSp>
        <p:nvCxnSpPr>
          <p:cNvPr id="245" name="Google Shape;245;p24"/>
          <p:cNvCxnSpPr>
            <a:stCxn id="209" idx="3"/>
            <a:endCxn id="205" idx="1"/>
          </p:cNvCxnSpPr>
          <p:nvPr/>
        </p:nvCxnSpPr>
        <p:spPr>
          <a:xfrm flipH="1" rot="10800000">
            <a:off x="2114835" y="2595583"/>
            <a:ext cx="497100" cy="5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5"/>
          <p:cNvSpPr txBox="1"/>
          <p:nvPr>
            <p:ph type="ctrTitle"/>
          </p:nvPr>
        </p:nvSpPr>
        <p:spPr>
          <a:xfrm>
            <a:off x="0" y="3034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090">
                <a:latin typeface="Montserrat"/>
                <a:ea typeface="Montserrat"/>
                <a:cs typeface="Montserrat"/>
                <a:sym typeface="Montserrat"/>
              </a:rPr>
              <a:t>Training metrics look good…</a:t>
            </a:r>
            <a:endParaRPr b="1" sz="2090">
              <a:latin typeface="Montserrat"/>
              <a:ea typeface="Montserrat"/>
              <a:cs typeface="Montserrat"/>
              <a:sym typeface="Montserrat"/>
            </a:endParaRPr>
          </a:p>
          <a:p>
            <a:pPr indent="0" lvl="0" marL="0" rtl="0" algn="ctr">
              <a:spcBef>
                <a:spcPts val="0"/>
              </a:spcBef>
              <a:spcAft>
                <a:spcPts val="0"/>
              </a:spcAft>
              <a:buSzPts val="990"/>
              <a:buNone/>
            </a:pPr>
            <a:r>
              <a:rPr lang="en" sz="1690">
                <a:latin typeface="Montserrat"/>
                <a:ea typeface="Montserrat"/>
                <a:cs typeface="Montserrat"/>
                <a:sym typeface="Montserrat"/>
              </a:rPr>
              <a:t>Model might be learning the transformation?</a:t>
            </a:r>
            <a:endParaRPr sz="1690">
              <a:latin typeface="Montserrat"/>
              <a:ea typeface="Montserrat"/>
              <a:cs typeface="Montserrat"/>
              <a:sym typeface="Montserrat"/>
            </a:endParaRPr>
          </a:p>
        </p:txBody>
      </p:sp>
      <p:pic>
        <p:nvPicPr>
          <p:cNvPr id="251" name="Google Shape;251;p25"/>
          <p:cNvPicPr preferRelativeResize="0"/>
          <p:nvPr/>
        </p:nvPicPr>
        <p:blipFill rotWithShape="1">
          <a:blip r:embed="rId3">
            <a:alphaModFix/>
          </a:blip>
          <a:srcRect b="45456" l="0" r="75731" t="7841"/>
          <a:stretch/>
        </p:blipFill>
        <p:spPr>
          <a:xfrm>
            <a:off x="256500" y="1327646"/>
            <a:ext cx="2465467" cy="2427738"/>
          </a:xfrm>
          <a:prstGeom prst="rect">
            <a:avLst/>
          </a:prstGeom>
          <a:noFill/>
          <a:ln>
            <a:noFill/>
          </a:ln>
        </p:spPr>
      </p:pic>
      <p:pic>
        <p:nvPicPr>
          <p:cNvPr id="252" name="Google Shape;252;p25"/>
          <p:cNvPicPr preferRelativeResize="0"/>
          <p:nvPr/>
        </p:nvPicPr>
        <p:blipFill rotWithShape="1">
          <a:blip r:embed="rId3">
            <a:alphaModFix/>
          </a:blip>
          <a:srcRect b="46026" l="24410" r="49787" t="7272"/>
          <a:stretch/>
        </p:blipFill>
        <p:spPr>
          <a:xfrm>
            <a:off x="5987137" y="1327658"/>
            <a:ext cx="2621286" cy="2427712"/>
          </a:xfrm>
          <a:prstGeom prst="rect">
            <a:avLst/>
          </a:prstGeom>
          <a:noFill/>
          <a:ln>
            <a:noFill/>
          </a:ln>
        </p:spPr>
      </p:pic>
      <p:pic>
        <p:nvPicPr>
          <p:cNvPr id="253" name="Google Shape;253;p25"/>
          <p:cNvPicPr preferRelativeResize="0"/>
          <p:nvPr/>
        </p:nvPicPr>
        <p:blipFill rotWithShape="1">
          <a:blip r:embed="rId3">
            <a:alphaModFix/>
          </a:blip>
          <a:srcRect b="45624" l="50158" r="24819" t="7673"/>
          <a:stretch/>
        </p:blipFill>
        <p:spPr>
          <a:xfrm>
            <a:off x="3043913" y="1289857"/>
            <a:ext cx="2621286" cy="2503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6"/>
          <p:cNvSpPr txBox="1"/>
          <p:nvPr>
            <p:ph type="ctrTitle"/>
          </p:nvPr>
        </p:nvSpPr>
        <p:spPr>
          <a:xfrm>
            <a:off x="0" y="779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090">
                <a:latin typeface="Montserrat"/>
                <a:ea typeface="Montserrat"/>
                <a:cs typeface="Montserrat"/>
                <a:sym typeface="Montserrat"/>
              </a:rPr>
              <a:t>Validation fail: offset between train/test set</a:t>
            </a:r>
            <a:endParaRPr b="1" sz="2090">
              <a:latin typeface="Montserrat"/>
              <a:ea typeface="Montserrat"/>
              <a:cs typeface="Montserrat"/>
              <a:sym typeface="Montserrat"/>
            </a:endParaRPr>
          </a:p>
        </p:txBody>
      </p:sp>
      <p:pic>
        <p:nvPicPr>
          <p:cNvPr id="259" name="Google Shape;259;p26"/>
          <p:cNvPicPr preferRelativeResize="0"/>
          <p:nvPr/>
        </p:nvPicPr>
        <p:blipFill rotWithShape="1">
          <a:blip r:embed="rId3">
            <a:alphaModFix/>
          </a:blip>
          <a:srcRect b="39205" l="0" r="67535" t="2428"/>
          <a:stretch/>
        </p:blipFill>
        <p:spPr>
          <a:xfrm>
            <a:off x="1765725" y="772000"/>
            <a:ext cx="1751249" cy="4371502"/>
          </a:xfrm>
          <a:prstGeom prst="rect">
            <a:avLst/>
          </a:prstGeom>
          <a:noFill/>
          <a:ln>
            <a:noFill/>
          </a:ln>
        </p:spPr>
      </p:pic>
      <p:pic>
        <p:nvPicPr>
          <p:cNvPr id="260" name="Google Shape;260;p26"/>
          <p:cNvPicPr preferRelativeResize="0"/>
          <p:nvPr/>
        </p:nvPicPr>
        <p:blipFill rotWithShape="1">
          <a:blip r:embed="rId3">
            <a:alphaModFix/>
          </a:blip>
          <a:srcRect b="39205" l="33767" r="33767" t="2428"/>
          <a:stretch/>
        </p:blipFill>
        <p:spPr>
          <a:xfrm>
            <a:off x="3878450" y="772000"/>
            <a:ext cx="1751249" cy="4371502"/>
          </a:xfrm>
          <a:prstGeom prst="rect">
            <a:avLst/>
          </a:prstGeom>
          <a:noFill/>
          <a:ln>
            <a:noFill/>
          </a:ln>
        </p:spPr>
      </p:pic>
      <p:pic>
        <p:nvPicPr>
          <p:cNvPr id="261" name="Google Shape;261;p26"/>
          <p:cNvPicPr preferRelativeResize="0"/>
          <p:nvPr/>
        </p:nvPicPr>
        <p:blipFill rotWithShape="1">
          <a:blip r:embed="rId3">
            <a:alphaModFix/>
          </a:blip>
          <a:srcRect b="39205" l="67535" r="0" t="2428"/>
          <a:stretch/>
        </p:blipFill>
        <p:spPr>
          <a:xfrm>
            <a:off x="5991175" y="772000"/>
            <a:ext cx="1751249" cy="4371502"/>
          </a:xfrm>
          <a:prstGeom prst="rect">
            <a:avLst/>
          </a:prstGeom>
          <a:noFill/>
          <a:ln>
            <a:noFill/>
          </a:ln>
        </p:spPr>
      </p:pic>
      <p:sp>
        <p:nvSpPr>
          <p:cNvPr id="262" name="Google Shape;262;p26"/>
          <p:cNvSpPr txBox="1"/>
          <p:nvPr/>
        </p:nvSpPr>
        <p:spPr>
          <a:xfrm>
            <a:off x="1856175" y="589825"/>
            <a:ext cx="1860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latin typeface="Courier New"/>
                <a:ea typeface="Courier New"/>
                <a:cs typeface="Courier New"/>
                <a:sym typeface="Courier New"/>
              </a:rPr>
              <a:t>Natural Product</a:t>
            </a:r>
            <a:endParaRPr/>
          </a:p>
        </p:txBody>
      </p:sp>
      <p:sp>
        <p:nvSpPr>
          <p:cNvPr id="263" name="Google Shape;263;p26"/>
          <p:cNvSpPr txBox="1"/>
          <p:nvPr/>
        </p:nvSpPr>
        <p:spPr>
          <a:xfrm>
            <a:off x="4130875" y="589825"/>
            <a:ext cx="1253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latin typeface="Courier New"/>
                <a:ea typeface="Courier New"/>
                <a:cs typeface="Courier New"/>
                <a:sym typeface="Courier New"/>
              </a:rPr>
              <a:t>Generated</a:t>
            </a:r>
            <a:endParaRPr/>
          </a:p>
        </p:txBody>
      </p:sp>
      <p:sp>
        <p:nvSpPr>
          <p:cNvPr id="264" name="Google Shape;264;p26"/>
          <p:cNvSpPr txBox="1"/>
          <p:nvPr/>
        </p:nvSpPr>
        <p:spPr>
          <a:xfrm>
            <a:off x="6489325" y="589825"/>
            <a:ext cx="826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latin typeface="Courier New"/>
                <a:ea typeface="Courier New"/>
                <a:cs typeface="Courier New"/>
                <a:sym typeface="Courier New"/>
              </a:rPr>
              <a:t>Target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7"/>
          <p:cNvSpPr/>
          <p:nvPr/>
        </p:nvSpPr>
        <p:spPr>
          <a:xfrm>
            <a:off x="276588" y="1352775"/>
            <a:ext cx="4135200" cy="3420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27"/>
          <p:cNvSpPr/>
          <p:nvPr/>
        </p:nvSpPr>
        <p:spPr>
          <a:xfrm>
            <a:off x="4776863" y="1352775"/>
            <a:ext cx="4135200" cy="3420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1" name="Google Shape;271;p27"/>
          <p:cNvSpPr txBox="1"/>
          <p:nvPr>
            <p:ph type="ctrTitle"/>
          </p:nvPr>
        </p:nvSpPr>
        <p:spPr>
          <a:xfrm>
            <a:off x="0" y="1039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1890">
                <a:latin typeface="Montserrat"/>
                <a:ea typeface="Montserrat"/>
                <a:cs typeface="Montserrat"/>
                <a:sym typeface="Montserrat"/>
              </a:rPr>
              <a:t>Training NPComposer - A model for controllable NP generation</a:t>
            </a:r>
            <a:endParaRPr b="1" sz="1890">
              <a:latin typeface="Montserrat"/>
              <a:ea typeface="Montserrat"/>
              <a:cs typeface="Montserrat"/>
              <a:sym typeface="Montserrat"/>
            </a:endParaRPr>
          </a:p>
        </p:txBody>
      </p:sp>
      <p:pic>
        <p:nvPicPr>
          <p:cNvPr id="272" name="Google Shape;272;p27" title="Screenshot 2026-03-15 at 1.19.29 PM.png"/>
          <p:cNvPicPr preferRelativeResize="0"/>
          <p:nvPr/>
        </p:nvPicPr>
        <p:blipFill rotWithShape="1">
          <a:blip r:embed="rId3">
            <a:alphaModFix/>
          </a:blip>
          <a:srcRect b="892" l="0" r="0" t="0"/>
          <a:stretch/>
        </p:blipFill>
        <p:spPr>
          <a:xfrm>
            <a:off x="2410138" y="1499088"/>
            <a:ext cx="1598701" cy="3127675"/>
          </a:xfrm>
          <a:prstGeom prst="rect">
            <a:avLst/>
          </a:prstGeom>
          <a:noFill/>
          <a:ln>
            <a:noFill/>
          </a:ln>
        </p:spPr>
      </p:pic>
      <p:pic>
        <p:nvPicPr>
          <p:cNvPr id="273" name="Google Shape;273;p27" title="Screenshot 2026-03-15 at 1.23.35 PM.png"/>
          <p:cNvPicPr preferRelativeResize="0"/>
          <p:nvPr/>
        </p:nvPicPr>
        <p:blipFill rotWithShape="1">
          <a:blip r:embed="rId4">
            <a:alphaModFix/>
          </a:blip>
          <a:srcRect b="85045" l="29880" r="23989" t="0"/>
          <a:stretch/>
        </p:blipFill>
        <p:spPr>
          <a:xfrm>
            <a:off x="6472137" y="1449550"/>
            <a:ext cx="2081674" cy="719450"/>
          </a:xfrm>
          <a:prstGeom prst="rect">
            <a:avLst/>
          </a:prstGeom>
          <a:noFill/>
          <a:ln>
            <a:noFill/>
          </a:ln>
        </p:spPr>
      </p:pic>
      <p:pic>
        <p:nvPicPr>
          <p:cNvPr id="274" name="Google Shape;274;p27" title="Screenshot 2026-03-15 at 1.25.43 PM.png"/>
          <p:cNvPicPr preferRelativeResize="0"/>
          <p:nvPr/>
        </p:nvPicPr>
        <p:blipFill rotWithShape="1">
          <a:blip r:embed="rId5">
            <a:alphaModFix/>
          </a:blip>
          <a:srcRect b="32610" l="0" r="0" t="0"/>
          <a:stretch/>
        </p:blipFill>
        <p:spPr>
          <a:xfrm>
            <a:off x="6080488" y="2169000"/>
            <a:ext cx="2718700" cy="2449993"/>
          </a:xfrm>
          <a:prstGeom prst="rect">
            <a:avLst/>
          </a:prstGeom>
          <a:noFill/>
          <a:ln>
            <a:noFill/>
          </a:ln>
        </p:spPr>
      </p:pic>
      <p:pic>
        <p:nvPicPr>
          <p:cNvPr id="275" name="Google Shape;275;p27" title="ChatGPT Image Mar 15, 2026 at 01_26_20 PM.png"/>
          <p:cNvPicPr preferRelativeResize="0"/>
          <p:nvPr/>
        </p:nvPicPr>
        <p:blipFill rotWithShape="1">
          <a:blip r:embed="rId6">
            <a:alphaModFix/>
          </a:blip>
          <a:srcRect b="0" l="5591" r="13958" t="0"/>
          <a:stretch/>
        </p:blipFill>
        <p:spPr>
          <a:xfrm>
            <a:off x="837438" y="2056125"/>
            <a:ext cx="1201149" cy="2239377"/>
          </a:xfrm>
          <a:prstGeom prst="rect">
            <a:avLst/>
          </a:prstGeom>
          <a:noFill/>
          <a:ln>
            <a:noFill/>
          </a:ln>
        </p:spPr>
      </p:pic>
      <p:sp>
        <p:nvSpPr>
          <p:cNvPr id="276" name="Google Shape;276;p27"/>
          <p:cNvSpPr txBox="1"/>
          <p:nvPr/>
        </p:nvSpPr>
        <p:spPr>
          <a:xfrm>
            <a:off x="193238" y="781850"/>
            <a:ext cx="4995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Montserrat"/>
                <a:ea typeface="Montserrat"/>
                <a:cs typeface="Montserrat"/>
                <a:sym typeface="Montserrat"/>
              </a:rPr>
              <a:t>Use GP-MoLFormer as pre-trained foundation model: </a:t>
            </a:r>
            <a:endParaRPr sz="1000">
              <a:solidFill>
                <a:schemeClr val="dk2"/>
              </a:solidFill>
              <a:latin typeface="Montserrat"/>
              <a:ea typeface="Montserrat"/>
              <a:cs typeface="Montserrat"/>
              <a:sym typeface="Montserrat"/>
            </a:endParaRPr>
          </a:p>
          <a:p>
            <a:pPr indent="-292100" lvl="0" marL="457200" rtl="0" algn="l">
              <a:spcBef>
                <a:spcPts val="0"/>
              </a:spcBef>
              <a:spcAft>
                <a:spcPts val="0"/>
              </a:spcAft>
              <a:buClr>
                <a:schemeClr val="dk2"/>
              </a:buClr>
              <a:buSzPts val="1000"/>
              <a:buFont typeface="Montserrat"/>
              <a:buChar char="●"/>
            </a:pPr>
            <a:r>
              <a:rPr lang="en" sz="1000">
                <a:solidFill>
                  <a:schemeClr val="dk2"/>
                </a:solidFill>
                <a:latin typeface="Montserrat"/>
                <a:ea typeface="Montserrat"/>
                <a:cs typeface="Montserrat"/>
                <a:sym typeface="Montserrat"/>
              </a:rPr>
              <a:t>Transformer model pre-trained on over 1B SMILES strings</a:t>
            </a:r>
            <a:endParaRPr sz="1000">
              <a:solidFill>
                <a:schemeClr val="dk2"/>
              </a:solidFill>
              <a:latin typeface="Montserrat"/>
              <a:ea typeface="Montserrat"/>
              <a:cs typeface="Montserrat"/>
              <a:sym typeface="Montserrat"/>
            </a:endParaRPr>
          </a:p>
        </p:txBody>
      </p:sp>
      <p:sp>
        <p:nvSpPr>
          <p:cNvPr id="277" name="Google Shape;277;p27"/>
          <p:cNvSpPr txBox="1"/>
          <p:nvPr/>
        </p:nvSpPr>
        <p:spPr>
          <a:xfrm>
            <a:off x="4738163" y="781850"/>
            <a:ext cx="4212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Montserrat"/>
                <a:ea typeface="Montserrat"/>
                <a:cs typeface="Montserrat"/>
                <a:sym typeface="Montserrat"/>
              </a:rPr>
              <a:t>Fine-tune model on COCONUT natural product database with associated property information</a:t>
            </a:r>
            <a:endParaRPr sz="1000">
              <a:solidFill>
                <a:schemeClr val="dk2"/>
              </a:solidFill>
              <a:latin typeface="Montserrat"/>
              <a:ea typeface="Montserrat"/>
              <a:cs typeface="Montserrat"/>
              <a:sym typeface="Montserrat"/>
            </a:endParaRPr>
          </a:p>
        </p:txBody>
      </p:sp>
      <p:pic>
        <p:nvPicPr>
          <p:cNvPr id="278" name="Google Shape;278;p27" title="ChatGPT Image Mar 15, 2026 at 01_37_35 PM.png"/>
          <p:cNvPicPr preferRelativeResize="0"/>
          <p:nvPr/>
        </p:nvPicPr>
        <p:blipFill rotWithShape="1">
          <a:blip r:embed="rId7">
            <a:alphaModFix/>
          </a:blip>
          <a:srcRect b="0" l="5547" r="38361" t="0"/>
          <a:stretch/>
        </p:blipFill>
        <p:spPr>
          <a:xfrm>
            <a:off x="4883187" y="2108375"/>
            <a:ext cx="837624" cy="1493299"/>
          </a:xfrm>
          <a:prstGeom prst="rect">
            <a:avLst/>
          </a:prstGeom>
          <a:noFill/>
          <a:ln>
            <a:noFill/>
          </a:ln>
        </p:spPr>
      </p:pic>
      <p:cxnSp>
        <p:nvCxnSpPr>
          <p:cNvPr id="279" name="Google Shape;279;p27"/>
          <p:cNvCxnSpPr/>
          <p:nvPr/>
        </p:nvCxnSpPr>
        <p:spPr>
          <a:xfrm flipH="1" rot="10800000">
            <a:off x="5363188" y="3008725"/>
            <a:ext cx="7500" cy="177900"/>
          </a:xfrm>
          <a:prstGeom prst="straightConnector1">
            <a:avLst/>
          </a:prstGeom>
          <a:noFill/>
          <a:ln cap="flat" cmpd="sng" w="9525">
            <a:solidFill>
              <a:schemeClr val="dk2"/>
            </a:solidFill>
            <a:prstDash val="solid"/>
            <a:round/>
            <a:headEnd len="med" w="med" type="none"/>
            <a:tailEnd len="med" w="med" type="triangle"/>
          </a:ln>
        </p:spPr>
      </p:cxnSp>
      <p:cxnSp>
        <p:nvCxnSpPr>
          <p:cNvPr id="280" name="Google Shape;280;p27"/>
          <p:cNvCxnSpPr/>
          <p:nvPr/>
        </p:nvCxnSpPr>
        <p:spPr>
          <a:xfrm rot="10800000">
            <a:off x="5664988" y="3394000"/>
            <a:ext cx="415500" cy="0"/>
          </a:xfrm>
          <a:prstGeom prst="straightConnector1">
            <a:avLst/>
          </a:prstGeom>
          <a:noFill/>
          <a:ln cap="flat" cmpd="sng" w="9525">
            <a:solidFill>
              <a:schemeClr val="dk2"/>
            </a:solidFill>
            <a:prstDash val="solid"/>
            <a:round/>
            <a:headEnd len="med" w="med" type="none"/>
            <a:tailEnd len="med" w="med" type="triangle"/>
          </a:ln>
        </p:spPr>
      </p:cxnSp>
      <p:sp>
        <p:nvSpPr>
          <p:cNvPr id="281" name="Google Shape;281;p27"/>
          <p:cNvSpPr txBox="1"/>
          <p:nvPr/>
        </p:nvSpPr>
        <p:spPr>
          <a:xfrm>
            <a:off x="5050588" y="3485275"/>
            <a:ext cx="102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800">
                <a:solidFill>
                  <a:schemeClr val="dk2"/>
                </a:solidFill>
              </a:rPr>
              <a:t>fine-tuning</a:t>
            </a:r>
            <a:endParaRPr i="1" sz="800">
              <a:solidFill>
                <a:schemeClr val="dk2"/>
              </a:solidFill>
            </a:endParaRPr>
          </a:p>
        </p:txBody>
      </p:sp>
      <p:cxnSp>
        <p:nvCxnSpPr>
          <p:cNvPr id="282" name="Google Shape;282;p27"/>
          <p:cNvCxnSpPr/>
          <p:nvPr/>
        </p:nvCxnSpPr>
        <p:spPr>
          <a:xfrm flipH="1" rot="10800000">
            <a:off x="1932988" y="1857050"/>
            <a:ext cx="614700" cy="74460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27"/>
          <p:cNvCxnSpPr/>
          <p:nvPr/>
        </p:nvCxnSpPr>
        <p:spPr>
          <a:xfrm>
            <a:off x="1900888" y="3559000"/>
            <a:ext cx="872100" cy="696600"/>
          </a:xfrm>
          <a:prstGeom prst="straightConnector1">
            <a:avLst/>
          </a:prstGeom>
          <a:noFill/>
          <a:ln cap="flat" cmpd="sng" w="9525">
            <a:solidFill>
              <a:schemeClr val="dk2"/>
            </a:solidFill>
            <a:prstDash val="solid"/>
            <a:round/>
            <a:headEnd len="med" w="med" type="none"/>
            <a:tailEnd len="med" w="med" type="none"/>
          </a:ln>
        </p:spPr>
      </p:cxnSp>
      <p:sp>
        <p:nvSpPr>
          <p:cNvPr id="284" name="Google Shape;284;p27"/>
          <p:cNvSpPr txBox="1"/>
          <p:nvPr/>
        </p:nvSpPr>
        <p:spPr>
          <a:xfrm>
            <a:off x="381653" y="4773075"/>
            <a:ext cx="634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2"/>
                </a:solidFill>
                <a:latin typeface="Montserrat"/>
                <a:ea typeface="Montserrat"/>
                <a:cs typeface="Montserrat"/>
                <a:sym typeface="Montserrat"/>
              </a:rPr>
              <a:t>Ross et al., </a:t>
            </a:r>
            <a:r>
              <a:rPr i="1" lang="en" sz="700">
                <a:solidFill>
                  <a:schemeClr val="dk2"/>
                </a:solidFill>
                <a:latin typeface="Montserrat"/>
                <a:ea typeface="Montserrat"/>
                <a:cs typeface="Montserrat"/>
                <a:sym typeface="Montserrat"/>
              </a:rPr>
              <a:t>GP-MoLFormer: A Foundation Model for Molecular Generation.</a:t>
            </a:r>
            <a:r>
              <a:rPr lang="en" sz="700">
                <a:solidFill>
                  <a:schemeClr val="dk2"/>
                </a:solidFill>
                <a:latin typeface="Montserrat"/>
                <a:ea typeface="Montserrat"/>
                <a:cs typeface="Montserrat"/>
                <a:sym typeface="Montserrat"/>
              </a:rPr>
              <a:t> arXiv. 2024. </a:t>
            </a:r>
            <a:r>
              <a:rPr lang="en" sz="800">
                <a:solidFill>
                  <a:schemeClr val="dk2"/>
                </a:solidFill>
                <a:latin typeface="Montserrat"/>
                <a:ea typeface="Montserrat"/>
                <a:cs typeface="Montserrat"/>
                <a:sym typeface="Montserrat"/>
              </a:rPr>
              <a:t> </a:t>
            </a:r>
            <a:endParaRPr sz="800">
              <a:solidFill>
                <a:schemeClr val="dk2"/>
              </a:solidFill>
              <a:latin typeface="Montserrat"/>
              <a:ea typeface="Montserrat"/>
              <a:cs typeface="Montserrat"/>
              <a:sym typeface="Montserrat"/>
            </a:endParaRPr>
          </a:p>
        </p:txBody>
      </p:sp>
      <p:sp>
        <p:nvSpPr>
          <p:cNvPr id="285" name="Google Shape;285;p27"/>
          <p:cNvSpPr txBox="1"/>
          <p:nvPr/>
        </p:nvSpPr>
        <p:spPr>
          <a:xfrm>
            <a:off x="5665002" y="4780725"/>
            <a:ext cx="29172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2"/>
                </a:solidFill>
                <a:latin typeface="Montserrat"/>
                <a:ea typeface="Montserrat"/>
                <a:cs typeface="Montserrat"/>
                <a:sym typeface="Montserrat"/>
              </a:rPr>
              <a:t>Chandrasekhar et al., </a:t>
            </a:r>
            <a:r>
              <a:rPr i="1" lang="en" sz="700">
                <a:solidFill>
                  <a:schemeClr val="dk2"/>
                </a:solidFill>
                <a:latin typeface="Montserrat"/>
                <a:ea typeface="Montserrat"/>
                <a:cs typeface="Montserrat"/>
                <a:sym typeface="Montserrat"/>
              </a:rPr>
              <a:t>COCONUT 2.0. Nucleic Acids Res.</a:t>
            </a:r>
            <a:r>
              <a:rPr lang="en" sz="700">
                <a:solidFill>
                  <a:schemeClr val="dk2"/>
                </a:solidFill>
                <a:latin typeface="Montserrat"/>
                <a:ea typeface="Montserrat"/>
                <a:cs typeface="Montserrat"/>
                <a:sym typeface="Montserrat"/>
              </a:rPr>
              <a:t>, 2025. </a:t>
            </a:r>
            <a:r>
              <a:rPr lang="en" sz="700">
                <a:solidFill>
                  <a:schemeClr val="dk2"/>
                </a:solidFill>
                <a:latin typeface="Montserrat"/>
                <a:ea typeface="Montserrat"/>
                <a:cs typeface="Montserrat"/>
                <a:sym typeface="Montserrat"/>
              </a:rPr>
              <a:t>.  </a:t>
            </a:r>
            <a:endParaRPr sz="700">
              <a:solidFill>
                <a:schemeClr val="dk2"/>
              </a:solidFill>
              <a:latin typeface="Montserrat"/>
              <a:ea typeface="Montserrat"/>
              <a:cs typeface="Montserrat"/>
              <a:sym typeface="Montserrat"/>
            </a:endParaRPr>
          </a:p>
        </p:txBody>
      </p:sp>
      <p:sp>
        <p:nvSpPr>
          <p:cNvPr id="286" name="Google Shape;286;p27"/>
          <p:cNvSpPr/>
          <p:nvPr/>
        </p:nvSpPr>
        <p:spPr>
          <a:xfrm rot="-5400000">
            <a:off x="4424100" y="2906613"/>
            <a:ext cx="340500" cy="234300"/>
          </a:xfrm>
          <a:prstGeom prst="downArrow">
            <a:avLst>
              <a:gd fmla="val 50000" name="adj1"/>
              <a:gd fmla="val 50000" name="adj2"/>
            </a:avLst>
          </a:prstGeom>
          <a:solidFill>
            <a:srgbClr val="EEEEEE"/>
          </a:solidFill>
          <a:ln cap="flat" cmpd="sng" w="8550">
            <a:solidFill>
              <a:srgbClr val="595959"/>
            </a:solidFill>
            <a:prstDash val="solid"/>
            <a:round/>
            <a:headEnd len="sm" w="sm" type="none"/>
            <a:tailEnd len="sm" w="sm" type="none"/>
          </a:ln>
        </p:spPr>
        <p:txBody>
          <a:bodyPr anchorCtr="0" anchor="ctr" bIns="82025" lIns="82025" spcFirstLastPara="1" rIns="82025" wrap="square" tIns="82025">
            <a:noAutofit/>
          </a:bodyPr>
          <a:lstStyle/>
          <a:p>
            <a:pPr indent="0" lvl="0" marL="0" rtl="0" algn="ctr">
              <a:spcBef>
                <a:spcPts val="0"/>
              </a:spcBef>
              <a:spcAft>
                <a:spcPts val="0"/>
              </a:spcAft>
              <a:buNone/>
            </a:pPr>
            <a:r>
              <a:t/>
            </a:r>
            <a:endParaRPr sz="1256"/>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8"/>
          <p:cNvSpPr/>
          <p:nvPr/>
        </p:nvSpPr>
        <p:spPr>
          <a:xfrm>
            <a:off x="2465175" y="1489875"/>
            <a:ext cx="1984500" cy="3463800"/>
          </a:xfrm>
          <a:prstGeom prst="roundRect">
            <a:avLst>
              <a:gd fmla="val 4974"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28"/>
          <p:cNvSpPr txBox="1"/>
          <p:nvPr/>
        </p:nvSpPr>
        <p:spPr>
          <a:xfrm>
            <a:off x="2495175" y="1505325"/>
            <a:ext cx="1924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dk2"/>
                </a:solidFill>
                <a:latin typeface="Montserrat"/>
                <a:ea typeface="Montserrat"/>
                <a:cs typeface="Montserrat"/>
                <a:sym typeface="Montserrat"/>
              </a:rPr>
              <a:t>Compute property information: </a:t>
            </a:r>
            <a:endParaRPr sz="1100" u="sng">
              <a:solidFill>
                <a:schemeClr val="dk2"/>
              </a:solidFill>
              <a:latin typeface="Montserrat"/>
              <a:ea typeface="Montserrat"/>
              <a:cs typeface="Montserrat"/>
              <a:sym typeface="Montserrat"/>
            </a:endParaRPr>
          </a:p>
        </p:txBody>
      </p:sp>
      <p:sp>
        <p:nvSpPr>
          <p:cNvPr id="293" name="Google Shape;293;p28"/>
          <p:cNvSpPr/>
          <p:nvPr/>
        </p:nvSpPr>
        <p:spPr>
          <a:xfrm>
            <a:off x="4713875" y="1489875"/>
            <a:ext cx="1984500" cy="3463800"/>
          </a:xfrm>
          <a:prstGeom prst="roundRect">
            <a:avLst>
              <a:gd fmla="val 4974"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4" name="Google Shape;294;p28"/>
          <p:cNvSpPr/>
          <p:nvPr/>
        </p:nvSpPr>
        <p:spPr>
          <a:xfrm>
            <a:off x="6985875" y="1489875"/>
            <a:ext cx="1984500" cy="3463800"/>
          </a:xfrm>
          <a:prstGeom prst="roundRect">
            <a:avLst>
              <a:gd fmla="val 4974"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28"/>
          <p:cNvSpPr/>
          <p:nvPr/>
        </p:nvSpPr>
        <p:spPr>
          <a:xfrm>
            <a:off x="216475" y="1489875"/>
            <a:ext cx="1984500" cy="3463800"/>
          </a:xfrm>
          <a:prstGeom prst="roundRect">
            <a:avLst>
              <a:gd fmla="val 4974"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28"/>
          <p:cNvSpPr txBox="1"/>
          <p:nvPr>
            <p:ph type="ctrTitle"/>
          </p:nvPr>
        </p:nvSpPr>
        <p:spPr>
          <a:xfrm>
            <a:off x="0" y="1039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2090">
                <a:latin typeface="Montserrat"/>
                <a:ea typeface="Montserrat"/>
                <a:cs typeface="Montserrat"/>
                <a:sym typeface="Montserrat"/>
              </a:rPr>
              <a:t>Enabling conditional natural product generation</a:t>
            </a:r>
            <a:endParaRPr b="1" sz="2090">
              <a:latin typeface="Montserrat"/>
              <a:ea typeface="Montserrat"/>
              <a:cs typeface="Montserrat"/>
              <a:sym typeface="Montserrat"/>
            </a:endParaRPr>
          </a:p>
        </p:txBody>
      </p:sp>
      <p:sp>
        <p:nvSpPr>
          <p:cNvPr id="297" name="Google Shape;297;p28"/>
          <p:cNvSpPr txBox="1"/>
          <p:nvPr/>
        </p:nvSpPr>
        <p:spPr>
          <a:xfrm>
            <a:off x="-100" y="703350"/>
            <a:ext cx="9144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latin typeface="Montserrat"/>
                <a:ea typeface="Montserrat"/>
                <a:cs typeface="Montserrat"/>
                <a:sym typeface="Montserrat"/>
              </a:rPr>
              <a:t>Natural product </a:t>
            </a:r>
            <a:r>
              <a:rPr lang="en" sz="1200">
                <a:solidFill>
                  <a:schemeClr val="dk2"/>
                </a:solidFill>
                <a:latin typeface="Montserrat"/>
                <a:ea typeface="Montserrat"/>
                <a:cs typeface="Montserrat"/>
                <a:sym typeface="Montserrat"/>
              </a:rPr>
              <a:t>classification</a:t>
            </a:r>
            <a:r>
              <a:rPr lang="en" sz="1200">
                <a:solidFill>
                  <a:schemeClr val="dk2"/>
                </a:solidFill>
                <a:latin typeface="Montserrat"/>
                <a:ea typeface="Montserrat"/>
                <a:cs typeface="Montserrat"/>
                <a:sym typeface="Montserrat"/>
              </a:rPr>
              <a:t> and property information are added to each training example </a:t>
            </a:r>
            <a:endParaRPr sz="1200">
              <a:solidFill>
                <a:schemeClr val="dk2"/>
              </a:solidFill>
              <a:latin typeface="Montserrat"/>
              <a:ea typeface="Montserrat"/>
              <a:cs typeface="Montserrat"/>
              <a:sym typeface="Montserrat"/>
            </a:endParaRPr>
          </a:p>
          <a:p>
            <a:pPr indent="0" lvl="0" marL="0" rtl="0" algn="ctr">
              <a:spcBef>
                <a:spcPts val="0"/>
              </a:spcBef>
              <a:spcAft>
                <a:spcPts val="0"/>
              </a:spcAft>
              <a:buNone/>
            </a:pPr>
            <a:r>
              <a:rPr lang="en" sz="1200">
                <a:solidFill>
                  <a:schemeClr val="dk2"/>
                </a:solidFill>
                <a:latin typeface="Montserrat"/>
                <a:ea typeface="Montserrat"/>
                <a:cs typeface="Montserrat"/>
                <a:sym typeface="Montserrat"/>
              </a:rPr>
              <a:t>during fine-tuning to enable conditional NP generation</a:t>
            </a:r>
            <a:endParaRPr sz="1200">
              <a:solidFill>
                <a:schemeClr val="dk2"/>
              </a:solidFill>
              <a:latin typeface="Montserrat"/>
              <a:ea typeface="Montserrat"/>
              <a:cs typeface="Montserrat"/>
              <a:sym typeface="Montserrat"/>
            </a:endParaRPr>
          </a:p>
        </p:txBody>
      </p:sp>
      <p:sp>
        <p:nvSpPr>
          <p:cNvPr id="298" name="Google Shape;298;p28"/>
          <p:cNvSpPr txBox="1"/>
          <p:nvPr/>
        </p:nvSpPr>
        <p:spPr>
          <a:xfrm>
            <a:off x="324000" y="1505325"/>
            <a:ext cx="17493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u="sng">
                <a:solidFill>
                  <a:schemeClr val="dk2"/>
                </a:solidFill>
                <a:latin typeface="Montserrat"/>
                <a:ea typeface="Montserrat"/>
                <a:cs typeface="Montserrat"/>
                <a:sym typeface="Montserrat"/>
              </a:rPr>
              <a:t>One structure input:</a:t>
            </a:r>
            <a:endParaRPr sz="1100" u="sng">
              <a:solidFill>
                <a:schemeClr val="dk2"/>
              </a:solidFill>
              <a:latin typeface="Montserrat"/>
              <a:ea typeface="Montserrat"/>
              <a:cs typeface="Montserrat"/>
              <a:sym typeface="Montserrat"/>
            </a:endParaRPr>
          </a:p>
          <a:p>
            <a:pPr indent="0" lvl="0" marL="0" rtl="0" algn="ctr">
              <a:spcBef>
                <a:spcPts val="0"/>
              </a:spcBef>
              <a:spcAft>
                <a:spcPts val="0"/>
              </a:spcAft>
              <a:buNone/>
            </a:pPr>
            <a:r>
              <a:rPr lang="en" sz="1100">
                <a:solidFill>
                  <a:schemeClr val="dk2"/>
                </a:solidFill>
                <a:latin typeface="Montserrat"/>
                <a:ea typeface="Montserrat"/>
                <a:cs typeface="Montserrat"/>
                <a:sym typeface="Montserrat"/>
              </a:rPr>
              <a:t>(caffeine) </a:t>
            </a:r>
            <a:endParaRPr sz="1100">
              <a:solidFill>
                <a:schemeClr val="dk2"/>
              </a:solidFill>
              <a:latin typeface="Montserrat"/>
              <a:ea typeface="Montserrat"/>
              <a:cs typeface="Montserrat"/>
              <a:sym typeface="Montserrat"/>
            </a:endParaRPr>
          </a:p>
        </p:txBody>
      </p:sp>
      <p:sp>
        <p:nvSpPr>
          <p:cNvPr id="299" name="Google Shape;299;p28"/>
          <p:cNvSpPr txBox="1"/>
          <p:nvPr/>
        </p:nvSpPr>
        <p:spPr>
          <a:xfrm>
            <a:off x="4841550" y="1524525"/>
            <a:ext cx="1828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dk2"/>
                </a:solidFill>
                <a:latin typeface="Montserrat"/>
                <a:ea typeface="Montserrat"/>
                <a:cs typeface="Montserrat"/>
                <a:sym typeface="Montserrat"/>
              </a:rPr>
              <a:t>Format training input:</a:t>
            </a:r>
            <a:endParaRPr sz="1100" u="sng">
              <a:solidFill>
                <a:schemeClr val="dk2"/>
              </a:solidFill>
              <a:latin typeface="Montserrat"/>
              <a:ea typeface="Montserrat"/>
              <a:cs typeface="Montserrat"/>
              <a:sym typeface="Montserrat"/>
            </a:endParaRPr>
          </a:p>
        </p:txBody>
      </p:sp>
      <p:sp>
        <p:nvSpPr>
          <p:cNvPr id="300" name="Google Shape;300;p28"/>
          <p:cNvSpPr txBox="1"/>
          <p:nvPr/>
        </p:nvSpPr>
        <p:spPr>
          <a:xfrm>
            <a:off x="7145475" y="1524525"/>
            <a:ext cx="1644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dk2"/>
                </a:solidFill>
                <a:latin typeface="Montserrat"/>
                <a:ea typeface="Montserrat"/>
                <a:cs typeface="Montserrat"/>
                <a:sym typeface="Montserrat"/>
              </a:rPr>
              <a:t>Train model for next token prediction: </a:t>
            </a:r>
            <a:endParaRPr sz="1100" u="sng">
              <a:solidFill>
                <a:schemeClr val="dk2"/>
              </a:solidFill>
              <a:latin typeface="Montserrat"/>
              <a:ea typeface="Montserrat"/>
              <a:cs typeface="Montserrat"/>
              <a:sym typeface="Montserrat"/>
            </a:endParaRPr>
          </a:p>
        </p:txBody>
      </p:sp>
      <p:sp>
        <p:nvSpPr>
          <p:cNvPr id="301" name="Google Shape;301;p28"/>
          <p:cNvSpPr txBox="1"/>
          <p:nvPr/>
        </p:nvSpPr>
        <p:spPr>
          <a:xfrm>
            <a:off x="7377975" y="2243025"/>
            <a:ext cx="1592400" cy="247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latin typeface="Montserrat"/>
                <a:ea typeface="Montserrat"/>
                <a:cs typeface="Montserrat"/>
                <a:sym typeface="Montserrat"/>
              </a:rPr>
              <a:t>&lt;property information&gt;</a:t>
            </a:r>
            <a:r>
              <a:rPr b="1" lang="en" sz="900">
                <a:solidFill>
                  <a:schemeClr val="dk2"/>
                </a:solidFill>
                <a:latin typeface="Montserrat"/>
                <a:ea typeface="Montserrat"/>
                <a:cs typeface="Montserrat"/>
                <a:sym typeface="Montserrat"/>
              </a:rPr>
              <a:t>C</a:t>
            </a:r>
            <a:endParaRPr b="1" sz="9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9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9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900">
                <a:solidFill>
                  <a:schemeClr val="dk2"/>
                </a:solidFill>
                <a:latin typeface="Montserrat"/>
                <a:ea typeface="Montserrat"/>
                <a:cs typeface="Montserrat"/>
                <a:sym typeface="Montserrat"/>
              </a:rPr>
              <a:t>&lt;property information&gt;</a:t>
            </a:r>
            <a:r>
              <a:rPr b="1" lang="en" sz="900">
                <a:solidFill>
                  <a:schemeClr val="dk2"/>
                </a:solidFill>
                <a:latin typeface="Montserrat"/>
                <a:ea typeface="Montserrat"/>
                <a:cs typeface="Montserrat"/>
                <a:sym typeface="Montserrat"/>
              </a:rPr>
              <a:t>CN</a:t>
            </a:r>
            <a:endParaRPr b="1" sz="9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9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9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900">
                <a:solidFill>
                  <a:schemeClr val="dk2"/>
                </a:solidFill>
                <a:latin typeface="Montserrat"/>
                <a:ea typeface="Montserrat"/>
                <a:cs typeface="Montserrat"/>
                <a:sym typeface="Montserrat"/>
              </a:rPr>
              <a:t>&lt;property information&gt;</a:t>
            </a:r>
            <a:r>
              <a:rPr b="1" lang="en" sz="900">
                <a:solidFill>
                  <a:schemeClr val="dk2"/>
                </a:solidFill>
                <a:latin typeface="Montserrat"/>
                <a:ea typeface="Montserrat"/>
                <a:cs typeface="Montserrat"/>
                <a:sym typeface="Montserrat"/>
              </a:rPr>
              <a:t>CN1</a:t>
            </a:r>
            <a:endParaRPr b="1" sz="9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9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9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900">
                <a:solidFill>
                  <a:schemeClr val="dk2"/>
                </a:solidFill>
                <a:latin typeface="Montserrat"/>
                <a:ea typeface="Montserrat"/>
                <a:cs typeface="Montserrat"/>
                <a:sym typeface="Montserrat"/>
              </a:rPr>
              <a:t>&lt;property information&gt;</a:t>
            </a:r>
            <a:r>
              <a:rPr b="1" lang="en" sz="900">
                <a:solidFill>
                  <a:schemeClr val="dk2"/>
                </a:solidFill>
                <a:latin typeface="Montserrat"/>
                <a:ea typeface="Montserrat"/>
                <a:cs typeface="Montserrat"/>
                <a:sym typeface="Montserrat"/>
              </a:rPr>
              <a:t>CN1C</a:t>
            </a:r>
            <a:endParaRPr b="1" sz="9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9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a:solidFill>
                  <a:schemeClr val="dk2"/>
                </a:solidFill>
                <a:latin typeface="Montserrat"/>
                <a:ea typeface="Montserrat"/>
                <a:cs typeface="Montserrat"/>
                <a:sym typeface="Montserrat"/>
              </a:rPr>
              <a:t>…</a:t>
            </a:r>
            <a:endParaRPr>
              <a:solidFill>
                <a:schemeClr val="dk2"/>
              </a:solidFill>
              <a:latin typeface="Montserrat"/>
              <a:ea typeface="Montserrat"/>
              <a:cs typeface="Montserrat"/>
              <a:sym typeface="Montserrat"/>
            </a:endParaRPr>
          </a:p>
        </p:txBody>
      </p:sp>
      <p:pic>
        <p:nvPicPr>
          <p:cNvPr id="302" name="Google Shape;302;p28" title="Screenshot 2026-03-17 at 11.22.14 AM.png"/>
          <p:cNvPicPr preferRelativeResize="0"/>
          <p:nvPr/>
        </p:nvPicPr>
        <p:blipFill>
          <a:blip r:embed="rId3">
            <a:alphaModFix/>
          </a:blip>
          <a:stretch>
            <a:fillRect/>
          </a:stretch>
        </p:blipFill>
        <p:spPr>
          <a:xfrm>
            <a:off x="790825" y="2543426"/>
            <a:ext cx="862925" cy="923401"/>
          </a:xfrm>
          <a:prstGeom prst="rect">
            <a:avLst/>
          </a:prstGeom>
          <a:noFill/>
          <a:ln>
            <a:noFill/>
          </a:ln>
        </p:spPr>
      </p:pic>
      <p:sp>
        <p:nvSpPr>
          <p:cNvPr id="303" name="Google Shape;303;p28"/>
          <p:cNvSpPr txBox="1"/>
          <p:nvPr/>
        </p:nvSpPr>
        <p:spPr>
          <a:xfrm>
            <a:off x="516438" y="3559100"/>
            <a:ext cx="1290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latin typeface="Montserrat"/>
                <a:ea typeface="Montserrat"/>
                <a:cs typeface="Montserrat"/>
                <a:sym typeface="Montserrat"/>
              </a:rPr>
              <a:t>SMILES:</a:t>
            </a:r>
            <a:endParaRPr sz="900">
              <a:solidFill>
                <a:schemeClr val="dk2"/>
              </a:solidFill>
              <a:latin typeface="Montserrat"/>
              <a:ea typeface="Montserrat"/>
              <a:cs typeface="Montserrat"/>
              <a:sym typeface="Montserrat"/>
            </a:endParaRPr>
          </a:p>
          <a:p>
            <a:pPr indent="0" lvl="0" marL="0" rtl="0" algn="l">
              <a:spcBef>
                <a:spcPts val="0"/>
              </a:spcBef>
              <a:spcAft>
                <a:spcPts val="0"/>
              </a:spcAft>
              <a:buNone/>
            </a:pPr>
            <a:r>
              <a:rPr b="1" lang="en" sz="900">
                <a:solidFill>
                  <a:schemeClr val="dk2"/>
                </a:solidFill>
                <a:latin typeface="Montserrat"/>
                <a:ea typeface="Montserrat"/>
                <a:cs typeface="Montserrat"/>
                <a:sym typeface="Montserrat"/>
              </a:rPr>
              <a:t>CN1C(=O)C2=C(N=CN2C)N(C)C1=O</a:t>
            </a:r>
            <a:endParaRPr b="1" sz="9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900">
                <a:solidFill>
                  <a:schemeClr val="dk2"/>
                </a:solidFill>
                <a:latin typeface="Montserrat"/>
                <a:ea typeface="Montserrat"/>
                <a:cs typeface="Montserrat"/>
                <a:sym typeface="Montserrat"/>
              </a:rPr>
              <a:t> </a:t>
            </a:r>
            <a:endParaRPr sz="900">
              <a:solidFill>
                <a:schemeClr val="dk2"/>
              </a:solidFill>
              <a:latin typeface="Montserrat"/>
              <a:ea typeface="Montserrat"/>
              <a:cs typeface="Montserrat"/>
              <a:sym typeface="Montserrat"/>
            </a:endParaRPr>
          </a:p>
        </p:txBody>
      </p:sp>
      <p:sp>
        <p:nvSpPr>
          <p:cNvPr id="304" name="Google Shape;304;p28"/>
          <p:cNvSpPr txBox="1"/>
          <p:nvPr/>
        </p:nvSpPr>
        <p:spPr>
          <a:xfrm>
            <a:off x="2501900" y="2276400"/>
            <a:ext cx="1924500" cy="2609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900">
                <a:solidFill>
                  <a:schemeClr val="dk2"/>
                </a:solidFill>
                <a:latin typeface="Montserrat"/>
                <a:ea typeface="Montserrat"/>
                <a:cs typeface="Montserrat"/>
                <a:sym typeface="Montserrat"/>
              </a:rPr>
              <a:t>Pathway: </a:t>
            </a:r>
            <a:r>
              <a:rPr b="1" i="1" lang="en" sz="900">
                <a:solidFill>
                  <a:schemeClr val="dk2"/>
                </a:solidFill>
                <a:latin typeface="Montserrat"/>
                <a:ea typeface="Montserrat"/>
                <a:cs typeface="Montserrat"/>
                <a:sym typeface="Montserrat"/>
              </a:rPr>
              <a:t>Alkaloids</a:t>
            </a:r>
            <a:endParaRPr b="1" i="1" sz="9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9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rPr lang="en" sz="900">
                <a:solidFill>
                  <a:schemeClr val="dk2"/>
                </a:solidFill>
                <a:latin typeface="Montserrat"/>
                <a:ea typeface="Montserrat"/>
                <a:cs typeface="Montserrat"/>
                <a:sym typeface="Montserrat"/>
              </a:rPr>
              <a:t>Superclass: </a:t>
            </a:r>
            <a:r>
              <a:rPr b="1" i="1" lang="en" sz="900">
                <a:solidFill>
                  <a:schemeClr val="dk2"/>
                </a:solidFill>
                <a:latin typeface="Montserrat"/>
                <a:ea typeface="Montserrat"/>
                <a:cs typeface="Montserrat"/>
                <a:sym typeface="Montserrat"/>
              </a:rPr>
              <a:t>Pseudoalkaloids </a:t>
            </a:r>
            <a:endParaRPr b="1" i="1" sz="9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9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rPr lang="en" sz="900">
                <a:solidFill>
                  <a:schemeClr val="dk2"/>
                </a:solidFill>
                <a:latin typeface="Montserrat"/>
                <a:ea typeface="Montserrat"/>
                <a:cs typeface="Montserrat"/>
                <a:sym typeface="Montserrat"/>
              </a:rPr>
              <a:t>Number of aromatic rings: </a:t>
            </a:r>
            <a:r>
              <a:rPr b="1" i="1" lang="en" sz="900">
                <a:solidFill>
                  <a:schemeClr val="dk2"/>
                </a:solidFill>
                <a:latin typeface="Montserrat"/>
                <a:ea typeface="Montserrat"/>
                <a:cs typeface="Montserrat"/>
                <a:sym typeface="Montserrat"/>
              </a:rPr>
              <a:t>2</a:t>
            </a:r>
            <a:endParaRPr b="1" i="1" sz="9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9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rPr lang="en" sz="900">
                <a:solidFill>
                  <a:schemeClr val="dk2"/>
                </a:solidFill>
                <a:latin typeface="Montserrat"/>
                <a:ea typeface="Montserrat"/>
                <a:cs typeface="Montserrat"/>
                <a:sym typeface="Montserrat"/>
              </a:rPr>
              <a:t>Glycoside: </a:t>
            </a:r>
            <a:r>
              <a:rPr b="1" i="1" lang="en" sz="900">
                <a:solidFill>
                  <a:schemeClr val="dk2"/>
                </a:solidFill>
                <a:latin typeface="Montserrat"/>
                <a:ea typeface="Montserrat"/>
                <a:cs typeface="Montserrat"/>
                <a:sym typeface="Montserrat"/>
              </a:rPr>
              <a:t>False</a:t>
            </a:r>
            <a:endParaRPr b="1" i="1" sz="9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9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rPr lang="en" sz="900">
                <a:solidFill>
                  <a:schemeClr val="dk2"/>
                </a:solidFill>
                <a:latin typeface="Montserrat"/>
                <a:ea typeface="Montserrat"/>
                <a:cs typeface="Montserrat"/>
                <a:sym typeface="Montserrat"/>
              </a:rPr>
              <a:t>QED drug-likeness: </a:t>
            </a:r>
            <a:r>
              <a:rPr b="1" lang="en" sz="900">
                <a:solidFill>
                  <a:schemeClr val="dk2"/>
                </a:solidFill>
                <a:latin typeface="Montserrat"/>
                <a:ea typeface="Montserrat"/>
                <a:cs typeface="Montserrat"/>
                <a:sym typeface="Montserrat"/>
              </a:rPr>
              <a:t>0.54</a:t>
            </a:r>
            <a:endParaRPr b="1" sz="9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9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rPr lang="en" sz="900">
                <a:solidFill>
                  <a:schemeClr val="dk2"/>
                </a:solidFill>
                <a:latin typeface="Montserrat"/>
                <a:ea typeface="Montserrat"/>
                <a:cs typeface="Montserrat"/>
                <a:sym typeface="Montserrat"/>
              </a:rPr>
              <a:t>Synthetic accessibility: </a:t>
            </a:r>
            <a:r>
              <a:rPr b="1" lang="en" sz="900">
                <a:solidFill>
                  <a:schemeClr val="dk2"/>
                </a:solidFill>
                <a:latin typeface="Montserrat"/>
                <a:ea typeface="Montserrat"/>
                <a:cs typeface="Montserrat"/>
                <a:sym typeface="Montserrat"/>
              </a:rPr>
              <a:t>2.3</a:t>
            </a:r>
            <a:endParaRPr b="1" sz="9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900">
                <a:solidFill>
                  <a:schemeClr val="dk2"/>
                </a:solidFill>
                <a:latin typeface="Montserrat"/>
                <a:ea typeface="Montserrat"/>
                <a:cs typeface="Montserrat"/>
                <a:sym typeface="Montserrat"/>
              </a:rPr>
              <a:t> </a:t>
            </a:r>
            <a:endParaRPr sz="900">
              <a:solidFill>
                <a:schemeClr val="dk2"/>
              </a:solidFill>
              <a:latin typeface="Montserrat"/>
              <a:ea typeface="Montserrat"/>
              <a:cs typeface="Montserrat"/>
              <a:sym typeface="Montserrat"/>
            </a:endParaRPr>
          </a:p>
        </p:txBody>
      </p:sp>
      <p:sp>
        <p:nvSpPr>
          <p:cNvPr id="305" name="Google Shape;305;p28"/>
          <p:cNvSpPr txBox="1"/>
          <p:nvPr/>
        </p:nvSpPr>
        <p:spPr>
          <a:xfrm>
            <a:off x="4733875" y="2412375"/>
            <a:ext cx="1924500" cy="21240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i="1" lang="en" sz="900">
                <a:solidFill>
                  <a:schemeClr val="dk2"/>
                </a:solidFill>
                <a:latin typeface="Montserrat"/>
                <a:ea typeface="Montserrat"/>
                <a:cs typeface="Montserrat"/>
                <a:sym typeface="Montserrat"/>
              </a:rPr>
              <a:t>&lt;pathway:Alkaloids&gt;</a:t>
            </a:r>
            <a:endParaRPr i="1" sz="900">
              <a:solidFill>
                <a:schemeClr val="dk2"/>
              </a:solidFill>
              <a:latin typeface="Montserrat"/>
              <a:ea typeface="Montserrat"/>
              <a:cs typeface="Montserrat"/>
              <a:sym typeface="Montserrat"/>
            </a:endParaRPr>
          </a:p>
          <a:p>
            <a:pPr indent="0" lvl="0" marL="0" rtl="0" algn="l">
              <a:lnSpc>
                <a:spcPct val="200000"/>
              </a:lnSpc>
              <a:spcBef>
                <a:spcPts val="0"/>
              </a:spcBef>
              <a:spcAft>
                <a:spcPts val="0"/>
              </a:spcAft>
              <a:buNone/>
            </a:pPr>
            <a:r>
              <a:rPr i="1" lang="en" sz="900">
                <a:solidFill>
                  <a:schemeClr val="dk2"/>
                </a:solidFill>
                <a:latin typeface="Montserrat"/>
                <a:ea typeface="Montserrat"/>
                <a:cs typeface="Montserrat"/>
                <a:sym typeface="Montserrat"/>
              </a:rPr>
              <a:t>&lt;superclass:Pseudoalkaloids&gt;</a:t>
            </a:r>
            <a:endParaRPr i="1" sz="900">
              <a:solidFill>
                <a:schemeClr val="dk2"/>
              </a:solidFill>
              <a:latin typeface="Montserrat"/>
              <a:ea typeface="Montserrat"/>
              <a:cs typeface="Montserrat"/>
              <a:sym typeface="Montserrat"/>
            </a:endParaRPr>
          </a:p>
          <a:p>
            <a:pPr indent="0" lvl="0" marL="0" rtl="0" algn="l">
              <a:lnSpc>
                <a:spcPct val="200000"/>
              </a:lnSpc>
              <a:spcBef>
                <a:spcPts val="0"/>
              </a:spcBef>
              <a:spcAft>
                <a:spcPts val="0"/>
              </a:spcAft>
              <a:buNone/>
            </a:pPr>
            <a:r>
              <a:rPr i="1" lang="en" sz="900">
                <a:solidFill>
                  <a:schemeClr val="dk2"/>
                </a:solidFill>
                <a:latin typeface="Montserrat"/>
                <a:ea typeface="Montserrat"/>
                <a:cs typeface="Montserrat"/>
                <a:sym typeface="Montserrat"/>
              </a:rPr>
              <a:t>&lt;num_aromatic_rings:2&gt;</a:t>
            </a:r>
            <a:endParaRPr i="1" sz="900">
              <a:solidFill>
                <a:schemeClr val="dk2"/>
              </a:solidFill>
              <a:latin typeface="Montserrat"/>
              <a:ea typeface="Montserrat"/>
              <a:cs typeface="Montserrat"/>
              <a:sym typeface="Montserrat"/>
            </a:endParaRPr>
          </a:p>
          <a:p>
            <a:pPr indent="0" lvl="0" marL="0" rtl="0" algn="l">
              <a:lnSpc>
                <a:spcPct val="200000"/>
              </a:lnSpc>
              <a:spcBef>
                <a:spcPts val="0"/>
              </a:spcBef>
              <a:spcAft>
                <a:spcPts val="0"/>
              </a:spcAft>
              <a:buNone/>
            </a:pPr>
            <a:r>
              <a:rPr i="1" lang="en" sz="900">
                <a:solidFill>
                  <a:schemeClr val="dk2"/>
                </a:solidFill>
                <a:latin typeface="Montserrat"/>
                <a:ea typeface="Montserrat"/>
                <a:cs typeface="Montserrat"/>
                <a:sym typeface="Montserrat"/>
              </a:rPr>
              <a:t>&lt;contains_glycoside:False&gt;</a:t>
            </a:r>
            <a:endParaRPr i="1" sz="900">
              <a:solidFill>
                <a:schemeClr val="dk2"/>
              </a:solidFill>
              <a:latin typeface="Montserrat"/>
              <a:ea typeface="Montserrat"/>
              <a:cs typeface="Montserrat"/>
              <a:sym typeface="Montserrat"/>
            </a:endParaRPr>
          </a:p>
          <a:p>
            <a:pPr indent="0" lvl="0" marL="0" rtl="0" algn="l">
              <a:lnSpc>
                <a:spcPct val="200000"/>
              </a:lnSpc>
              <a:spcBef>
                <a:spcPts val="0"/>
              </a:spcBef>
              <a:spcAft>
                <a:spcPts val="0"/>
              </a:spcAft>
              <a:buNone/>
            </a:pPr>
            <a:r>
              <a:rPr i="1" lang="en" sz="900">
                <a:solidFill>
                  <a:schemeClr val="dk2"/>
                </a:solidFill>
                <a:latin typeface="Montserrat"/>
                <a:ea typeface="Montserrat"/>
                <a:cs typeface="Montserrat"/>
                <a:sym typeface="Montserrat"/>
              </a:rPr>
              <a:t>&lt;qed:0.54&gt;&lt;SA:2.3&gt;</a:t>
            </a:r>
            <a:r>
              <a:rPr b="1" lang="en" sz="900">
                <a:solidFill>
                  <a:schemeClr val="dk2"/>
                </a:solidFill>
                <a:latin typeface="Montserrat"/>
                <a:ea typeface="Montserrat"/>
                <a:cs typeface="Montserrat"/>
                <a:sym typeface="Montserrat"/>
              </a:rPr>
              <a:t>CN1C(=O)C2=C(N=CN2C)N(C)C1=O</a:t>
            </a:r>
            <a:endParaRPr b="1" sz="9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9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900">
                <a:solidFill>
                  <a:schemeClr val="dk2"/>
                </a:solidFill>
                <a:latin typeface="Montserrat"/>
                <a:ea typeface="Montserrat"/>
                <a:cs typeface="Montserrat"/>
                <a:sym typeface="Montserrat"/>
              </a:rPr>
              <a:t> </a:t>
            </a:r>
            <a:endParaRPr sz="900">
              <a:solidFill>
                <a:schemeClr val="dk2"/>
              </a:solidFill>
              <a:latin typeface="Montserrat"/>
              <a:ea typeface="Montserrat"/>
              <a:cs typeface="Montserrat"/>
              <a:sym typeface="Montserrat"/>
            </a:endParaRPr>
          </a:p>
        </p:txBody>
      </p:sp>
      <p:sp>
        <p:nvSpPr>
          <p:cNvPr id="306" name="Google Shape;306;p28"/>
          <p:cNvSpPr/>
          <p:nvPr/>
        </p:nvSpPr>
        <p:spPr>
          <a:xfrm rot="-5400000">
            <a:off x="2147875" y="3104625"/>
            <a:ext cx="340500" cy="234300"/>
          </a:xfrm>
          <a:prstGeom prst="downArrow">
            <a:avLst>
              <a:gd fmla="val 50000" name="adj1"/>
              <a:gd fmla="val 50000" name="adj2"/>
            </a:avLst>
          </a:prstGeom>
          <a:solidFill>
            <a:srgbClr val="EEEEEE"/>
          </a:solidFill>
          <a:ln cap="flat" cmpd="sng" w="8550">
            <a:solidFill>
              <a:srgbClr val="595959"/>
            </a:solidFill>
            <a:prstDash val="solid"/>
            <a:round/>
            <a:headEnd len="sm" w="sm" type="none"/>
            <a:tailEnd len="sm" w="sm" type="none"/>
          </a:ln>
        </p:spPr>
        <p:txBody>
          <a:bodyPr anchorCtr="0" anchor="ctr" bIns="82025" lIns="82025" spcFirstLastPara="1" rIns="82025" wrap="square" tIns="82025">
            <a:noAutofit/>
          </a:bodyPr>
          <a:lstStyle/>
          <a:p>
            <a:pPr indent="0" lvl="0" marL="0" rtl="0" algn="ctr">
              <a:spcBef>
                <a:spcPts val="0"/>
              </a:spcBef>
              <a:spcAft>
                <a:spcPts val="0"/>
              </a:spcAft>
              <a:buNone/>
            </a:pPr>
            <a:r>
              <a:t/>
            </a:r>
            <a:endParaRPr sz="1256"/>
          </a:p>
        </p:txBody>
      </p:sp>
      <p:sp>
        <p:nvSpPr>
          <p:cNvPr id="307" name="Google Shape;307;p28"/>
          <p:cNvSpPr/>
          <p:nvPr/>
        </p:nvSpPr>
        <p:spPr>
          <a:xfrm rot="-5400000">
            <a:off x="4399887" y="3104625"/>
            <a:ext cx="340500" cy="234300"/>
          </a:xfrm>
          <a:prstGeom prst="downArrow">
            <a:avLst>
              <a:gd fmla="val 50000" name="adj1"/>
              <a:gd fmla="val 50000" name="adj2"/>
            </a:avLst>
          </a:prstGeom>
          <a:solidFill>
            <a:srgbClr val="EEEEEE"/>
          </a:solidFill>
          <a:ln cap="flat" cmpd="sng" w="8550">
            <a:solidFill>
              <a:srgbClr val="595959"/>
            </a:solidFill>
            <a:prstDash val="solid"/>
            <a:round/>
            <a:headEnd len="sm" w="sm" type="none"/>
            <a:tailEnd len="sm" w="sm" type="none"/>
          </a:ln>
        </p:spPr>
        <p:txBody>
          <a:bodyPr anchorCtr="0" anchor="ctr" bIns="82025" lIns="82025" spcFirstLastPara="1" rIns="82025" wrap="square" tIns="82025">
            <a:noAutofit/>
          </a:bodyPr>
          <a:lstStyle/>
          <a:p>
            <a:pPr indent="0" lvl="0" marL="0" rtl="0" algn="ctr">
              <a:spcBef>
                <a:spcPts val="0"/>
              </a:spcBef>
              <a:spcAft>
                <a:spcPts val="0"/>
              </a:spcAft>
              <a:buNone/>
            </a:pPr>
            <a:r>
              <a:t/>
            </a:r>
            <a:endParaRPr sz="1256"/>
          </a:p>
        </p:txBody>
      </p:sp>
      <p:sp>
        <p:nvSpPr>
          <p:cNvPr id="308" name="Google Shape;308;p28"/>
          <p:cNvSpPr/>
          <p:nvPr/>
        </p:nvSpPr>
        <p:spPr>
          <a:xfrm rot="-5400000">
            <a:off x="6651887" y="3104625"/>
            <a:ext cx="340500" cy="234300"/>
          </a:xfrm>
          <a:prstGeom prst="downArrow">
            <a:avLst>
              <a:gd fmla="val 50000" name="adj1"/>
              <a:gd fmla="val 50000" name="adj2"/>
            </a:avLst>
          </a:prstGeom>
          <a:solidFill>
            <a:srgbClr val="EEEEEE"/>
          </a:solidFill>
          <a:ln cap="flat" cmpd="sng" w="8550">
            <a:solidFill>
              <a:srgbClr val="595959"/>
            </a:solidFill>
            <a:prstDash val="solid"/>
            <a:round/>
            <a:headEnd len="sm" w="sm" type="none"/>
            <a:tailEnd len="sm" w="sm" type="none"/>
          </a:ln>
        </p:spPr>
        <p:txBody>
          <a:bodyPr anchorCtr="0" anchor="ctr" bIns="82025" lIns="82025" spcFirstLastPara="1" rIns="82025" wrap="square" tIns="82025">
            <a:noAutofit/>
          </a:bodyPr>
          <a:lstStyle/>
          <a:p>
            <a:pPr indent="0" lvl="0" marL="0" rtl="0" algn="ctr">
              <a:spcBef>
                <a:spcPts val="0"/>
              </a:spcBef>
              <a:spcAft>
                <a:spcPts val="0"/>
              </a:spcAft>
              <a:buNone/>
            </a:pPr>
            <a:r>
              <a:t/>
            </a:r>
            <a:endParaRPr sz="1256"/>
          </a:p>
        </p:txBody>
      </p:sp>
      <p:cxnSp>
        <p:nvCxnSpPr>
          <p:cNvPr id="309" name="Google Shape;309;p28"/>
          <p:cNvCxnSpPr/>
          <p:nvPr/>
        </p:nvCxnSpPr>
        <p:spPr>
          <a:xfrm>
            <a:off x="7876400" y="2638850"/>
            <a:ext cx="0" cy="190800"/>
          </a:xfrm>
          <a:prstGeom prst="straightConnector1">
            <a:avLst/>
          </a:prstGeom>
          <a:noFill/>
          <a:ln cap="flat" cmpd="sng" w="9525">
            <a:solidFill>
              <a:schemeClr val="dk2"/>
            </a:solidFill>
            <a:prstDash val="solid"/>
            <a:round/>
            <a:headEnd len="med" w="med" type="none"/>
            <a:tailEnd len="med" w="med" type="triangle"/>
          </a:ln>
        </p:spPr>
      </p:cxnSp>
      <p:cxnSp>
        <p:nvCxnSpPr>
          <p:cNvPr id="310" name="Google Shape;310;p28"/>
          <p:cNvCxnSpPr/>
          <p:nvPr/>
        </p:nvCxnSpPr>
        <p:spPr>
          <a:xfrm>
            <a:off x="7876400" y="3201225"/>
            <a:ext cx="0" cy="190800"/>
          </a:xfrm>
          <a:prstGeom prst="straightConnector1">
            <a:avLst/>
          </a:prstGeom>
          <a:noFill/>
          <a:ln cap="flat" cmpd="sng" w="9525">
            <a:solidFill>
              <a:schemeClr val="dk2"/>
            </a:solidFill>
            <a:prstDash val="solid"/>
            <a:round/>
            <a:headEnd len="med" w="med" type="none"/>
            <a:tailEnd len="med" w="med" type="triangle"/>
          </a:ln>
        </p:spPr>
      </p:cxnSp>
      <p:cxnSp>
        <p:nvCxnSpPr>
          <p:cNvPr id="311" name="Google Shape;311;p28"/>
          <p:cNvCxnSpPr/>
          <p:nvPr/>
        </p:nvCxnSpPr>
        <p:spPr>
          <a:xfrm>
            <a:off x="7876400" y="3752625"/>
            <a:ext cx="0" cy="190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9"/>
          <p:cNvSpPr txBox="1"/>
          <p:nvPr>
            <p:ph type="ctrTitle"/>
          </p:nvPr>
        </p:nvSpPr>
        <p:spPr>
          <a:xfrm>
            <a:off x="0" y="1039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1990">
                <a:latin typeface="Montserrat"/>
                <a:ea typeface="Montserrat"/>
                <a:cs typeface="Montserrat"/>
                <a:sym typeface="Montserrat"/>
              </a:rPr>
              <a:t>Evaluating conditional NP generation (pathway classes)</a:t>
            </a:r>
            <a:endParaRPr b="1" sz="1990">
              <a:latin typeface="Montserrat"/>
              <a:ea typeface="Montserrat"/>
              <a:cs typeface="Montserrat"/>
              <a:sym typeface="Montserrat"/>
            </a:endParaRPr>
          </a:p>
        </p:txBody>
      </p:sp>
      <p:pic>
        <p:nvPicPr>
          <p:cNvPr id="317" name="Google Shape;317;p29" title="Screenshot 2026-03-16 at 12.01.27 PM.png"/>
          <p:cNvPicPr preferRelativeResize="0"/>
          <p:nvPr/>
        </p:nvPicPr>
        <p:blipFill rotWithShape="1">
          <a:blip r:embed="rId3">
            <a:alphaModFix/>
          </a:blip>
          <a:srcRect b="93991" l="2487" r="0" t="0"/>
          <a:stretch/>
        </p:blipFill>
        <p:spPr>
          <a:xfrm>
            <a:off x="337150" y="1301900"/>
            <a:ext cx="8511124" cy="233026"/>
          </a:xfrm>
          <a:prstGeom prst="rect">
            <a:avLst/>
          </a:prstGeom>
          <a:noFill/>
          <a:ln>
            <a:noFill/>
          </a:ln>
        </p:spPr>
      </p:pic>
      <p:sp>
        <p:nvSpPr>
          <p:cNvPr id="318" name="Google Shape;318;p29"/>
          <p:cNvSpPr txBox="1"/>
          <p:nvPr/>
        </p:nvSpPr>
        <p:spPr>
          <a:xfrm>
            <a:off x="0" y="704900"/>
            <a:ext cx="9144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latin typeface="Montserrat"/>
                <a:ea typeface="Montserrat"/>
                <a:cs typeface="Montserrat"/>
                <a:sym typeface="Montserrat"/>
              </a:rPr>
              <a:t>NPComposer </a:t>
            </a:r>
            <a:r>
              <a:rPr lang="en" sz="1200">
                <a:solidFill>
                  <a:schemeClr val="dk2"/>
                </a:solidFill>
                <a:latin typeface="Montserrat"/>
                <a:ea typeface="Montserrat"/>
                <a:cs typeface="Montserrat"/>
                <a:sym typeface="Montserrat"/>
              </a:rPr>
              <a:t>enables controllable natural product generation through user prompts. </a:t>
            </a:r>
            <a:endParaRPr sz="1200">
              <a:solidFill>
                <a:schemeClr val="dk2"/>
              </a:solidFill>
              <a:latin typeface="Montserrat"/>
              <a:ea typeface="Montserrat"/>
              <a:cs typeface="Montserrat"/>
              <a:sym typeface="Montserrat"/>
            </a:endParaRPr>
          </a:p>
        </p:txBody>
      </p:sp>
      <p:pic>
        <p:nvPicPr>
          <p:cNvPr id="319" name="Google Shape;319;p29" title="Screenshot 2026-03-16 at 12.01.27 PM.png"/>
          <p:cNvPicPr preferRelativeResize="0"/>
          <p:nvPr/>
        </p:nvPicPr>
        <p:blipFill rotWithShape="1">
          <a:blip r:embed="rId3">
            <a:alphaModFix/>
          </a:blip>
          <a:srcRect b="0" l="0" r="0" t="11855"/>
          <a:stretch/>
        </p:blipFill>
        <p:spPr>
          <a:xfrm>
            <a:off x="207813" y="1534925"/>
            <a:ext cx="8728376" cy="34185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0"/>
          <p:cNvSpPr/>
          <p:nvPr/>
        </p:nvSpPr>
        <p:spPr>
          <a:xfrm>
            <a:off x="367638" y="1247675"/>
            <a:ext cx="8343000" cy="3573900"/>
          </a:xfrm>
          <a:prstGeom prst="roundRect">
            <a:avLst>
              <a:gd fmla="val 4974"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5" name="Google Shape;325;p30"/>
          <p:cNvSpPr txBox="1"/>
          <p:nvPr>
            <p:ph type="ctrTitle"/>
          </p:nvPr>
        </p:nvSpPr>
        <p:spPr>
          <a:xfrm>
            <a:off x="0" y="103975"/>
            <a:ext cx="91440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1890">
                <a:latin typeface="Montserrat"/>
                <a:ea typeface="Montserrat"/>
                <a:cs typeface="Montserrat"/>
                <a:sym typeface="Montserrat"/>
              </a:rPr>
              <a:t>NPComposer can satisfy complex user prompts</a:t>
            </a:r>
            <a:endParaRPr b="1" sz="1890">
              <a:latin typeface="Montserrat"/>
              <a:ea typeface="Montserrat"/>
              <a:cs typeface="Montserrat"/>
              <a:sym typeface="Montserrat"/>
            </a:endParaRPr>
          </a:p>
        </p:txBody>
      </p:sp>
      <p:sp>
        <p:nvSpPr>
          <p:cNvPr id="326" name="Google Shape;326;p30"/>
          <p:cNvSpPr txBox="1"/>
          <p:nvPr/>
        </p:nvSpPr>
        <p:spPr>
          <a:xfrm>
            <a:off x="286163" y="667525"/>
            <a:ext cx="8650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2"/>
              </a:solidFill>
              <a:latin typeface="Montserrat"/>
              <a:ea typeface="Montserrat"/>
              <a:cs typeface="Montserrat"/>
              <a:sym typeface="Montserrat"/>
            </a:endParaRPr>
          </a:p>
        </p:txBody>
      </p:sp>
      <p:sp>
        <p:nvSpPr>
          <p:cNvPr id="327" name="Google Shape;327;p30"/>
          <p:cNvSpPr txBox="1"/>
          <p:nvPr/>
        </p:nvSpPr>
        <p:spPr>
          <a:xfrm>
            <a:off x="476663" y="623425"/>
            <a:ext cx="846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2"/>
              </a:solidFill>
              <a:latin typeface="Montserrat"/>
              <a:ea typeface="Montserrat"/>
              <a:cs typeface="Montserrat"/>
              <a:sym typeface="Montserrat"/>
            </a:endParaRPr>
          </a:p>
        </p:txBody>
      </p:sp>
      <p:pic>
        <p:nvPicPr>
          <p:cNvPr id="328" name="Google Shape;328;p30" title="Screenshot 2026-03-15 at 3.28.10 PM.png"/>
          <p:cNvPicPr preferRelativeResize="0"/>
          <p:nvPr/>
        </p:nvPicPr>
        <p:blipFill rotWithShape="1">
          <a:blip r:embed="rId3">
            <a:alphaModFix/>
          </a:blip>
          <a:srcRect b="20321" l="2280" r="11357" t="28596"/>
          <a:stretch/>
        </p:blipFill>
        <p:spPr>
          <a:xfrm>
            <a:off x="476663" y="1544620"/>
            <a:ext cx="2481750" cy="1161456"/>
          </a:xfrm>
          <a:prstGeom prst="rect">
            <a:avLst/>
          </a:prstGeom>
          <a:noFill/>
          <a:ln>
            <a:noFill/>
          </a:ln>
        </p:spPr>
      </p:pic>
      <p:pic>
        <p:nvPicPr>
          <p:cNvPr id="329" name="Google Shape;329;p30" title="Screenshot 2026-03-15 at 3.28.54 PM.png"/>
          <p:cNvPicPr preferRelativeResize="0"/>
          <p:nvPr/>
        </p:nvPicPr>
        <p:blipFill rotWithShape="1">
          <a:blip r:embed="rId4">
            <a:alphaModFix/>
          </a:blip>
          <a:srcRect b="16547" l="4613" r="9953" t="21618"/>
          <a:stretch/>
        </p:blipFill>
        <p:spPr>
          <a:xfrm>
            <a:off x="3438088" y="1394934"/>
            <a:ext cx="2202124" cy="1280942"/>
          </a:xfrm>
          <a:prstGeom prst="rect">
            <a:avLst/>
          </a:prstGeom>
          <a:noFill/>
          <a:ln>
            <a:noFill/>
          </a:ln>
        </p:spPr>
      </p:pic>
      <p:pic>
        <p:nvPicPr>
          <p:cNvPr id="330" name="Google Shape;330;p30" title="Screenshot 2026-03-15 at 3.32.46 PM.png"/>
          <p:cNvPicPr preferRelativeResize="0"/>
          <p:nvPr/>
        </p:nvPicPr>
        <p:blipFill rotWithShape="1">
          <a:blip r:embed="rId5">
            <a:alphaModFix/>
          </a:blip>
          <a:srcRect b="6108" l="4045" r="11152" t="23760"/>
          <a:stretch/>
        </p:blipFill>
        <p:spPr>
          <a:xfrm>
            <a:off x="6164263" y="1310375"/>
            <a:ext cx="2051399" cy="1339025"/>
          </a:xfrm>
          <a:prstGeom prst="rect">
            <a:avLst/>
          </a:prstGeom>
          <a:noFill/>
          <a:ln>
            <a:noFill/>
          </a:ln>
        </p:spPr>
      </p:pic>
      <p:pic>
        <p:nvPicPr>
          <p:cNvPr id="331" name="Google Shape;331;p30" title="Screenshot 2026-03-15 at 3.33.47 PM.png"/>
          <p:cNvPicPr preferRelativeResize="0"/>
          <p:nvPr/>
        </p:nvPicPr>
        <p:blipFill rotWithShape="1">
          <a:blip r:embed="rId6">
            <a:alphaModFix/>
          </a:blip>
          <a:srcRect b="19828" l="2626" r="16066" t="30714"/>
          <a:stretch/>
        </p:blipFill>
        <p:spPr>
          <a:xfrm>
            <a:off x="3206013" y="3095773"/>
            <a:ext cx="2481744" cy="1074376"/>
          </a:xfrm>
          <a:prstGeom prst="rect">
            <a:avLst/>
          </a:prstGeom>
          <a:noFill/>
          <a:ln>
            <a:noFill/>
          </a:ln>
        </p:spPr>
      </p:pic>
      <p:pic>
        <p:nvPicPr>
          <p:cNvPr id="332" name="Google Shape;332;p30" title="Screenshot 2026-03-15 at 3.34.16 PM.png"/>
          <p:cNvPicPr preferRelativeResize="0"/>
          <p:nvPr/>
        </p:nvPicPr>
        <p:blipFill rotWithShape="1">
          <a:blip r:embed="rId7">
            <a:alphaModFix/>
          </a:blip>
          <a:srcRect b="17203" l="3060" r="13328" t="25299"/>
          <a:stretch/>
        </p:blipFill>
        <p:spPr>
          <a:xfrm>
            <a:off x="714487" y="3201961"/>
            <a:ext cx="2202125" cy="1153315"/>
          </a:xfrm>
          <a:prstGeom prst="rect">
            <a:avLst/>
          </a:prstGeom>
          <a:noFill/>
          <a:ln>
            <a:noFill/>
          </a:ln>
        </p:spPr>
      </p:pic>
      <p:pic>
        <p:nvPicPr>
          <p:cNvPr id="333" name="Google Shape;333;p30" title="Screenshot 2026-03-15 at 3.36.53 PM.png"/>
          <p:cNvPicPr preferRelativeResize="0"/>
          <p:nvPr/>
        </p:nvPicPr>
        <p:blipFill rotWithShape="1">
          <a:blip r:embed="rId8">
            <a:alphaModFix/>
          </a:blip>
          <a:srcRect b="17654" l="3197" r="6502" t="29154"/>
          <a:stretch/>
        </p:blipFill>
        <p:spPr>
          <a:xfrm>
            <a:off x="6042088" y="3217624"/>
            <a:ext cx="2295738" cy="1074374"/>
          </a:xfrm>
          <a:prstGeom prst="rect">
            <a:avLst/>
          </a:prstGeom>
          <a:noFill/>
          <a:ln>
            <a:noFill/>
          </a:ln>
        </p:spPr>
      </p:pic>
      <p:sp>
        <p:nvSpPr>
          <p:cNvPr id="334" name="Google Shape;334;p30"/>
          <p:cNvSpPr txBox="1"/>
          <p:nvPr/>
        </p:nvSpPr>
        <p:spPr>
          <a:xfrm>
            <a:off x="-12" y="772125"/>
            <a:ext cx="9144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2"/>
                </a:solidFill>
                <a:latin typeface="Montserrat"/>
                <a:ea typeface="Montserrat"/>
                <a:cs typeface="Montserrat"/>
                <a:sym typeface="Montserrat"/>
              </a:rPr>
              <a:t>Prompt:</a:t>
            </a:r>
            <a:r>
              <a:rPr lang="en" sz="1100">
                <a:solidFill>
                  <a:schemeClr val="dk2"/>
                </a:solidFill>
                <a:latin typeface="Montserrat"/>
                <a:ea typeface="Montserrat"/>
                <a:cs typeface="Montserrat"/>
                <a:sym typeface="Montserrat"/>
              </a:rPr>
              <a:t> </a:t>
            </a:r>
            <a:r>
              <a:rPr i="1" lang="en" sz="1100">
                <a:solidFill>
                  <a:schemeClr val="dk2"/>
                </a:solidFill>
                <a:latin typeface="Montserrat"/>
                <a:ea typeface="Montserrat"/>
                <a:cs typeface="Montserrat"/>
                <a:sym typeface="Montserrat"/>
              </a:rPr>
              <a:t>&lt;np_superclass: beta-lactams&gt; &lt;num_aromatic_rings: 1&gt; &lt;contains_glycoside: False&gt; &lt;qed: 0.6-0.7&gt; &lt;SA: 3-4&gt;</a:t>
            </a:r>
            <a:endParaRPr i="1" sz="1100">
              <a:solidFill>
                <a:schemeClr val="dk2"/>
              </a:solidFill>
              <a:latin typeface="Montserrat"/>
              <a:ea typeface="Montserrat"/>
              <a:cs typeface="Montserrat"/>
              <a:sym typeface="Montserrat"/>
            </a:endParaRPr>
          </a:p>
        </p:txBody>
      </p:sp>
      <p:sp>
        <p:nvSpPr>
          <p:cNvPr id="335" name="Google Shape;335;p30"/>
          <p:cNvSpPr txBox="1"/>
          <p:nvPr/>
        </p:nvSpPr>
        <p:spPr>
          <a:xfrm>
            <a:off x="823388" y="2600625"/>
            <a:ext cx="4995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Montserrat"/>
                <a:ea typeface="Montserrat"/>
                <a:cs typeface="Montserrat"/>
                <a:sym typeface="Montserrat"/>
              </a:rPr>
              <a:t>QED: 0.70</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SA score: 3.6</a:t>
            </a:r>
            <a:endParaRPr sz="800">
              <a:solidFill>
                <a:schemeClr val="dk2"/>
              </a:solidFill>
              <a:latin typeface="Montserrat"/>
              <a:ea typeface="Montserrat"/>
              <a:cs typeface="Montserrat"/>
              <a:sym typeface="Montserrat"/>
            </a:endParaRPr>
          </a:p>
        </p:txBody>
      </p:sp>
      <p:sp>
        <p:nvSpPr>
          <p:cNvPr id="336" name="Google Shape;336;p30"/>
          <p:cNvSpPr txBox="1"/>
          <p:nvPr/>
        </p:nvSpPr>
        <p:spPr>
          <a:xfrm>
            <a:off x="3504813" y="2600613"/>
            <a:ext cx="4995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Montserrat"/>
                <a:ea typeface="Montserrat"/>
                <a:cs typeface="Montserrat"/>
                <a:sym typeface="Montserrat"/>
              </a:rPr>
              <a:t>QED: 0.64</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SA score: 4.0</a:t>
            </a:r>
            <a:endParaRPr sz="800">
              <a:solidFill>
                <a:schemeClr val="dk2"/>
              </a:solidFill>
              <a:latin typeface="Montserrat"/>
              <a:ea typeface="Montserrat"/>
              <a:cs typeface="Montserrat"/>
              <a:sym typeface="Montserrat"/>
            </a:endParaRPr>
          </a:p>
        </p:txBody>
      </p:sp>
      <p:sp>
        <p:nvSpPr>
          <p:cNvPr id="337" name="Google Shape;337;p30"/>
          <p:cNvSpPr txBox="1"/>
          <p:nvPr/>
        </p:nvSpPr>
        <p:spPr>
          <a:xfrm>
            <a:off x="6229613" y="2600625"/>
            <a:ext cx="1378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Montserrat"/>
                <a:ea typeface="Montserrat"/>
                <a:cs typeface="Montserrat"/>
                <a:sym typeface="Montserrat"/>
              </a:rPr>
              <a:t>QED: 0.60</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SA score: 3.8</a:t>
            </a:r>
            <a:endParaRPr sz="800">
              <a:solidFill>
                <a:schemeClr val="dk2"/>
              </a:solidFill>
              <a:latin typeface="Montserrat"/>
              <a:ea typeface="Montserrat"/>
              <a:cs typeface="Montserrat"/>
              <a:sym typeface="Montserrat"/>
            </a:endParaRPr>
          </a:p>
        </p:txBody>
      </p:sp>
      <p:sp>
        <p:nvSpPr>
          <p:cNvPr id="338" name="Google Shape;338;p30"/>
          <p:cNvSpPr txBox="1"/>
          <p:nvPr/>
        </p:nvSpPr>
        <p:spPr>
          <a:xfrm>
            <a:off x="865213" y="4287375"/>
            <a:ext cx="872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Montserrat"/>
                <a:ea typeface="Montserrat"/>
                <a:cs typeface="Montserrat"/>
                <a:sym typeface="Montserrat"/>
              </a:rPr>
              <a:t>QED: 0.65</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SA score: 3.9</a:t>
            </a:r>
            <a:endParaRPr sz="800">
              <a:solidFill>
                <a:schemeClr val="dk2"/>
              </a:solidFill>
              <a:latin typeface="Montserrat"/>
              <a:ea typeface="Montserrat"/>
              <a:cs typeface="Montserrat"/>
              <a:sym typeface="Montserrat"/>
            </a:endParaRPr>
          </a:p>
        </p:txBody>
      </p:sp>
      <p:sp>
        <p:nvSpPr>
          <p:cNvPr id="339" name="Google Shape;339;p30"/>
          <p:cNvSpPr txBox="1"/>
          <p:nvPr/>
        </p:nvSpPr>
        <p:spPr>
          <a:xfrm>
            <a:off x="3438088" y="4287375"/>
            <a:ext cx="872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Montserrat"/>
                <a:ea typeface="Montserrat"/>
                <a:cs typeface="Montserrat"/>
                <a:sym typeface="Montserrat"/>
              </a:rPr>
              <a:t>QED: 0.70</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SA score: 3.5</a:t>
            </a:r>
            <a:endParaRPr sz="800">
              <a:solidFill>
                <a:schemeClr val="dk2"/>
              </a:solidFill>
              <a:latin typeface="Montserrat"/>
              <a:ea typeface="Montserrat"/>
              <a:cs typeface="Montserrat"/>
              <a:sym typeface="Montserrat"/>
            </a:endParaRPr>
          </a:p>
        </p:txBody>
      </p:sp>
      <p:sp>
        <p:nvSpPr>
          <p:cNvPr id="340" name="Google Shape;340;p30"/>
          <p:cNvSpPr txBox="1"/>
          <p:nvPr/>
        </p:nvSpPr>
        <p:spPr>
          <a:xfrm>
            <a:off x="6229613" y="4287375"/>
            <a:ext cx="872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Montserrat"/>
                <a:ea typeface="Montserrat"/>
                <a:cs typeface="Montserrat"/>
                <a:sym typeface="Montserrat"/>
              </a:rPr>
              <a:t>QED: 0.62</a:t>
            </a:r>
            <a:endParaRPr sz="8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800">
                <a:solidFill>
                  <a:schemeClr val="dk2"/>
                </a:solidFill>
                <a:latin typeface="Montserrat"/>
                <a:ea typeface="Montserrat"/>
                <a:cs typeface="Montserrat"/>
                <a:sym typeface="Montserrat"/>
              </a:rPr>
              <a:t>SA score: 3.8</a:t>
            </a:r>
            <a:endParaRPr sz="800">
              <a:solidFill>
                <a:schemeClr val="dk2"/>
              </a:solidFill>
              <a:latin typeface="Montserrat"/>
              <a:ea typeface="Montserrat"/>
              <a:cs typeface="Montserrat"/>
              <a:sym typeface="Montserrat"/>
            </a:endParaRPr>
          </a:p>
        </p:txBody>
      </p:sp>
      <p:sp>
        <p:nvSpPr>
          <p:cNvPr id="341" name="Google Shape;341;p30"/>
          <p:cNvSpPr txBox="1"/>
          <p:nvPr/>
        </p:nvSpPr>
        <p:spPr>
          <a:xfrm>
            <a:off x="-662" y="4835700"/>
            <a:ext cx="91440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2"/>
                </a:solidFill>
                <a:latin typeface="Montserrat"/>
                <a:ea typeface="Montserrat"/>
                <a:cs typeface="Montserrat"/>
                <a:sym typeface="Montserrat"/>
              </a:rPr>
              <a:t>*Novel molecules - no matches in COCONUT or PubChem</a:t>
            </a:r>
            <a:endParaRPr sz="800">
              <a:solidFill>
                <a:schemeClr val="dk2"/>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1"/>
          <p:cNvSpPr/>
          <p:nvPr/>
        </p:nvSpPr>
        <p:spPr>
          <a:xfrm>
            <a:off x="457200" y="182880"/>
            <a:ext cx="82296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1A1A1A"/>
                </a:solidFill>
                <a:latin typeface="Arial"/>
                <a:ea typeface="Arial"/>
                <a:cs typeface="Arial"/>
                <a:sym typeface="Arial"/>
              </a:rPr>
              <a:t>NPGPT-RL: Reinforcement Learning Fine-tuning</a:t>
            </a:r>
            <a:endParaRPr b="0" i="0" sz="2800" u="none" cap="none" strike="noStrike">
              <a:solidFill>
                <a:srgbClr val="000000"/>
              </a:solidFill>
              <a:latin typeface="Arial"/>
              <a:ea typeface="Arial"/>
              <a:cs typeface="Arial"/>
              <a:sym typeface="Arial"/>
            </a:endParaRPr>
          </a:p>
        </p:txBody>
      </p:sp>
      <p:sp>
        <p:nvSpPr>
          <p:cNvPr id="347" name="Google Shape;347;p31"/>
          <p:cNvSpPr/>
          <p:nvPr/>
        </p:nvSpPr>
        <p:spPr>
          <a:xfrm>
            <a:off x="457200" y="777240"/>
            <a:ext cx="8229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666666"/>
                </a:solidFill>
                <a:latin typeface="Arial"/>
                <a:ea typeface="Arial"/>
                <a:cs typeface="Arial"/>
                <a:sym typeface="Arial"/>
              </a:rPr>
              <a:t>Applying REINFORCE policy gradient to optimize NPGPT for drug-like natural products</a:t>
            </a:r>
            <a:endParaRPr b="0" i="0" sz="1300" u="none" cap="none" strike="noStrike">
              <a:solidFill>
                <a:srgbClr val="000000"/>
              </a:solidFill>
              <a:latin typeface="Arial"/>
              <a:ea typeface="Arial"/>
              <a:cs typeface="Arial"/>
              <a:sym typeface="Arial"/>
            </a:endParaRPr>
          </a:p>
        </p:txBody>
      </p:sp>
      <p:pic>
        <p:nvPicPr>
          <p:cNvPr descr="preencoded.png" id="348" name="Google Shape;348;p31"/>
          <p:cNvPicPr preferRelativeResize="0"/>
          <p:nvPr/>
        </p:nvPicPr>
        <p:blipFill rotWithShape="1">
          <a:blip r:embed="rId3">
            <a:alphaModFix/>
          </a:blip>
          <a:srcRect b="0" l="0" r="0" t="0"/>
          <a:stretch/>
        </p:blipFill>
        <p:spPr>
          <a:xfrm>
            <a:off x="274320" y="1188720"/>
            <a:ext cx="4389121" cy="2743200"/>
          </a:xfrm>
          <a:prstGeom prst="rect">
            <a:avLst/>
          </a:prstGeom>
          <a:noFill/>
          <a:ln>
            <a:noFill/>
          </a:ln>
        </p:spPr>
      </p:pic>
      <p:sp>
        <p:nvSpPr>
          <p:cNvPr id="349" name="Google Shape;349;p31"/>
          <p:cNvSpPr/>
          <p:nvPr/>
        </p:nvSpPr>
        <p:spPr>
          <a:xfrm>
            <a:off x="4937760" y="1188720"/>
            <a:ext cx="3931800" cy="1645800"/>
          </a:xfrm>
          <a:prstGeom prst="rect">
            <a:avLst/>
          </a:prstGeom>
          <a:solidFill>
            <a:srgbClr val="F5F5F5"/>
          </a:solidFill>
          <a:ln>
            <a:noFill/>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31"/>
          <p:cNvSpPr/>
          <p:nvPr/>
        </p:nvSpPr>
        <p:spPr>
          <a:xfrm>
            <a:off x="5120640" y="1234440"/>
            <a:ext cx="35661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2E7D32"/>
                </a:solidFill>
                <a:latin typeface="Arial"/>
                <a:ea typeface="Arial"/>
                <a:cs typeface="Arial"/>
                <a:sym typeface="Arial"/>
              </a:rPr>
              <a:t>Multi-Objective Reward</a:t>
            </a:r>
            <a:endParaRPr b="0" i="0" sz="1400" u="none" cap="none" strike="noStrike">
              <a:solidFill>
                <a:srgbClr val="000000"/>
              </a:solidFill>
              <a:latin typeface="Arial"/>
              <a:ea typeface="Arial"/>
              <a:cs typeface="Arial"/>
              <a:sym typeface="Arial"/>
            </a:endParaRPr>
          </a:p>
        </p:txBody>
      </p:sp>
      <p:graphicFrame>
        <p:nvGraphicFramePr>
          <p:cNvPr id="351" name="Google Shape;351;p31"/>
          <p:cNvGraphicFramePr/>
          <p:nvPr/>
        </p:nvGraphicFramePr>
        <p:xfrm>
          <a:off x="5074920" y="1572768"/>
          <a:ext cx="3000000" cy="3000000"/>
        </p:xfrm>
        <a:graphic>
          <a:graphicData uri="http://schemas.openxmlformats.org/drawingml/2006/table">
            <a:tbl>
              <a:tblPr>
                <a:noFill/>
                <a:tableStyleId>{A4C0D17B-5626-47C9-A5E4-B185B2C88677}</a:tableStyleId>
              </a:tblPr>
              <a:tblGrid>
                <a:gridCol w="1645925"/>
                <a:gridCol w="822950"/>
                <a:gridCol w="1188725"/>
              </a:tblGrid>
              <a:tr h="20117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rgbClr val="FFFFFF"/>
                          </a:solidFill>
                        </a:rPr>
                        <a:t>Component</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E7D32"/>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rgbClr val="FFFFFF"/>
                          </a:solidFill>
                        </a:rPr>
                        <a:t>Weight</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E7D32"/>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rgbClr val="FFFFFF"/>
                          </a:solidFill>
                        </a:rPr>
                        <a:t>Range</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E7D32"/>
                    </a:solidFill>
                  </a:tcPr>
                </a:tc>
              </a:tr>
              <a:tr h="1828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000000"/>
                          </a:solidFill>
                        </a:rPr>
                        <a:t>Validity</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rgbClr val="000000"/>
                          </a:solidFill>
                        </a:rPr>
                        <a:t>1.0</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000000"/>
                          </a:solidFill>
                        </a:rPr>
                        <a:t>{0, 1}</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828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000000"/>
                          </a:solidFill>
                        </a:rPr>
                        <a:t>QED (drug-likeness)</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rgbClr val="000000"/>
                          </a:solidFill>
                        </a:rPr>
                        <a:t>0.3</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000000"/>
                          </a:solidFill>
                        </a:rPr>
                        <a:t>[0, 1]</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828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000000"/>
                          </a:solidFill>
                        </a:rPr>
                        <a:t>SA (synthesizability)</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rgbClr val="000000"/>
                          </a:solidFill>
                        </a:rPr>
                        <a:t>0.3</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000000"/>
                          </a:solidFill>
                        </a:rPr>
                        <a:t>[0, 1]</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828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000000"/>
                          </a:solidFill>
                        </a:rPr>
                        <a:t>NP-likeness</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rgbClr val="000000"/>
                          </a:solidFill>
                        </a:rPr>
                        <a:t>0.4</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000000"/>
                          </a:solidFill>
                        </a:rPr>
                        <a:t>[0, 1]</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82875">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CC0000"/>
                          </a:solidFill>
                        </a:rPr>
                        <a:t>Invalid penalty</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rgbClr val="CC0000"/>
                          </a:solidFill>
                        </a:rPr>
                        <a:t>-0.5</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000000"/>
                          </a:solidFill>
                        </a:rPr>
                        <a:t>fixed</a:t>
                      </a:r>
                      <a:endParaRPr sz="8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
        <p:nvSpPr>
          <p:cNvPr id="352" name="Google Shape;352;p31"/>
          <p:cNvSpPr/>
          <p:nvPr/>
        </p:nvSpPr>
        <p:spPr>
          <a:xfrm>
            <a:off x="4937760" y="2971800"/>
            <a:ext cx="3931800" cy="1143000"/>
          </a:xfrm>
          <a:prstGeom prst="rect">
            <a:avLst/>
          </a:prstGeom>
          <a:solidFill>
            <a:srgbClr val="F5F5F5"/>
          </a:solidFill>
          <a:ln>
            <a:noFill/>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3" name="Google Shape;353;p31"/>
          <p:cNvSpPr/>
          <p:nvPr/>
        </p:nvSpPr>
        <p:spPr>
          <a:xfrm>
            <a:off x="5120640" y="3017520"/>
            <a:ext cx="356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2E7D32"/>
                </a:solidFill>
                <a:latin typeface="Arial"/>
                <a:ea typeface="Arial"/>
                <a:cs typeface="Arial"/>
                <a:sym typeface="Arial"/>
              </a:rPr>
              <a:t>REINFORCE Loss with KL Regularization</a:t>
            </a:r>
            <a:endParaRPr b="0" i="0" sz="1300" u="none" cap="none" strike="noStrike">
              <a:solidFill>
                <a:srgbClr val="000000"/>
              </a:solidFill>
              <a:latin typeface="Arial"/>
              <a:ea typeface="Arial"/>
              <a:cs typeface="Arial"/>
              <a:sym typeface="Arial"/>
            </a:endParaRPr>
          </a:p>
        </p:txBody>
      </p:sp>
      <p:sp>
        <p:nvSpPr>
          <p:cNvPr id="354" name="Google Shape;354;p31"/>
          <p:cNvSpPr/>
          <p:nvPr/>
        </p:nvSpPr>
        <p:spPr>
          <a:xfrm>
            <a:off x="5120640" y="3310128"/>
            <a:ext cx="3657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onsolas"/>
                <a:ea typeface="Consolas"/>
                <a:cs typeface="Consolas"/>
                <a:sym typeface="Consolas"/>
              </a:rPr>
              <a:t>L = </a:t>
            </a:r>
            <a:r>
              <a:rPr b="0" i="0" lang="en" sz="1100" u="none" cap="none" strike="noStrike">
                <a:solidFill>
                  <a:srgbClr val="4C8BF5"/>
                </a:solidFill>
                <a:latin typeface="Consolas"/>
                <a:ea typeface="Consolas"/>
                <a:cs typeface="Consolas"/>
                <a:sym typeface="Consolas"/>
              </a:rPr>
              <a:t>-log </a:t>
            </a:r>
            <a:r>
              <a:rPr b="0" i="1" lang="en" sz="1100" u="none" cap="none" strike="noStrike">
                <a:solidFill>
                  <a:srgbClr val="000000"/>
                </a:solidFill>
                <a:latin typeface="Consolas"/>
                <a:ea typeface="Consolas"/>
                <a:cs typeface="Consolas"/>
                <a:sym typeface="Consolas"/>
              </a:rPr>
              <a:t>p(a|s)</a:t>
            </a:r>
            <a:r>
              <a:rPr b="0" i="0" lang="en" sz="1100" u="none" cap="none" strike="noStrike">
                <a:solidFill>
                  <a:srgbClr val="000000"/>
                </a:solidFill>
                <a:latin typeface="Consolas"/>
                <a:ea typeface="Consolas"/>
                <a:cs typeface="Consolas"/>
                <a:sym typeface="Consolas"/>
              </a:rPr>
              <a:t> * (R - b)</a:t>
            </a:r>
            <a:r>
              <a:rPr b="0" i="0" lang="en" sz="1100" u="none" cap="none" strike="noStrike">
                <a:solidFill>
                  <a:srgbClr val="F5534C"/>
                </a:solidFill>
                <a:latin typeface="Consolas"/>
                <a:ea typeface="Consolas"/>
                <a:cs typeface="Consolas"/>
                <a:sym typeface="Consolas"/>
              </a:rPr>
              <a:t> + B * KL(p || p_ref)</a:t>
            </a:r>
            <a:endParaRPr b="0" i="0" sz="1100" u="none" cap="none" strike="noStrike">
              <a:solidFill>
                <a:srgbClr val="000000"/>
              </a:solidFill>
              <a:latin typeface="Arial"/>
              <a:ea typeface="Arial"/>
              <a:cs typeface="Arial"/>
              <a:sym typeface="Arial"/>
            </a:endParaRPr>
          </a:p>
        </p:txBody>
      </p:sp>
      <p:sp>
        <p:nvSpPr>
          <p:cNvPr id="355" name="Google Shape;355;p31"/>
          <p:cNvSpPr/>
          <p:nvPr/>
        </p:nvSpPr>
        <p:spPr>
          <a:xfrm>
            <a:off x="5120640" y="3611880"/>
            <a:ext cx="3657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 = E[R]</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66666"/>
                </a:solidFill>
                <a:latin typeface="Arial"/>
                <a:ea typeface="Arial"/>
                <a:cs typeface="Arial"/>
                <a:sym typeface="Arial"/>
              </a:rPr>
              <a:t>baseline for variance reduction</a:t>
            </a:r>
            <a:endParaRPr b="0" i="0" sz="1000" u="none" cap="none" strike="noStrike">
              <a:solidFill>
                <a:srgbClr val="000000"/>
              </a:solidFill>
              <a:latin typeface="Arial"/>
              <a:ea typeface="Arial"/>
              <a:cs typeface="Arial"/>
              <a:sym typeface="Arial"/>
            </a:endParaRPr>
          </a:p>
        </p:txBody>
      </p:sp>
      <p:sp>
        <p:nvSpPr>
          <p:cNvPr id="356" name="Google Shape;356;p31"/>
          <p:cNvSpPr/>
          <p:nvPr/>
        </p:nvSpPr>
        <p:spPr>
          <a:xfrm>
            <a:off x="457200" y="4434840"/>
            <a:ext cx="82296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666666"/>
                </a:solidFill>
                <a:latin typeface="Arial"/>
                <a:ea typeface="Arial"/>
                <a:cs typeface="Arial"/>
                <a:sym typeface="Arial"/>
              </a:rPr>
              <a:t>Frozen prior (p_ref) prevents mode collapse  |  Experience replay for sample efficiency  |  </a:t>
            </a:r>
            <a:r>
              <a:rPr b="1" i="0" lang="en" sz="1000" u="none" cap="none" strike="noStrike">
                <a:solidFill>
                  <a:srgbClr val="2E7D32"/>
                </a:solidFill>
                <a:latin typeface="Arial"/>
                <a:ea typeface="Arial"/>
                <a:cs typeface="Arial"/>
                <a:sym typeface="Arial"/>
              </a:rPr>
              <a:t>Best checkpoint: step 600</a:t>
            </a:r>
            <a:endParaRPr b="0" i="0" sz="1000" u="none" cap="none" strike="noStrike">
              <a:solidFill>
                <a:srgbClr val="000000"/>
              </a:solidFill>
              <a:latin typeface="Arial"/>
              <a:ea typeface="Arial"/>
              <a:cs typeface="Arial"/>
              <a:sym typeface="Arial"/>
            </a:endParaRPr>
          </a:p>
        </p:txBody>
      </p:sp>
      <p:sp>
        <p:nvSpPr>
          <p:cNvPr id="357" name="Google Shape;357;p31"/>
          <p:cNvSpPr/>
          <p:nvPr/>
        </p:nvSpPr>
        <p:spPr>
          <a:xfrm>
            <a:off x="457200" y="475488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1" lang="en" sz="800" u="none" cap="none" strike="noStrike">
                <a:solidFill>
                  <a:srgbClr val="999999"/>
                </a:solidFill>
                <a:latin typeface="Arial"/>
                <a:ea typeface="Arial"/>
                <a:cs typeface="Arial"/>
                <a:sym typeface="Arial"/>
              </a:rPr>
              <a:t>Thomas et al., REINFORCE-ING Chemical Language Models for Drug Discovery, JCIM 2025</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32" title="npgpt_rl_histogram.png"/>
          <p:cNvPicPr preferRelativeResize="0"/>
          <p:nvPr/>
        </p:nvPicPr>
        <p:blipFill>
          <a:blip r:embed="rId3">
            <a:alphaModFix/>
          </a:blip>
          <a:stretch>
            <a:fillRect/>
          </a:stretch>
        </p:blipFill>
        <p:spPr>
          <a:xfrm>
            <a:off x="0" y="1051450"/>
            <a:ext cx="5303526" cy="2599984"/>
          </a:xfrm>
          <a:prstGeom prst="rect">
            <a:avLst/>
          </a:prstGeom>
          <a:noFill/>
          <a:ln>
            <a:noFill/>
          </a:ln>
        </p:spPr>
      </p:pic>
      <p:sp>
        <p:nvSpPr>
          <p:cNvPr id="363" name="Google Shape;363;p32"/>
          <p:cNvSpPr/>
          <p:nvPr/>
        </p:nvSpPr>
        <p:spPr>
          <a:xfrm>
            <a:off x="457200" y="182880"/>
            <a:ext cx="82296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1A1A1A"/>
                </a:solidFill>
                <a:latin typeface="Arial"/>
                <a:ea typeface="Arial"/>
                <a:cs typeface="Arial"/>
                <a:sym typeface="Arial"/>
              </a:rPr>
              <a:t>NPGPT-RL improves molecular properties</a:t>
            </a:r>
            <a:endParaRPr b="0" i="0" sz="2800" u="none" cap="none" strike="noStrike">
              <a:solidFill>
                <a:srgbClr val="000000"/>
              </a:solidFill>
              <a:latin typeface="Arial"/>
              <a:ea typeface="Arial"/>
              <a:cs typeface="Arial"/>
              <a:sym typeface="Arial"/>
            </a:endParaRPr>
          </a:p>
        </p:txBody>
      </p:sp>
      <p:sp>
        <p:nvSpPr>
          <p:cNvPr id="364" name="Google Shape;364;p32"/>
          <p:cNvSpPr/>
          <p:nvPr/>
        </p:nvSpPr>
        <p:spPr>
          <a:xfrm>
            <a:off x="457200" y="77724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666666"/>
                </a:solidFill>
                <a:latin typeface="Arial"/>
                <a:ea typeface="Arial"/>
                <a:cs typeface="Arial"/>
                <a:sym typeface="Arial"/>
              </a:rPr>
              <a:t>Comparison of pretrained NPGPT vs RL-finetuned (50 molecules x 3 seeds)</a:t>
            </a:r>
            <a:endParaRPr b="0" i="0" sz="1300" u="none" cap="none" strike="noStrike">
              <a:solidFill>
                <a:srgbClr val="000000"/>
              </a:solidFill>
              <a:latin typeface="Arial"/>
              <a:ea typeface="Arial"/>
              <a:cs typeface="Arial"/>
              <a:sym typeface="Arial"/>
            </a:endParaRPr>
          </a:p>
        </p:txBody>
      </p:sp>
      <p:sp>
        <p:nvSpPr>
          <p:cNvPr id="365" name="Google Shape;365;p32"/>
          <p:cNvSpPr/>
          <p:nvPr/>
        </p:nvSpPr>
        <p:spPr>
          <a:xfrm>
            <a:off x="5303520" y="1097280"/>
            <a:ext cx="3566100" cy="502800"/>
          </a:xfrm>
          <a:prstGeom prst="rect">
            <a:avLst/>
          </a:prstGeom>
          <a:solidFill>
            <a:srgbClr val="F5F5F5"/>
          </a:solidFill>
          <a:ln>
            <a:noFill/>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32"/>
          <p:cNvSpPr/>
          <p:nvPr/>
        </p:nvSpPr>
        <p:spPr>
          <a:xfrm>
            <a:off x="5303520" y="1097280"/>
            <a:ext cx="54900" cy="502800"/>
          </a:xfrm>
          <a:prstGeom prst="rect">
            <a:avLst/>
          </a:prstGeom>
          <a:solidFill>
            <a:srgbClr val="4CAF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7" name="Google Shape;367;p32"/>
          <p:cNvSpPr/>
          <p:nvPr/>
        </p:nvSpPr>
        <p:spPr>
          <a:xfrm>
            <a:off x="5486400" y="1097280"/>
            <a:ext cx="12801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A1A1A"/>
                </a:solidFill>
                <a:latin typeface="Arial"/>
                <a:ea typeface="Arial"/>
                <a:cs typeface="Arial"/>
                <a:sym typeface="Arial"/>
              </a:rPr>
              <a:t>Validity</a:t>
            </a:r>
            <a:endParaRPr b="0" i="0" sz="1000" u="none" cap="none" strike="noStrike">
              <a:solidFill>
                <a:srgbClr val="000000"/>
              </a:solidFill>
              <a:latin typeface="Arial"/>
              <a:ea typeface="Arial"/>
              <a:cs typeface="Arial"/>
              <a:sym typeface="Arial"/>
            </a:endParaRPr>
          </a:p>
        </p:txBody>
      </p:sp>
      <p:sp>
        <p:nvSpPr>
          <p:cNvPr id="368" name="Google Shape;368;p32"/>
          <p:cNvSpPr/>
          <p:nvPr/>
        </p:nvSpPr>
        <p:spPr>
          <a:xfrm>
            <a:off x="6766560" y="1097280"/>
            <a:ext cx="9144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4CAF50"/>
                </a:solidFill>
                <a:latin typeface="Arial"/>
                <a:ea typeface="Arial"/>
                <a:cs typeface="Arial"/>
                <a:sym typeface="Arial"/>
              </a:rPr>
              <a:t>94%</a:t>
            </a:r>
            <a:endParaRPr b="0" i="0" sz="1600" u="none" cap="none" strike="noStrike">
              <a:solidFill>
                <a:srgbClr val="000000"/>
              </a:solidFill>
              <a:latin typeface="Arial"/>
              <a:ea typeface="Arial"/>
              <a:cs typeface="Arial"/>
              <a:sym typeface="Arial"/>
            </a:endParaRPr>
          </a:p>
        </p:txBody>
      </p:sp>
      <p:sp>
        <p:nvSpPr>
          <p:cNvPr id="369" name="Google Shape;369;p32"/>
          <p:cNvSpPr/>
          <p:nvPr/>
        </p:nvSpPr>
        <p:spPr>
          <a:xfrm>
            <a:off x="7589520" y="1097280"/>
            <a:ext cx="11886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666666"/>
                </a:solidFill>
                <a:latin typeface="Arial"/>
                <a:ea typeface="Arial"/>
                <a:cs typeface="Arial"/>
                <a:sym typeface="Arial"/>
              </a:rPr>
              <a:t>from 88%</a:t>
            </a:r>
            <a:endParaRPr b="0" i="0" sz="800" u="none" cap="none" strike="noStrike">
              <a:solidFill>
                <a:srgbClr val="000000"/>
              </a:solidFill>
              <a:latin typeface="Arial"/>
              <a:ea typeface="Arial"/>
              <a:cs typeface="Arial"/>
              <a:sym typeface="Arial"/>
            </a:endParaRPr>
          </a:p>
        </p:txBody>
      </p:sp>
      <p:sp>
        <p:nvSpPr>
          <p:cNvPr id="370" name="Google Shape;370;p32"/>
          <p:cNvSpPr/>
          <p:nvPr/>
        </p:nvSpPr>
        <p:spPr>
          <a:xfrm>
            <a:off x="5303520" y="1645920"/>
            <a:ext cx="3566100" cy="502800"/>
          </a:xfrm>
          <a:prstGeom prst="rect">
            <a:avLst/>
          </a:prstGeom>
          <a:solidFill>
            <a:srgbClr val="F5F5F5"/>
          </a:solidFill>
          <a:ln>
            <a:noFill/>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32"/>
          <p:cNvSpPr/>
          <p:nvPr/>
        </p:nvSpPr>
        <p:spPr>
          <a:xfrm>
            <a:off x="5303520" y="1645920"/>
            <a:ext cx="54900" cy="502800"/>
          </a:xfrm>
          <a:prstGeom prst="rect">
            <a:avLst/>
          </a:prstGeom>
          <a:solidFill>
            <a:srgbClr val="4C8B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32"/>
          <p:cNvSpPr/>
          <p:nvPr/>
        </p:nvSpPr>
        <p:spPr>
          <a:xfrm>
            <a:off x="5486400" y="1645920"/>
            <a:ext cx="12801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A1A1A"/>
                </a:solidFill>
                <a:latin typeface="Arial"/>
                <a:ea typeface="Arial"/>
                <a:cs typeface="Arial"/>
                <a:sym typeface="Arial"/>
              </a:rPr>
              <a:t>QED</a:t>
            </a:r>
            <a:endParaRPr b="0" i="0" sz="1000" u="none" cap="none" strike="noStrike">
              <a:solidFill>
                <a:srgbClr val="000000"/>
              </a:solidFill>
              <a:latin typeface="Arial"/>
              <a:ea typeface="Arial"/>
              <a:cs typeface="Arial"/>
              <a:sym typeface="Arial"/>
            </a:endParaRPr>
          </a:p>
        </p:txBody>
      </p:sp>
      <p:sp>
        <p:nvSpPr>
          <p:cNvPr id="373" name="Google Shape;373;p32"/>
          <p:cNvSpPr/>
          <p:nvPr/>
        </p:nvSpPr>
        <p:spPr>
          <a:xfrm>
            <a:off x="6766560" y="1645920"/>
            <a:ext cx="9144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4C8BF5"/>
                </a:solidFill>
                <a:latin typeface="Arial"/>
                <a:ea typeface="Arial"/>
                <a:cs typeface="Arial"/>
                <a:sym typeface="Arial"/>
              </a:rPr>
              <a:t>+40%</a:t>
            </a:r>
            <a:endParaRPr b="0" i="0" sz="1600" u="none" cap="none" strike="noStrike">
              <a:solidFill>
                <a:srgbClr val="000000"/>
              </a:solidFill>
              <a:latin typeface="Arial"/>
              <a:ea typeface="Arial"/>
              <a:cs typeface="Arial"/>
              <a:sym typeface="Arial"/>
            </a:endParaRPr>
          </a:p>
        </p:txBody>
      </p:sp>
      <p:sp>
        <p:nvSpPr>
          <p:cNvPr id="374" name="Google Shape;374;p32"/>
          <p:cNvSpPr/>
          <p:nvPr/>
        </p:nvSpPr>
        <p:spPr>
          <a:xfrm>
            <a:off x="7589520" y="1645920"/>
            <a:ext cx="11886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666666"/>
                </a:solidFill>
                <a:latin typeface="Arial"/>
                <a:ea typeface="Arial"/>
                <a:cs typeface="Arial"/>
                <a:sym typeface="Arial"/>
              </a:rPr>
              <a:t>drug-likeness **</a:t>
            </a:r>
            <a:endParaRPr b="0" i="0" sz="800" u="none" cap="none" strike="noStrike">
              <a:solidFill>
                <a:srgbClr val="000000"/>
              </a:solidFill>
              <a:latin typeface="Arial"/>
              <a:ea typeface="Arial"/>
              <a:cs typeface="Arial"/>
              <a:sym typeface="Arial"/>
            </a:endParaRPr>
          </a:p>
        </p:txBody>
      </p:sp>
      <p:sp>
        <p:nvSpPr>
          <p:cNvPr id="375" name="Google Shape;375;p32"/>
          <p:cNvSpPr/>
          <p:nvPr/>
        </p:nvSpPr>
        <p:spPr>
          <a:xfrm>
            <a:off x="5303520" y="2194560"/>
            <a:ext cx="3566100" cy="502800"/>
          </a:xfrm>
          <a:prstGeom prst="rect">
            <a:avLst/>
          </a:prstGeom>
          <a:solidFill>
            <a:srgbClr val="F5F5F5"/>
          </a:solidFill>
          <a:ln>
            <a:noFill/>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32"/>
          <p:cNvSpPr/>
          <p:nvPr/>
        </p:nvSpPr>
        <p:spPr>
          <a:xfrm>
            <a:off x="5303520" y="2194560"/>
            <a:ext cx="54900" cy="502800"/>
          </a:xfrm>
          <a:prstGeom prst="rect">
            <a:avLst/>
          </a:prstGeom>
          <a:solidFill>
            <a:srgbClr val="FF98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32"/>
          <p:cNvSpPr/>
          <p:nvPr/>
        </p:nvSpPr>
        <p:spPr>
          <a:xfrm>
            <a:off x="5486400" y="2194560"/>
            <a:ext cx="12801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A1A1A"/>
                </a:solidFill>
                <a:latin typeface="Arial"/>
                <a:ea typeface="Arial"/>
                <a:cs typeface="Arial"/>
                <a:sym typeface="Arial"/>
              </a:rPr>
              <a:t>SA Score</a:t>
            </a:r>
            <a:endParaRPr b="0" i="0" sz="1000" u="none" cap="none" strike="noStrike">
              <a:solidFill>
                <a:srgbClr val="000000"/>
              </a:solidFill>
              <a:latin typeface="Arial"/>
              <a:ea typeface="Arial"/>
              <a:cs typeface="Arial"/>
              <a:sym typeface="Arial"/>
            </a:endParaRPr>
          </a:p>
        </p:txBody>
      </p:sp>
      <p:sp>
        <p:nvSpPr>
          <p:cNvPr id="378" name="Google Shape;378;p32"/>
          <p:cNvSpPr/>
          <p:nvPr/>
        </p:nvSpPr>
        <p:spPr>
          <a:xfrm>
            <a:off x="6766560" y="2194560"/>
            <a:ext cx="9144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9800"/>
                </a:solidFill>
                <a:latin typeface="Arial"/>
                <a:ea typeface="Arial"/>
                <a:cs typeface="Arial"/>
                <a:sym typeface="Arial"/>
              </a:rPr>
              <a:t>-24%</a:t>
            </a:r>
            <a:endParaRPr b="0" i="0" sz="1600" u="none" cap="none" strike="noStrike">
              <a:solidFill>
                <a:srgbClr val="000000"/>
              </a:solidFill>
              <a:latin typeface="Arial"/>
              <a:ea typeface="Arial"/>
              <a:cs typeface="Arial"/>
              <a:sym typeface="Arial"/>
            </a:endParaRPr>
          </a:p>
        </p:txBody>
      </p:sp>
      <p:sp>
        <p:nvSpPr>
          <p:cNvPr id="379" name="Google Shape;379;p32"/>
          <p:cNvSpPr/>
          <p:nvPr/>
        </p:nvSpPr>
        <p:spPr>
          <a:xfrm>
            <a:off x="7589520" y="2194560"/>
            <a:ext cx="11886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666666"/>
                </a:solidFill>
                <a:latin typeface="Arial"/>
                <a:ea typeface="Arial"/>
                <a:cs typeface="Arial"/>
                <a:sym typeface="Arial"/>
              </a:rPr>
              <a:t>easier to synthesize **</a:t>
            </a:r>
            <a:endParaRPr b="0" i="0" sz="800" u="none" cap="none" strike="noStrike">
              <a:solidFill>
                <a:srgbClr val="000000"/>
              </a:solidFill>
              <a:latin typeface="Arial"/>
              <a:ea typeface="Arial"/>
              <a:cs typeface="Arial"/>
              <a:sym typeface="Arial"/>
            </a:endParaRPr>
          </a:p>
        </p:txBody>
      </p:sp>
      <p:sp>
        <p:nvSpPr>
          <p:cNvPr id="380" name="Google Shape;380;p32"/>
          <p:cNvSpPr/>
          <p:nvPr/>
        </p:nvSpPr>
        <p:spPr>
          <a:xfrm>
            <a:off x="5303520" y="2743200"/>
            <a:ext cx="3566100" cy="502800"/>
          </a:xfrm>
          <a:prstGeom prst="rect">
            <a:avLst/>
          </a:prstGeom>
          <a:solidFill>
            <a:srgbClr val="F5F5F5"/>
          </a:solidFill>
          <a:ln>
            <a:noFill/>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32"/>
          <p:cNvSpPr/>
          <p:nvPr/>
        </p:nvSpPr>
        <p:spPr>
          <a:xfrm>
            <a:off x="5303520" y="2743200"/>
            <a:ext cx="54900" cy="50280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32"/>
          <p:cNvSpPr/>
          <p:nvPr/>
        </p:nvSpPr>
        <p:spPr>
          <a:xfrm>
            <a:off x="5486400" y="2743200"/>
            <a:ext cx="12801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A1A1A"/>
                </a:solidFill>
                <a:latin typeface="Arial"/>
                <a:ea typeface="Arial"/>
                <a:cs typeface="Arial"/>
                <a:sym typeface="Arial"/>
              </a:rPr>
              <a:t>NP-likeness</a:t>
            </a:r>
            <a:endParaRPr b="0" i="0" sz="1000" u="none" cap="none" strike="noStrike">
              <a:solidFill>
                <a:srgbClr val="000000"/>
              </a:solidFill>
              <a:latin typeface="Arial"/>
              <a:ea typeface="Arial"/>
              <a:cs typeface="Arial"/>
              <a:sym typeface="Arial"/>
            </a:endParaRPr>
          </a:p>
        </p:txBody>
      </p:sp>
      <p:sp>
        <p:nvSpPr>
          <p:cNvPr id="383" name="Google Shape;383;p32"/>
          <p:cNvSpPr/>
          <p:nvPr/>
        </p:nvSpPr>
        <p:spPr>
          <a:xfrm>
            <a:off x="6766560" y="2743200"/>
            <a:ext cx="9144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2E7D32"/>
                </a:solidFill>
                <a:latin typeface="Arial"/>
                <a:ea typeface="Arial"/>
                <a:cs typeface="Arial"/>
                <a:sym typeface="Arial"/>
              </a:rPr>
              <a:t>+47%</a:t>
            </a:r>
            <a:endParaRPr b="0" i="0" sz="1600" u="none" cap="none" strike="noStrike">
              <a:solidFill>
                <a:srgbClr val="000000"/>
              </a:solidFill>
              <a:latin typeface="Arial"/>
              <a:ea typeface="Arial"/>
              <a:cs typeface="Arial"/>
              <a:sym typeface="Arial"/>
            </a:endParaRPr>
          </a:p>
        </p:txBody>
      </p:sp>
      <p:sp>
        <p:nvSpPr>
          <p:cNvPr id="384" name="Google Shape;384;p32"/>
          <p:cNvSpPr/>
          <p:nvPr/>
        </p:nvSpPr>
        <p:spPr>
          <a:xfrm>
            <a:off x="7589520" y="2743200"/>
            <a:ext cx="11886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666666"/>
                </a:solidFill>
                <a:latin typeface="Arial"/>
                <a:ea typeface="Arial"/>
                <a:cs typeface="Arial"/>
                <a:sym typeface="Arial"/>
              </a:rPr>
              <a:t>more NP-like *</a:t>
            </a:r>
            <a:endParaRPr b="0" i="0" sz="800" u="none" cap="none" strike="noStrike">
              <a:solidFill>
                <a:srgbClr val="000000"/>
              </a:solidFill>
              <a:latin typeface="Arial"/>
              <a:ea typeface="Arial"/>
              <a:cs typeface="Arial"/>
              <a:sym typeface="Arial"/>
            </a:endParaRPr>
          </a:p>
        </p:txBody>
      </p:sp>
      <p:sp>
        <p:nvSpPr>
          <p:cNvPr id="385" name="Google Shape;385;p32"/>
          <p:cNvSpPr/>
          <p:nvPr/>
        </p:nvSpPr>
        <p:spPr>
          <a:xfrm>
            <a:off x="5303520" y="3291840"/>
            <a:ext cx="3566100" cy="502800"/>
          </a:xfrm>
          <a:prstGeom prst="rect">
            <a:avLst/>
          </a:prstGeom>
          <a:solidFill>
            <a:srgbClr val="F5F5F5"/>
          </a:solidFill>
          <a:ln>
            <a:noFill/>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32"/>
          <p:cNvSpPr/>
          <p:nvPr/>
        </p:nvSpPr>
        <p:spPr>
          <a:xfrm>
            <a:off x="5303520" y="3291840"/>
            <a:ext cx="54900" cy="502800"/>
          </a:xfrm>
          <a:prstGeom prst="rect">
            <a:avLst/>
          </a:prstGeom>
          <a:solidFill>
            <a:srgbClr val="F553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32"/>
          <p:cNvSpPr/>
          <p:nvPr/>
        </p:nvSpPr>
        <p:spPr>
          <a:xfrm>
            <a:off x="5486400" y="3291840"/>
            <a:ext cx="12801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A1A1A"/>
                </a:solidFill>
                <a:latin typeface="Arial"/>
                <a:ea typeface="Arial"/>
                <a:cs typeface="Arial"/>
                <a:sym typeface="Arial"/>
              </a:rPr>
              <a:t>Novelty</a:t>
            </a:r>
            <a:endParaRPr b="0" i="0" sz="1000" u="none" cap="none" strike="noStrike">
              <a:solidFill>
                <a:srgbClr val="000000"/>
              </a:solidFill>
              <a:latin typeface="Arial"/>
              <a:ea typeface="Arial"/>
              <a:cs typeface="Arial"/>
              <a:sym typeface="Arial"/>
            </a:endParaRPr>
          </a:p>
        </p:txBody>
      </p:sp>
      <p:sp>
        <p:nvSpPr>
          <p:cNvPr id="388" name="Google Shape;388;p32"/>
          <p:cNvSpPr/>
          <p:nvPr/>
        </p:nvSpPr>
        <p:spPr>
          <a:xfrm>
            <a:off x="6766560" y="3291840"/>
            <a:ext cx="9144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5534C"/>
                </a:solidFill>
                <a:latin typeface="Arial"/>
                <a:ea typeface="Arial"/>
                <a:cs typeface="Arial"/>
                <a:sym typeface="Arial"/>
              </a:rPr>
              <a:t>+18%</a:t>
            </a:r>
            <a:endParaRPr b="0" i="0" sz="1600" u="none" cap="none" strike="noStrike">
              <a:solidFill>
                <a:srgbClr val="000000"/>
              </a:solidFill>
              <a:latin typeface="Arial"/>
              <a:ea typeface="Arial"/>
              <a:cs typeface="Arial"/>
              <a:sym typeface="Arial"/>
            </a:endParaRPr>
          </a:p>
        </p:txBody>
      </p:sp>
      <p:sp>
        <p:nvSpPr>
          <p:cNvPr id="389" name="Google Shape;389;p32"/>
          <p:cNvSpPr/>
          <p:nvPr/>
        </p:nvSpPr>
        <p:spPr>
          <a:xfrm>
            <a:off x="7589520" y="3291840"/>
            <a:ext cx="11886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666666"/>
                </a:solidFill>
                <a:latin typeface="Arial"/>
                <a:ea typeface="Arial"/>
                <a:cs typeface="Arial"/>
                <a:sym typeface="Arial"/>
              </a:rPr>
              <a:t>new molecules</a:t>
            </a:r>
            <a:endParaRPr b="0" i="0" sz="800" u="none" cap="none" strike="noStrike">
              <a:solidFill>
                <a:srgbClr val="000000"/>
              </a:solidFill>
              <a:latin typeface="Arial"/>
              <a:ea typeface="Arial"/>
              <a:cs typeface="Arial"/>
              <a:sym typeface="Arial"/>
            </a:endParaRPr>
          </a:p>
        </p:txBody>
      </p:sp>
      <p:sp>
        <p:nvSpPr>
          <p:cNvPr id="390" name="Google Shape;390;p32"/>
          <p:cNvSpPr/>
          <p:nvPr/>
        </p:nvSpPr>
        <p:spPr>
          <a:xfrm>
            <a:off x="365760" y="3931920"/>
            <a:ext cx="45720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999999"/>
                </a:solidFill>
                <a:latin typeface="Arial"/>
                <a:ea typeface="Arial"/>
                <a:cs typeface="Arial"/>
                <a:sym typeface="Arial"/>
              </a:rPr>
              <a:t>* p &lt; 0.05, ** p &lt; 0.01 (Welch t-test, 3 seeds)</a:t>
            </a:r>
            <a:endParaRPr b="0" i="0" sz="800" u="none" cap="none" strike="noStrike">
              <a:solidFill>
                <a:srgbClr val="000000"/>
              </a:solidFill>
              <a:latin typeface="Arial"/>
              <a:ea typeface="Arial"/>
              <a:cs typeface="Arial"/>
              <a:sym typeface="Arial"/>
            </a:endParaRPr>
          </a:p>
        </p:txBody>
      </p:sp>
      <p:sp>
        <p:nvSpPr>
          <p:cNvPr id="391" name="Google Shape;391;p32"/>
          <p:cNvSpPr/>
          <p:nvPr/>
        </p:nvSpPr>
        <p:spPr>
          <a:xfrm>
            <a:off x="274320" y="4251960"/>
            <a:ext cx="8595300" cy="685800"/>
          </a:xfrm>
          <a:prstGeom prst="rect">
            <a:avLst/>
          </a:prstGeom>
          <a:solidFill>
            <a:srgbClr val="F5F5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32"/>
          <p:cNvSpPr/>
          <p:nvPr/>
        </p:nvSpPr>
        <p:spPr>
          <a:xfrm>
            <a:off x="457200" y="4297680"/>
            <a:ext cx="82296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Validity: </a:t>
            </a:r>
            <a:r>
              <a:rPr b="0" i="0" lang="en" sz="900" u="none" cap="none" strike="noStrike">
                <a:solidFill>
                  <a:srgbClr val="666666"/>
                </a:solidFill>
                <a:latin typeface="Arial"/>
                <a:ea typeface="Arial"/>
                <a:cs typeface="Arial"/>
                <a:sym typeface="Arial"/>
              </a:rPr>
              <a:t>% of valid SMILES   |   </a:t>
            </a:r>
            <a:r>
              <a:rPr b="1" i="0" lang="en" sz="900" u="none" cap="none" strike="noStrike">
                <a:solidFill>
                  <a:srgbClr val="000000"/>
                </a:solidFill>
                <a:latin typeface="Arial"/>
                <a:ea typeface="Arial"/>
                <a:cs typeface="Arial"/>
                <a:sym typeface="Arial"/>
              </a:rPr>
              <a:t>QED: </a:t>
            </a:r>
            <a:r>
              <a:rPr b="0" i="0" lang="en" sz="900" u="none" cap="none" strike="noStrike">
                <a:solidFill>
                  <a:srgbClr val="666666"/>
                </a:solidFill>
                <a:latin typeface="Arial"/>
                <a:ea typeface="Arial"/>
                <a:cs typeface="Arial"/>
                <a:sym typeface="Arial"/>
              </a:rPr>
              <a:t>drug-likeness [0-1]   |   </a:t>
            </a:r>
            <a:r>
              <a:rPr b="1" i="0" lang="en" sz="900" u="none" cap="none" strike="noStrike">
                <a:solidFill>
                  <a:srgbClr val="000000"/>
                </a:solidFill>
                <a:latin typeface="Arial"/>
                <a:ea typeface="Arial"/>
                <a:cs typeface="Arial"/>
                <a:sym typeface="Arial"/>
              </a:rPr>
              <a:t>SA: </a:t>
            </a:r>
            <a:r>
              <a:rPr b="0" i="0" lang="en" sz="900" u="none" cap="none" strike="noStrike">
                <a:solidFill>
                  <a:srgbClr val="666666"/>
                </a:solidFill>
                <a:latin typeface="Arial"/>
                <a:ea typeface="Arial"/>
                <a:cs typeface="Arial"/>
                <a:sym typeface="Arial"/>
              </a:rPr>
              <a:t>synthetic accessibility [1-10, lower=easier]   |   </a:t>
            </a:r>
            <a:r>
              <a:rPr b="1" i="0" lang="en" sz="900" u="none" cap="none" strike="noStrike">
                <a:solidFill>
                  <a:srgbClr val="000000"/>
                </a:solidFill>
                <a:latin typeface="Arial"/>
                <a:ea typeface="Arial"/>
                <a:cs typeface="Arial"/>
                <a:sym typeface="Arial"/>
              </a:rPr>
              <a:t>NP-likeness: </a:t>
            </a:r>
            <a:r>
              <a:rPr b="0" i="0" lang="en" sz="900" u="none" cap="none" strike="noStrike">
                <a:solidFill>
                  <a:srgbClr val="666666"/>
                </a:solidFill>
                <a:latin typeface="Arial"/>
                <a:ea typeface="Arial"/>
                <a:cs typeface="Arial"/>
                <a:sym typeface="Arial"/>
              </a:rPr>
              <a:t>natural product similarity [-5 to 5]   |   </a:t>
            </a:r>
            <a:r>
              <a:rPr b="1" i="0" lang="en" sz="900" u="none" cap="none" strike="noStrike">
                <a:solidFill>
                  <a:srgbClr val="000000"/>
                </a:solidFill>
                <a:latin typeface="Arial"/>
                <a:ea typeface="Arial"/>
                <a:cs typeface="Arial"/>
                <a:sym typeface="Arial"/>
              </a:rPr>
              <a:t>Novelty: </a:t>
            </a:r>
            <a:r>
              <a:rPr b="0" i="0" lang="en" sz="900" u="none" cap="none" strike="noStrike">
                <a:solidFill>
                  <a:srgbClr val="666666"/>
                </a:solidFill>
                <a:latin typeface="Arial"/>
                <a:ea typeface="Arial"/>
                <a:cs typeface="Arial"/>
                <a:sym typeface="Arial"/>
              </a:rPr>
              <a:t>% not in training set</a:t>
            </a:r>
            <a:endParaRPr b="0" i="0" sz="900" u="none" cap="none" strike="noStrike">
              <a:solidFill>
                <a:srgbClr val="000000"/>
              </a:solidFill>
              <a:latin typeface="Arial"/>
              <a:ea typeface="Arial"/>
              <a:cs typeface="Arial"/>
              <a:sym typeface="Arial"/>
            </a:endParaRPr>
          </a:p>
        </p:txBody>
      </p:sp>
      <p:graphicFrame>
        <p:nvGraphicFramePr>
          <p:cNvPr id="393" name="Google Shape;393;p32"/>
          <p:cNvGraphicFramePr/>
          <p:nvPr/>
        </p:nvGraphicFramePr>
        <p:xfrm>
          <a:off x="2237237" y="2468880"/>
          <a:ext cx="3000000" cy="3000000"/>
        </p:xfrm>
        <a:graphic>
          <a:graphicData uri="http://schemas.openxmlformats.org/drawingml/2006/table">
            <a:tbl>
              <a:tblPr>
                <a:noFill/>
                <a:tableStyleId>{A4C0D17B-5626-47C9-A5E4-B185B2C88677}</a:tableStyleId>
              </a:tblPr>
              <a:tblGrid>
                <a:gridCol w="975200"/>
                <a:gridCol w="825150"/>
                <a:gridCol w="900175"/>
              </a:tblGrid>
              <a:tr h="210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rPr>
                        <a:t>Metric</a:t>
                      </a:r>
                      <a:endParaRPr sz="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rPr>
                        <a:t>Pretrained</a:t>
                      </a:r>
                      <a:endParaRPr sz="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rPr>
                        <a:t>RL-finetuned</a:t>
                      </a:r>
                      <a:endParaRPr sz="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10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rPr>
                        <a:t>Validity</a:t>
                      </a:r>
                      <a:endParaRPr sz="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dk1"/>
                          </a:solidFill>
                        </a:rPr>
                        <a:t>88%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rPr>
                        <a:t>94%</a:t>
                      </a:r>
                      <a:endParaRPr sz="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10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rPr>
                        <a:t>QED</a:t>
                      </a:r>
                      <a:endParaRPr sz="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dk1"/>
                          </a:solidFill>
                        </a:rPr>
                        <a:t>0.404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rPr>
                        <a:t>0.566</a:t>
                      </a:r>
                      <a:endParaRPr sz="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10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rPr>
                        <a:t>SA Score</a:t>
                      </a:r>
                      <a:endParaRPr sz="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dk1"/>
                          </a:solidFill>
                        </a:rPr>
                        <a:t>4.26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rPr>
                        <a:t>3.24</a:t>
                      </a:r>
                      <a:endParaRPr sz="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10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rPr>
                        <a:t>NP-likeness</a:t>
                      </a:r>
                      <a:endParaRPr sz="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dk1"/>
                          </a:solidFill>
                        </a:rPr>
                        <a:t>1.09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rPr>
                        <a:t>1.60</a:t>
                      </a:r>
                      <a:endParaRPr sz="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1082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rPr>
                        <a:t>Novelty</a:t>
                      </a:r>
                      <a:endParaRPr sz="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dk1"/>
                          </a:solidFill>
                        </a:rPr>
                        <a:t>0.757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rPr>
                        <a:t>0.893</a:t>
                      </a:r>
                      <a:endParaRPr sz="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3"/>
          <p:cNvSpPr/>
          <p:nvPr/>
        </p:nvSpPr>
        <p:spPr>
          <a:xfrm>
            <a:off x="457200" y="182880"/>
            <a:ext cx="82296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1A1A1A"/>
                </a:solidFill>
                <a:latin typeface="Arial"/>
                <a:ea typeface="Arial"/>
                <a:cs typeface="Arial"/>
                <a:sym typeface="Arial"/>
              </a:rPr>
              <a:t>Multi-model performance comparison</a:t>
            </a:r>
            <a:endParaRPr b="0" i="0" sz="2800" u="none" cap="none" strike="noStrike">
              <a:solidFill>
                <a:srgbClr val="000000"/>
              </a:solidFill>
              <a:latin typeface="Arial"/>
              <a:ea typeface="Arial"/>
              <a:cs typeface="Arial"/>
              <a:sym typeface="Arial"/>
            </a:endParaRPr>
          </a:p>
        </p:txBody>
      </p:sp>
      <p:sp>
        <p:nvSpPr>
          <p:cNvPr id="399" name="Google Shape;399;p33"/>
          <p:cNvSpPr/>
          <p:nvPr/>
        </p:nvSpPr>
        <p:spPr>
          <a:xfrm>
            <a:off x="365760" y="3941064"/>
            <a:ext cx="2743200" cy="1106400"/>
          </a:xfrm>
          <a:prstGeom prst="rect">
            <a:avLst/>
          </a:prstGeom>
          <a:solidFill>
            <a:srgbClr val="F5F5F5"/>
          </a:solidFill>
          <a:ln>
            <a:noFill/>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33"/>
          <p:cNvSpPr/>
          <p:nvPr/>
        </p:nvSpPr>
        <p:spPr>
          <a:xfrm>
            <a:off x="365760" y="3941064"/>
            <a:ext cx="2743200" cy="45600"/>
          </a:xfrm>
          <a:prstGeom prst="rect">
            <a:avLst/>
          </a:prstGeom>
          <a:solidFill>
            <a:srgbClr val="4C8B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33"/>
          <p:cNvSpPr/>
          <p:nvPr/>
        </p:nvSpPr>
        <p:spPr>
          <a:xfrm>
            <a:off x="502920" y="4032504"/>
            <a:ext cx="2469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4C8BF5"/>
                </a:solidFill>
                <a:latin typeface="Arial"/>
                <a:ea typeface="Arial"/>
                <a:cs typeface="Arial"/>
                <a:sym typeface="Arial"/>
              </a:rPr>
              <a:t>GP-MoLFormer</a:t>
            </a:r>
            <a:endParaRPr b="0" i="0" sz="1300" u="none" cap="none" strike="noStrike">
              <a:solidFill>
                <a:srgbClr val="000000"/>
              </a:solidFill>
              <a:latin typeface="Arial"/>
              <a:ea typeface="Arial"/>
              <a:cs typeface="Arial"/>
              <a:sym typeface="Arial"/>
            </a:endParaRPr>
          </a:p>
        </p:txBody>
      </p:sp>
      <p:sp>
        <p:nvSpPr>
          <p:cNvPr id="402" name="Google Shape;402;p33"/>
          <p:cNvSpPr/>
          <p:nvPr/>
        </p:nvSpPr>
        <p:spPr>
          <a:xfrm>
            <a:off x="502920" y="4288536"/>
            <a:ext cx="2469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66666"/>
                </a:solidFill>
                <a:latin typeface="Arial"/>
                <a:ea typeface="Arial"/>
                <a:cs typeface="Arial"/>
                <a:sym typeface="Arial"/>
              </a:rPr>
              <a:t>46.8M params</a:t>
            </a:r>
            <a:endParaRPr b="0" i="0" sz="900" u="none" cap="none" strike="noStrike">
              <a:solidFill>
                <a:srgbClr val="000000"/>
              </a:solidFill>
              <a:latin typeface="Arial"/>
              <a:ea typeface="Arial"/>
              <a:cs typeface="Arial"/>
              <a:sym typeface="Arial"/>
            </a:endParaRPr>
          </a:p>
        </p:txBody>
      </p:sp>
      <p:sp>
        <p:nvSpPr>
          <p:cNvPr id="403" name="Google Shape;403;p33"/>
          <p:cNvSpPr/>
          <p:nvPr/>
        </p:nvSpPr>
        <p:spPr>
          <a:xfrm>
            <a:off x="502920" y="4489704"/>
            <a:ext cx="2469000" cy="55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Foundation model pre-trained on 1B SMILES. High QED drug-likeness but low NP-likeness.</a:t>
            </a:r>
            <a:endParaRPr b="0" i="0" sz="1000" u="none" cap="none" strike="noStrike">
              <a:solidFill>
                <a:srgbClr val="000000"/>
              </a:solidFill>
              <a:latin typeface="Arial"/>
              <a:ea typeface="Arial"/>
              <a:cs typeface="Arial"/>
              <a:sym typeface="Arial"/>
            </a:endParaRPr>
          </a:p>
        </p:txBody>
      </p:sp>
      <p:sp>
        <p:nvSpPr>
          <p:cNvPr id="404" name="Google Shape;404;p33"/>
          <p:cNvSpPr/>
          <p:nvPr/>
        </p:nvSpPr>
        <p:spPr>
          <a:xfrm>
            <a:off x="3246120" y="3941064"/>
            <a:ext cx="2743200" cy="1106400"/>
          </a:xfrm>
          <a:prstGeom prst="rect">
            <a:avLst/>
          </a:prstGeom>
          <a:solidFill>
            <a:srgbClr val="F5F5F5"/>
          </a:solidFill>
          <a:ln>
            <a:noFill/>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33"/>
          <p:cNvSpPr/>
          <p:nvPr/>
        </p:nvSpPr>
        <p:spPr>
          <a:xfrm>
            <a:off x="3246120" y="3941064"/>
            <a:ext cx="2743200" cy="45600"/>
          </a:xfrm>
          <a:prstGeom prst="rect">
            <a:avLst/>
          </a:prstGeom>
          <a:solidFill>
            <a:srgbClr val="F553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33"/>
          <p:cNvSpPr/>
          <p:nvPr/>
        </p:nvSpPr>
        <p:spPr>
          <a:xfrm>
            <a:off x="3383280" y="4032504"/>
            <a:ext cx="2469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5534C"/>
                </a:solidFill>
                <a:latin typeface="Arial"/>
                <a:ea typeface="Arial"/>
                <a:cs typeface="Arial"/>
                <a:sym typeface="Arial"/>
              </a:rPr>
              <a:t>NPGPT-RL</a:t>
            </a:r>
            <a:endParaRPr b="0" i="0" sz="1300" u="none" cap="none" strike="noStrike">
              <a:solidFill>
                <a:srgbClr val="000000"/>
              </a:solidFill>
              <a:latin typeface="Arial"/>
              <a:ea typeface="Arial"/>
              <a:cs typeface="Arial"/>
              <a:sym typeface="Arial"/>
            </a:endParaRPr>
          </a:p>
        </p:txBody>
      </p:sp>
      <p:sp>
        <p:nvSpPr>
          <p:cNvPr id="407" name="Google Shape;407;p33"/>
          <p:cNvSpPr/>
          <p:nvPr/>
        </p:nvSpPr>
        <p:spPr>
          <a:xfrm>
            <a:off x="3383280" y="4288536"/>
            <a:ext cx="2469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66666"/>
                </a:solidFill>
                <a:latin typeface="Arial"/>
                <a:ea typeface="Arial"/>
                <a:cs typeface="Arial"/>
                <a:sym typeface="Arial"/>
              </a:rPr>
              <a:t>2.6M + RL</a:t>
            </a:r>
            <a:endParaRPr b="0" i="0" sz="900" u="none" cap="none" strike="noStrike">
              <a:solidFill>
                <a:srgbClr val="000000"/>
              </a:solidFill>
              <a:latin typeface="Arial"/>
              <a:ea typeface="Arial"/>
              <a:cs typeface="Arial"/>
              <a:sym typeface="Arial"/>
            </a:endParaRPr>
          </a:p>
        </p:txBody>
      </p:sp>
      <p:sp>
        <p:nvSpPr>
          <p:cNvPr id="408" name="Google Shape;408;p33"/>
          <p:cNvSpPr/>
          <p:nvPr/>
        </p:nvSpPr>
        <p:spPr>
          <a:xfrm>
            <a:off x="3383280" y="4489704"/>
            <a:ext cx="2469000" cy="55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RL-optimized for multi-objective rewards. Best validity (94%) and NP-likeness.</a:t>
            </a:r>
            <a:endParaRPr b="0" i="0" sz="1000" u="none" cap="none" strike="noStrike">
              <a:solidFill>
                <a:srgbClr val="000000"/>
              </a:solidFill>
              <a:latin typeface="Arial"/>
              <a:ea typeface="Arial"/>
              <a:cs typeface="Arial"/>
              <a:sym typeface="Arial"/>
            </a:endParaRPr>
          </a:p>
        </p:txBody>
      </p:sp>
      <p:sp>
        <p:nvSpPr>
          <p:cNvPr id="409" name="Google Shape;409;p33"/>
          <p:cNvSpPr/>
          <p:nvPr/>
        </p:nvSpPr>
        <p:spPr>
          <a:xfrm>
            <a:off x="6126480" y="3941064"/>
            <a:ext cx="2743200" cy="1106400"/>
          </a:xfrm>
          <a:prstGeom prst="rect">
            <a:avLst/>
          </a:prstGeom>
          <a:solidFill>
            <a:srgbClr val="F5F5F5"/>
          </a:solidFill>
          <a:ln>
            <a:noFill/>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33"/>
          <p:cNvSpPr/>
          <p:nvPr/>
        </p:nvSpPr>
        <p:spPr>
          <a:xfrm>
            <a:off x="6126480" y="3941064"/>
            <a:ext cx="2743200" cy="4560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33"/>
          <p:cNvSpPr/>
          <p:nvPr/>
        </p:nvSpPr>
        <p:spPr>
          <a:xfrm>
            <a:off x="6263640" y="4032504"/>
            <a:ext cx="2469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2E7D32"/>
                </a:solidFill>
                <a:latin typeface="Arial"/>
                <a:ea typeface="Arial"/>
                <a:cs typeface="Arial"/>
                <a:sym typeface="Arial"/>
              </a:rPr>
              <a:t>NPComposer</a:t>
            </a:r>
            <a:endParaRPr b="0" i="0" sz="1300" u="none" cap="none" strike="noStrike">
              <a:solidFill>
                <a:srgbClr val="000000"/>
              </a:solidFill>
              <a:latin typeface="Arial"/>
              <a:ea typeface="Arial"/>
              <a:cs typeface="Arial"/>
              <a:sym typeface="Arial"/>
            </a:endParaRPr>
          </a:p>
        </p:txBody>
      </p:sp>
      <p:sp>
        <p:nvSpPr>
          <p:cNvPr id="412" name="Google Shape;412;p33"/>
          <p:cNvSpPr/>
          <p:nvPr/>
        </p:nvSpPr>
        <p:spPr>
          <a:xfrm>
            <a:off x="6263640" y="4288536"/>
            <a:ext cx="2469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66666"/>
                </a:solidFill>
                <a:latin typeface="Arial"/>
                <a:ea typeface="Arial"/>
                <a:cs typeface="Arial"/>
                <a:sym typeface="Arial"/>
              </a:rPr>
              <a:t>46.8M + SFT</a:t>
            </a:r>
            <a:endParaRPr b="0" i="0" sz="900" u="none" cap="none" strike="noStrike">
              <a:solidFill>
                <a:srgbClr val="000000"/>
              </a:solidFill>
              <a:latin typeface="Arial"/>
              <a:ea typeface="Arial"/>
              <a:cs typeface="Arial"/>
              <a:sym typeface="Arial"/>
            </a:endParaRPr>
          </a:p>
        </p:txBody>
      </p:sp>
      <p:sp>
        <p:nvSpPr>
          <p:cNvPr id="413" name="Google Shape;413;p33"/>
          <p:cNvSpPr/>
          <p:nvPr/>
        </p:nvSpPr>
        <p:spPr>
          <a:xfrm>
            <a:off x="6263640" y="4489704"/>
            <a:ext cx="2469000" cy="55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Conditional generation with pathway/QED/SA tokens. Best QED, SA scores and structural diversity.</a:t>
            </a:r>
            <a:endParaRPr b="0" i="0" sz="1000" u="none" cap="none" strike="noStrike">
              <a:solidFill>
                <a:srgbClr val="000000"/>
              </a:solidFill>
              <a:latin typeface="Arial"/>
              <a:ea typeface="Arial"/>
              <a:cs typeface="Arial"/>
              <a:sym typeface="Arial"/>
            </a:endParaRPr>
          </a:p>
        </p:txBody>
      </p:sp>
      <p:pic>
        <p:nvPicPr>
          <p:cNvPr id="414" name="Google Shape;414;p33"/>
          <p:cNvPicPr preferRelativeResize="0"/>
          <p:nvPr/>
        </p:nvPicPr>
        <p:blipFill rotWithShape="1">
          <a:blip r:embed="rId3">
            <a:alphaModFix/>
          </a:blip>
          <a:srcRect b="0" l="0" r="0" t="0"/>
          <a:stretch/>
        </p:blipFill>
        <p:spPr>
          <a:xfrm>
            <a:off x="-1" y="914256"/>
            <a:ext cx="9148523" cy="282563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4"/>
          <p:cNvSpPr/>
          <p:nvPr/>
        </p:nvSpPr>
        <p:spPr>
          <a:xfrm>
            <a:off x="457200" y="137160"/>
            <a:ext cx="82296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1A1A1A"/>
                </a:solidFill>
                <a:latin typeface="Arial"/>
                <a:ea typeface="Arial"/>
                <a:cs typeface="Arial"/>
                <a:sym typeface="Arial"/>
              </a:rPr>
              <a:t>NPComposer: An Open Platform for NP Generation</a:t>
            </a:r>
            <a:endParaRPr b="0" i="0" sz="2600" u="none" cap="none" strike="noStrike">
              <a:solidFill>
                <a:srgbClr val="000000"/>
              </a:solidFill>
              <a:latin typeface="Arial"/>
              <a:ea typeface="Arial"/>
              <a:cs typeface="Arial"/>
              <a:sym typeface="Arial"/>
            </a:endParaRPr>
          </a:p>
        </p:txBody>
      </p:sp>
      <p:sp>
        <p:nvSpPr>
          <p:cNvPr id="420" name="Google Shape;420;p34"/>
          <p:cNvSpPr/>
          <p:nvPr/>
        </p:nvSpPr>
        <p:spPr>
          <a:xfrm>
            <a:off x="457200" y="640080"/>
            <a:ext cx="8229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666666"/>
                </a:solidFill>
                <a:latin typeface="Arial"/>
                <a:ea typeface="Arial"/>
                <a:cs typeface="Arial"/>
                <a:sym typeface="Arial"/>
              </a:rPr>
              <a:t>A unified, automated framework where anyone can develop, train, and evaluate NP generation models</a:t>
            </a:r>
            <a:endParaRPr b="0" i="0" sz="1300" u="none" cap="none" strike="noStrike">
              <a:solidFill>
                <a:srgbClr val="000000"/>
              </a:solidFill>
              <a:latin typeface="Arial"/>
              <a:ea typeface="Arial"/>
              <a:cs typeface="Arial"/>
              <a:sym typeface="Arial"/>
            </a:endParaRPr>
          </a:p>
        </p:txBody>
      </p:sp>
      <p:sp>
        <p:nvSpPr>
          <p:cNvPr id="421" name="Google Shape;421;p34"/>
          <p:cNvSpPr/>
          <p:nvPr/>
        </p:nvSpPr>
        <p:spPr>
          <a:xfrm>
            <a:off x="274320" y="1325880"/>
            <a:ext cx="1554600" cy="1920300"/>
          </a:xfrm>
          <a:prstGeom prst="rect">
            <a:avLst/>
          </a:prstGeom>
          <a:solidFill>
            <a:srgbClr val="FFFFFF"/>
          </a:solidFill>
          <a:ln cap="flat" cmpd="sng" w="19050">
            <a:solidFill>
              <a:srgbClr val="1565C0"/>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34"/>
          <p:cNvSpPr/>
          <p:nvPr/>
        </p:nvSpPr>
        <p:spPr>
          <a:xfrm>
            <a:off x="274320" y="1325880"/>
            <a:ext cx="1554600" cy="365700"/>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34"/>
          <p:cNvSpPr/>
          <p:nvPr/>
        </p:nvSpPr>
        <p:spPr>
          <a:xfrm>
            <a:off x="274320" y="1325880"/>
            <a:ext cx="15546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Arial"/>
                <a:ea typeface="Arial"/>
                <a:cs typeface="Arial"/>
                <a:sym typeface="Arial"/>
              </a:rPr>
              <a:t>Databases</a:t>
            </a:r>
            <a:endParaRPr b="0" i="0" sz="1200" u="none" cap="none" strike="noStrike">
              <a:solidFill>
                <a:srgbClr val="000000"/>
              </a:solidFill>
              <a:latin typeface="Arial"/>
              <a:ea typeface="Arial"/>
              <a:cs typeface="Arial"/>
              <a:sym typeface="Arial"/>
            </a:endParaRPr>
          </a:p>
        </p:txBody>
      </p:sp>
      <p:sp>
        <p:nvSpPr>
          <p:cNvPr id="424" name="Google Shape;424;p34"/>
          <p:cNvSpPr/>
          <p:nvPr/>
        </p:nvSpPr>
        <p:spPr>
          <a:xfrm>
            <a:off x="365760" y="1783080"/>
            <a:ext cx="13716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COCONUT 715K</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NPASS 203K</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NP-Drug 3K</a:t>
            </a:r>
            <a:endParaRPr b="0" i="0" sz="1000" u="none" cap="none" strike="noStrike">
              <a:solidFill>
                <a:srgbClr val="000000"/>
              </a:solidFill>
              <a:latin typeface="Arial"/>
              <a:ea typeface="Arial"/>
              <a:cs typeface="Arial"/>
              <a:sym typeface="Arial"/>
            </a:endParaRPr>
          </a:p>
        </p:txBody>
      </p:sp>
      <p:cxnSp>
        <p:nvCxnSpPr>
          <p:cNvPr id="425" name="Google Shape;425;p34"/>
          <p:cNvCxnSpPr/>
          <p:nvPr/>
        </p:nvCxnSpPr>
        <p:spPr>
          <a:xfrm>
            <a:off x="1828800" y="2286000"/>
            <a:ext cx="201300" cy="0"/>
          </a:xfrm>
          <a:prstGeom prst="straightConnector1">
            <a:avLst/>
          </a:prstGeom>
          <a:noFill/>
          <a:ln cap="flat" cmpd="sng" w="25400">
            <a:solidFill>
              <a:srgbClr val="AAAAAA"/>
            </a:solidFill>
            <a:prstDash val="solid"/>
            <a:round/>
            <a:headEnd len="sm" w="sm" type="none"/>
            <a:tailEnd len="sm" w="sm" type="none"/>
          </a:ln>
        </p:spPr>
      </p:cxnSp>
      <p:sp>
        <p:nvSpPr>
          <p:cNvPr id="426" name="Google Shape;426;p34"/>
          <p:cNvSpPr/>
          <p:nvPr/>
        </p:nvSpPr>
        <p:spPr>
          <a:xfrm>
            <a:off x="2029968" y="1325880"/>
            <a:ext cx="1554600" cy="1920300"/>
          </a:xfrm>
          <a:prstGeom prst="rect">
            <a:avLst/>
          </a:prstGeom>
          <a:solidFill>
            <a:srgbClr val="FFFFFF"/>
          </a:solidFill>
          <a:ln cap="flat" cmpd="sng" w="19050">
            <a:solidFill>
              <a:srgbClr val="00838F"/>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34"/>
          <p:cNvSpPr/>
          <p:nvPr/>
        </p:nvSpPr>
        <p:spPr>
          <a:xfrm>
            <a:off x="2029968" y="1325880"/>
            <a:ext cx="1554600" cy="365700"/>
          </a:xfrm>
          <a:prstGeom prst="rect">
            <a:avLst/>
          </a:prstGeom>
          <a:solidFill>
            <a:srgbClr val="00838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34"/>
          <p:cNvSpPr/>
          <p:nvPr/>
        </p:nvSpPr>
        <p:spPr>
          <a:xfrm>
            <a:off x="2029968" y="1325880"/>
            <a:ext cx="15546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Arial"/>
                <a:ea typeface="Arial"/>
                <a:cs typeface="Arial"/>
                <a:sym typeface="Arial"/>
              </a:rPr>
              <a:t>Processing</a:t>
            </a:r>
            <a:endParaRPr b="0" i="0" sz="1200" u="none" cap="none" strike="noStrike">
              <a:solidFill>
                <a:srgbClr val="000000"/>
              </a:solidFill>
              <a:latin typeface="Arial"/>
              <a:ea typeface="Arial"/>
              <a:cs typeface="Arial"/>
              <a:sym typeface="Arial"/>
            </a:endParaRPr>
          </a:p>
        </p:txBody>
      </p:sp>
      <p:sp>
        <p:nvSpPr>
          <p:cNvPr id="429" name="Google Shape;429;p34"/>
          <p:cNvSpPr/>
          <p:nvPr/>
        </p:nvSpPr>
        <p:spPr>
          <a:xfrm>
            <a:off x="2121408" y="1783080"/>
            <a:ext cx="13716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K-means subset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SA/QED filter</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Train/Val/Test</a:t>
            </a:r>
            <a:endParaRPr b="0" i="0" sz="1000" u="none" cap="none" strike="noStrike">
              <a:solidFill>
                <a:srgbClr val="000000"/>
              </a:solidFill>
              <a:latin typeface="Arial"/>
              <a:ea typeface="Arial"/>
              <a:cs typeface="Arial"/>
              <a:sym typeface="Arial"/>
            </a:endParaRPr>
          </a:p>
        </p:txBody>
      </p:sp>
      <p:cxnSp>
        <p:nvCxnSpPr>
          <p:cNvPr id="430" name="Google Shape;430;p34"/>
          <p:cNvCxnSpPr/>
          <p:nvPr/>
        </p:nvCxnSpPr>
        <p:spPr>
          <a:xfrm>
            <a:off x="3584448" y="2286000"/>
            <a:ext cx="201300" cy="0"/>
          </a:xfrm>
          <a:prstGeom prst="straightConnector1">
            <a:avLst/>
          </a:prstGeom>
          <a:noFill/>
          <a:ln cap="flat" cmpd="sng" w="25400">
            <a:solidFill>
              <a:srgbClr val="AAAAAA"/>
            </a:solidFill>
            <a:prstDash val="solid"/>
            <a:round/>
            <a:headEnd len="sm" w="sm" type="none"/>
            <a:tailEnd len="sm" w="sm" type="none"/>
          </a:ln>
        </p:spPr>
      </p:cxnSp>
      <p:sp>
        <p:nvSpPr>
          <p:cNvPr id="431" name="Google Shape;431;p34"/>
          <p:cNvSpPr/>
          <p:nvPr/>
        </p:nvSpPr>
        <p:spPr>
          <a:xfrm>
            <a:off x="3785616" y="1325880"/>
            <a:ext cx="1554600" cy="1920300"/>
          </a:xfrm>
          <a:prstGeom prst="rect">
            <a:avLst/>
          </a:prstGeom>
          <a:solidFill>
            <a:srgbClr val="FFFFFF"/>
          </a:solidFill>
          <a:ln cap="flat" cmpd="sng" w="19050">
            <a:solidFill>
              <a:srgbClr val="2E7D32"/>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34"/>
          <p:cNvSpPr/>
          <p:nvPr/>
        </p:nvSpPr>
        <p:spPr>
          <a:xfrm>
            <a:off x="3785616" y="1325880"/>
            <a:ext cx="1554600" cy="36570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34"/>
          <p:cNvSpPr/>
          <p:nvPr/>
        </p:nvSpPr>
        <p:spPr>
          <a:xfrm>
            <a:off x="3785616" y="1325880"/>
            <a:ext cx="15546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Arial"/>
                <a:ea typeface="Arial"/>
                <a:cs typeface="Arial"/>
                <a:sym typeface="Arial"/>
              </a:rPr>
              <a:t>Models</a:t>
            </a:r>
            <a:endParaRPr b="0" i="0" sz="1200" u="none" cap="none" strike="noStrike">
              <a:solidFill>
                <a:srgbClr val="000000"/>
              </a:solidFill>
              <a:latin typeface="Arial"/>
              <a:ea typeface="Arial"/>
              <a:cs typeface="Arial"/>
              <a:sym typeface="Arial"/>
            </a:endParaRPr>
          </a:p>
        </p:txBody>
      </p:sp>
      <p:sp>
        <p:nvSpPr>
          <p:cNvPr id="434" name="Google Shape;434;p34"/>
          <p:cNvSpPr/>
          <p:nvPr/>
        </p:nvSpPr>
        <p:spPr>
          <a:xfrm>
            <a:off x="3877056" y="1783080"/>
            <a:ext cx="13716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NPComposer</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NPGPT-RL</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GP-MoLFormer</a:t>
            </a:r>
            <a:endParaRPr b="0" i="0" sz="1000" u="none" cap="none" strike="noStrike">
              <a:solidFill>
                <a:srgbClr val="444444"/>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NPGPT</a:t>
            </a:r>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cxnSp>
        <p:nvCxnSpPr>
          <p:cNvPr id="435" name="Google Shape;435;p34"/>
          <p:cNvCxnSpPr/>
          <p:nvPr/>
        </p:nvCxnSpPr>
        <p:spPr>
          <a:xfrm>
            <a:off x="5340096" y="2286000"/>
            <a:ext cx="201300" cy="0"/>
          </a:xfrm>
          <a:prstGeom prst="straightConnector1">
            <a:avLst/>
          </a:prstGeom>
          <a:noFill/>
          <a:ln cap="flat" cmpd="sng" w="25400">
            <a:solidFill>
              <a:srgbClr val="AAAAAA"/>
            </a:solidFill>
            <a:prstDash val="solid"/>
            <a:round/>
            <a:headEnd len="sm" w="sm" type="none"/>
            <a:tailEnd len="sm" w="sm" type="none"/>
          </a:ln>
        </p:spPr>
      </p:cxnSp>
      <p:sp>
        <p:nvSpPr>
          <p:cNvPr id="436" name="Google Shape;436;p34"/>
          <p:cNvSpPr/>
          <p:nvPr/>
        </p:nvSpPr>
        <p:spPr>
          <a:xfrm>
            <a:off x="5541264" y="1325880"/>
            <a:ext cx="1554600" cy="1920300"/>
          </a:xfrm>
          <a:prstGeom prst="rect">
            <a:avLst/>
          </a:prstGeom>
          <a:solidFill>
            <a:srgbClr val="FFFFFF"/>
          </a:solidFill>
          <a:ln cap="flat" cmpd="sng" w="19050">
            <a:solidFill>
              <a:srgbClr val="E65100"/>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34"/>
          <p:cNvSpPr/>
          <p:nvPr/>
        </p:nvSpPr>
        <p:spPr>
          <a:xfrm>
            <a:off x="5541264" y="1325880"/>
            <a:ext cx="1554600" cy="365700"/>
          </a:xfrm>
          <a:prstGeom prst="rect">
            <a:avLst/>
          </a:prstGeom>
          <a:solidFill>
            <a:srgbClr val="E651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34"/>
          <p:cNvSpPr/>
          <p:nvPr/>
        </p:nvSpPr>
        <p:spPr>
          <a:xfrm>
            <a:off x="5541264" y="1325880"/>
            <a:ext cx="15546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Arial"/>
                <a:ea typeface="Arial"/>
                <a:cs typeface="Arial"/>
                <a:sym typeface="Arial"/>
              </a:rPr>
              <a:t>Evaluation</a:t>
            </a:r>
            <a:endParaRPr b="0" i="0" sz="1200" u="none" cap="none" strike="noStrike">
              <a:solidFill>
                <a:srgbClr val="000000"/>
              </a:solidFill>
              <a:latin typeface="Arial"/>
              <a:ea typeface="Arial"/>
              <a:cs typeface="Arial"/>
              <a:sym typeface="Arial"/>
            </a:endParaRPr>
          </a:p>
        </p:txBody>
      </p:sp>
      <p:sp>
        <p:nvSpPr>
          <p:cNvPr id="439" name="Google Shape;439;p34"/>
          <p:cNvSpPr/>
          <p:nvPr/>
        </p:nvSpPr>
        <p:spPr>
          <a:xfrm>
            <a:off x="5632704" y="1783080"/>
            <a:ext cx="13716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Validity, QED, SA</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NP-likeness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Pathway accuracy</a:t>
            </a:r>
            <a:endParaRPr b="0" i="0" sz="1000" u="none" cap="none" strike="noStrike">
              <a:solidFill>
                <a:srgbClr val="000000"/>
              </a:solidFill>
              <a:latin typeface="Arial"/>
              <a:ea typeface="Arial"/>
              <a:cs typeface="Arial"/>
              <a:sym typeface="Arial"/>
            </a:endParaRPr>
          </a:p>
        </p:txBody>
      </p:sp>
      <p:cxnSp>
        <p:nvCxnSpPr>
          <p:cNvPr id="440" name="Google Shape;440;p34"/>
          <p:cNvCxnSpPr/>
          <p:nvPr/>
        </p:nvCxnSpPr>
        <p:spPr>
          <a:xfrm>
            <a:off x="7095744" y="2286000"/>
            <a:ext cx="201300" cy="0"/>
          </a:xfrm>
          <a:prstGeom prst="straightConnector1">
            <a:avLst/>
          </a:prstGeom>
          <a:noFill/>
          <a:ln cap="flat" cmpd="sng" w="25400">
            <a:solidFill>
              <a:srgbClr val="AAAAAA"/>
            </a:solidFill>
            <a:prstDash val="solid"/>
            <a:round/>
            <a:headEnd len="sm" w="sm" type="none"/>
            <a:tailEnd len="sm" w="sm" type="none"/>
          </a:ln>
        </p:spPr>
      </p:cxnSp>
      <p:sp>
        <p:nvSpPr>
          <p:cNvPr id="441" name="Google Shape;441;p34"/>
          <p:cNvSpPr/>
          <p:nvPr/>
        </p:nvSpPr>
        <p:spPr>
          <a:xfrm>
            <a:off x="7296912" y="1325880"/>
            <a:ext cx="1554600" cy="1920300"/>
          </a:xfrm>
          <a:prstGeom prst="rect">
            <a:avLst/>
          </a:prstGeom>
          <a:solidFill>
            <a:srgbClr val="FFFFFF"/>
          </a:solidFill>
          <a:ln cap="flat" cmpd="sng" w="19050">
            <a:solidFill>
              <a:srgbClr val="6A1B9A"/>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34"/>
          <p:cNvSpPr/>
          <p:nvPr/>
        </p:nvSpPr>
        <p:spPr>
          <a:xfrm>
            <a:off x="7296912" y="1325880"/>
            <a:ext cx="1554600" cy="365700"/>
          </a:xfrm>
          <a:prstGeom prst="rect">
            <a:avLst/>
          </a:prstGeom>
          <a:solidFill>
            <a:srgbClr val="6A1B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34"/>
          <p:cNvSpPr/>
          <p:nvPr/>
        </p:nvSpPr>
        <p:spPr>
          <a:xfrm>
            <a:off x="7296912" y="1325880"/>
            <a:ext cx="15546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Arial"/>
                <a:ea typeface="Arial"/>
                <a:cs typeface="Arial"/>
                <a:sym typeface="Arial"/>
              </a:rPr>
              <a:t>Generation</a:t>
            </a:r>
            <a:endParaRPr b="0" i="0" sz="1200" u="none" cap="none" strike="noStrike">
              <a:solidFill>
                <a:srgbClr val="000000"/>
              </a:solidFill>
              <a:latin typeface="Arial"/>
              <a:ea typeface="Arial"/>
              <a:cs typeface="Arial"/>
              <a:sym typeface="Arial"/>
            </a:endParaRPr>
          </a:p>
        </p:txBody>
      </p:sp>
      <p:sp>
        <p:nvSpPr>
          <p:cNvPr id="444" name="Google Shape;444;p34"/>
          <p:cNvSpPr/>
          <p:nvPr/>
        </p:nvSpPr>
        <p:spPr>
          <a:xfrm>
            <a:off x="7388352" y="1783080"/>
            <a:ext cx="13716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Conditional</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Unconditional</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444444"/>
                </a:solidFill>
                <a:latin typeface="Arial"/>
                <a:ea typeface="Arial"/>
                <a:cs typeface="Arial"/>
                <a:sym typeface="Arial"/>
              </a:rPr>
              <a:t>Visualization</a:t>
            </a:r>
            <a:endParaRPr b="0" i="0" sz="1000" u="none" cap="none" strike="noStrike">
              <a:solidFill>
                <a:srgbClr val="000000"/>
              </a:solidFill>
              <a:latin typeface="Arial"/>
              <a:ea typeface="Arial"/>
              <a:cs typeface="Arial"/>
              <a:sym typeface="Arial"/>
            </a:endParaRPr>
          </a:p>
        </p:txBody>
      </p:sp>
      <p:sp>
        <p:nvSpPr>
          <p:cNvPr id="445" name="Google Shape;445;p34"/>
          <p:cNvSpPr/>
          <p:nvPr/>
        </p:nvSpPr>
        <p:spPr>
          <a:xfrm>
            <a:off x="274320" y="3520440"/>
            <a:ext cx="8595300" cy="1417200"/>
          </a:xfrm>
          <a:prstGeom prst="rect">
            <a:avLst/>
          </a:prstGeom>
          <a:solidFill>
            <a:srgbClr val="2C3E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34"/>
          <p:cNvSpPr/>
          <p:nvPr/>
        </p:nvSpPr>
        <p:spPr>
          <a:xfrm>
            <a:off x="457200" y="3611880"/>
            <a:ext cx="1920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4CAF50"/>
                </a:solidFill>
                <a:latin typeface="Arial"/>
                <a:ea typeface="Arial"/>
                <a:cs typeface="Arial"/>
                <a:sym typeface="Arial"/>
              </a:rPr>
              <a:t>Automated Pipeline</a:t>
            </a:r>
            <a:endParaRPr b="0" i="0" sz="1100" u="none" cap="none" strike="noStrike">
              <a:solidFill>
                <a:srgbClr val="000000"/>
              </a:solidFill>
              <a:latin typeface="Arial"/>
              <a:ea typeface="Arial"/>
              <a:cs typeface="Arial"/>
              <a:sym typeface="Arial"/>
            </a:endParaRPr>
          </a:p>
        </p:txBody>
      </p:sp>
      <p:sp>
        <p:nvSpPr>
          <p:cNvPr id="447" name="Google Shape;447;p34"/>
          <p:cNvSpPr/>
          <p:nvPr/>
        </p:nvSpPr>
        <p:spPr>
          <a:xfrm>
            <a:off x="457200" y="3931920"/>
            <a:ext cx="1920300" cy="86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CCCCCC"/>
                </a:solidFill>
                <a:latin typeface="Arial"/>
                <a:ea typeface="Arial"/>
                <a:cs typeface="Arial"/>
                <a:sym typeface="Arial"/>
              </a:rPr>
              <a:t>make setup -&gt; download -&gt; pipeline -&gt; train -&gt; evaluate — one-command workflow</a:t>
            </a:r>
            <a:endParaRPr b="0" i="0" sz="900" u="none" cap="none" strike="noStrike">
              <a:solidFill>
                <a:srgbClr val="000000"/>
              </a:solidFill>
              <a:latin typeface="Arial"/>
              <a:ea typeface="Arial"/>
              <a:cs typeface="Arial"/>
              <a:sym typeface="Arial"/>
            </a:endParaRPr>
          </a:p>
        </p:txBody>
      </p:sp>
      <p:sp>
        <p:nvSpPr>
          <p:cNvPr id="448" name="Google Shape;448;p34"/>
          <p:cNvSpPr/>
          <p:nvPr/>
        </p:nvSpPr>
        <p:spPr>
          <a:xfrm>
            <a:off x="2606040" y="3611880"/>
            <a:ext cx="1920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4CAF50"/>
                </a:solidFill>
                <a:latin typeface="Arial"/>
                <a:ea typeface="Arial"/>
                <a:cs typeface="Arial"/>
                <a:sym typeface="Arial"/>
              </a:rPr>
              <a:t>Extensible Models</a:t>
            </a:r>
            <a:endParaRPr b="0" i="0" sz="1100" u="none" cap="none" strike="noStrike">
              <a:solidFill>
                <a:srgbClr val="000000"/>
              </a:solidFill>
              <a:latin typeface="Arial"/>
              <a:ea typeface="Arial"/>
              <a:cs typeface="Arial"/>
              <a:sym typeface="Arial"/>
            </a:endParaRPr>
          </a:p>
        </p:txBody>
      </p:sp>
      <p:sp>
        <p:nvSpPr>
          <p:cNvPr id="449" name="Google Shape;449;p34"/>
          <p:cNvSpPr/>
          <p:nvPr/>
        </p:nvSpPr>
        <p:spPr>
          <a:xfrm>
            <a:off x="2606040" y="3931920"/>
            <a:ext cx="1920300" cy="86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CCCCCC"/>
                </a:solidFill>
                <a:latin typeface="Arial"/>
                <a:ea typeface="Arial"/>
                <a:cs typeface="Arial"/>
                <a:sym typeface="Arial"/>
              </a:rPr>
              <a:t>Add your own model: implement generate() and plug into unified evaluation</a:t>
            </a:r>
            <a:endParaRPr b="0" i="0" sz="900" u="none" cap="none" strike="noStrike">
              <a:solidFill>
                <a:srgbClr val="000000"/>
              </a:solidFill>
              <a:latin typeface="Arial"/>
              <a:ea typeface="Arial"/>
              <a:cs typeface="Arial"/>
              <a:sym typeface="Arial"/>
            </a:endParaRPr>
          </a:p>
        </p:txBody>
      </p:sp>
      <p:sp>
        <p:nvSpPr>
          <p:cNvPr id="450" name="Google Shape;450;p34"/>
          <p:cNvSpPr/>
          <p:nvPr/>
        </p:nvSpPr>
        <p:spPr>
          <a:xfrm>
            <a:off x="4754880" y="3611880"/>
            <a:ext cx="1920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4CAF50"/>
                </a:solidFill>
                <a:latin typeface="Arial"/>
                <a:ea typeface="Arial"/>
                <a:cs typeface="Arial"/>
                <a:sym typeface="Arial"/>
              </a:rPr>
              <a:t>Comprehensive Eval</a:t>
            </a:r>
            <a:endParaRPr b="0" i="0" sz="1100" u="none" cap="none" strike="noStrike">
              <a:solidFill>
                <a:srgbClr val="000000"/>
              </a:solidFill>
              <a:latin typeface="Arial"/>
              <a:ea typeface="Arial"/>
              <a:cs typeface="Arial"/>
              <a:sym typeface="Arial"/>
            </a:endParaRPr>
          </a:p>
        </p:txBody>
      </p:sp>
      <p:sp>
        <p:nvSpPr>
          <p:cNvPr id="451" name="Google Shape;451;p34"/>
          <p:cNvSpPr/>
          <p:nvPr/>
        </p:nvSpPr>
        <p:spPr>
          <a:xfrm>
            <a:off x="4754880" y="3931920"/>
            <a:ext cx="1920300" cy="86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CCCCCC"/>
                </a:solidFill>
                <a:latin typeface="Arial"/>
                <a:ea typeface="Arial"/>
                <a:cs typeface="Arial"/>
                <a:sym typeface="Arial"/>
              </a:rPr>
              <a:t>Validity, QED, SA, NP-likeness, diversity, novelty, pathway classification</a:t>
            </a:r>
            <a:endParaRPr b="0" i="0" sz="900" u="none" cap="none" strike="noStrike">
              <a:solidFill>
                <a:srgbClr val="000000"/>
              </a:solidFill>
              <a:latin typeface="Arial"/>
              <a:ea typeface="Arial"/>
              <a:cs typeface="Arial"/>
              <a:sym typeface="Arial"/>
            </a:endParaRPr>
          </a:p>
        </p:txBody>
      </p:sp>
      <p:sp>
        <p:nvSpPr>
          <p:cNvPr id="452" name="Google Shape;452;p34"/>
          <p:cNvSpPr/>
          <p:nvPr/>
        </p:nvSpPr>
        <p:spPr>
          <a:xfrm>
            <a:off x="6903720" y="3611880"/>
            <a:ext cx="1920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4CAF50"/>
                </a:solidFill>
                <a:latin typeface="Arial"/>
                <a:ea typeface="Arial"/>
                <a:cs typeface="Arial"/>
                <a:sym typeface="Arial"/>
              </a:rPr>
              <a:t>Open Source</a:t>
            </a:r>
            <a:endParaRPr b="0" i="0" sz="1100" u="none" cap="none" strike="noStrike">
              <a:solidFill>
                <a:srgbClr val="000000"/>
              </a:solidFill>
              <a:latin typeface="Arial"/>
              <a:ea typeface="Arial"/>
              <a:cs typeface="Arial"/>
              <a:sym typeface="Arial"/>
            </a:endParaRPr>
          </a:p>
        </p:txBody>
      </p:sp>
      <p:sp>
        <p:nvSpPr>
          <p:cNvPr id="453" name="Google Shape;453;p34"/>
          <p:cNvSpPr/>
          <p:nvPr/>
        </p:nvSpPr>
        <p:spPr>
          <a:xfrm>
            <a:off x="6903720" y="3931920"/>
            <a:ext cx="1920300" cy="86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CCCCCC"/>
                </a:solidFill>
                <a:latin typeface="Arial"/>
                <a:ea typeface="Arial"/>
                <a:cs typeface="Arial"/>
                <a:sym typeface="Arial"/>
              </a:rPr>
              <a:t>GitHub: shawnralyn/NPComposer — MIT-licensed, contributions welcome</a:t>
            </a:r>
            <a:endParaRPr b="0" i="0" sz="9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