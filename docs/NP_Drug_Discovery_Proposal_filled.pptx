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3qyL499vT6Y0UIcDilbjFKRQF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7e28a29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cb7e28a29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cb7e28a29c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b7e28a29c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cb7e28a29c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b7e28a29c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b7e28a29c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cb7e28a29c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cb7e28a29c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d6468a05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cd6468a05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d6468a05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4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201168" y="822960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"/>
          <p:cNvCxnSpPr/>
          <p:nvPr/>
        </p:nvCxnSpPr>
        <p:spPr>
          <a:xfrm>
            <a:off x="201168" y="1536192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201168" y="2249424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"/>
          <p:cNvCxnSpPr/>
          <p:nvPr/>
        </p:nvCxnSpPr>
        <p:spPr>
          <a:xfrm>
            <a:off x="201168" y="2962656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"/>
          <p:cNvCxnSpPr/>
          <p:nvPr/>
        </p:nvCxnSpPr>
        <p:spPr>
          <a:xfrm>
            <a:off x="201168" y="3675888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201168" y="4389120"/>
            <a:ext cx="8942832" cy="0"/>
          </a:xfrm>
          <a:prstGeom prst="straightConnector1">
            <a:avLst/>
          </a:prstGeom>
          <a:noFill/>
          <a:ln cap="flat" cmpd="sng" w="9525">
            <a:solidFill>
              <a:srgbClr val="FFFFFF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/>
          <p:nvPr/>
        </p:nvSpPr>
        <p:spPr>
          <a:xfrm>
            <a:off x="502920" y="118872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3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Evaluating generative frameworks for n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 xml:space="preserve">atural </a:t>
            </a:r>
            <a:r>
              <a:rPr lang="en-US" sz="3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roduct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3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 xml:space="preserve">rug </a:t>
            </a:r>
            <a:r>
              <a:rPr lang="en-US" sz="3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iscovery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02920" y="2926080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1400"/>
              <a:buFont typeface="Calibri"/>
              <a:buNone/>
            </a:pPr>
            <a:r>
              <a:rPr lang="en-US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Technology evaluation – ChemE 546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502920" y="3794760"/>
            <a:ext cx="3200400" cy="0"/>
          </a:xfrm>
          <a:prstGeom prst="straightConnector1">
            <a:avLst/>
          </a:prstGeom>
          <a:noFill/>
          <a:ln cap="flat" cmpd="sng" w="1905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502920" y="4023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0" lang="en-US" sz="10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Author Name</a:t>
            </a:r>
            <a:r>
              <a:rPr b="0" i="0" lang="en-US" sz="10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 xml:space="preserve">]  ·  </a:t>
            </a:r>
            <a:r>
              <a:rPr lang="en-US" sz="1000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University of Washington</a:t>
            </a:r>
            <a:r>
              <a:rPr b="0" i="0" lang="en-US" sz="10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 xml:space="preserve">  · 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Google Shape;27;p1"/>
          <p:cNvCxnSpPr/>
          <p:nvPr/>
        </p:nvCxnSpPr>
        <p:spPr>
          <a:xfrm>
            <a:off x="7498080" y="914400"/>
            <a:ext cx="822960" cy="100584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 flipH="1">
            <a:off x="6949440" y="914400"/>
            <a:ext cx="548640" cy="128016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"/>
          <p:cNvCxnSpPr/>
          <p:nvPr/>
        </p:nvCxnSpPr>
        <p:spPr>
          <a:xfrm flipH="1">
            <a:off x="7955280" y="1920240"/>
            <a:ext cx="365760" cy="109728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"/>
          <p:cNvCxnSpPr/>
          <p:nvPr/>
        </p:nvCxnSpPr>
        <p:spPr>
          <a:xfrm>
            <a:off x="6949440" y="2194560"/>
            <a:ext cx="1005840" cy="82296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"/>
          <p:cNvCxnSpPr/>
          <p:nvPr/>
        </p:nvCxnSpPr>
        <p:spPr>
          <a:xfrm flipH="1">
            <a:off x="6766560" y="3017520"/>
            <a:ext cx="1188720" cy="45720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1"/>
          <p:cNvCxnSpPr/>
          <p:nvPr/>
        </p:nvCxnSpPr>
        <p:spPr>
          <a:xfrm>
            <a:off x="7955280" y="3017520"/>
            <a:ext cx="548640" cy="731520"/>
          </a:xfrm>
          <a:prstGeom prst="straightConnector1">
            <a:avLst/>
          </a:prstGeom>
          <a:noFill/>
          <a:ln cap="flat" cmpd="sng" w="12700">
            <a:solidFill>
              <a:srgbClr val="3D7A5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1"/>
          <p:cNvSpPr/>
          <p:nvPr/>
        </p:nvSpPr>
        <p:spPr>
          <a:xfrm>
            <a:off x="6995160" y="411480"/>
            <a:ext cx="1005840" cy="1005840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8001000" y="1600200"/>
            <a:ext cx="640080" cy="640080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693408" y="1938528"/>
            <a:ext cx="512064" cy="512064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7543800" y="2606040"/>
            <a:ext cx="822960" cy="822960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565392" y="3273552"/>
            <a:ext cx="402336" cy="402336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229600" y="3474720"/>
            <a:ext cx="548640" cy="548640"/>
          </a:xfrm>
          <a:prstGeom prst="ellipse">
            <a:avLst/>
          </a:prstGeom>
          <a:solidFill>
            <a:srgbClr val="3D7A5E">
              <a:alpha val="34901"/>
            </a:srgbClr>
          </a:solidFill>
          <a:ln cap="flat" cmpd="sng" w="12700">
            <a:solidFill>
              <a:srgbClr val="3D7A5E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6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D7A5E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3200"/>
              <a:buFont typeface="Cambria"/>
              <a:buNone/>
            </a:pPr>
            <a:r>
              <a:rPr b="0" i="0" lang="en-US" sz="3200" u="none" cap="none" strike="noStrike">
                <a:solidFill>
                  <a:srgbClr val="1E2420"/>
                </a:solidFill>
                <a:latin typeface="Cambria"/>
                <a:ea typeface="Cambria"/>
                <a:cs typeface="Cambria"/>
                <a:sym typeface="Cambria"/>
              </a:rPr>
              <a:t>Why Natural Products?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457200" y="12070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457200" y="1417320"/>
            <a:ext cx="265176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94360" y="1508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3D7A5E"/>
                </a:solidFill>
                <a:latin typeface="Cambria"/>
                <a:ea typeface="Cambria"/>
                <a:cs typeface="Cambria"/>
                <a:sym typeface="Cambria"/>
              </a:rPr>
              <a:t>~50%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4360" y="21488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of approved drugs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are NP-derived or inspired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37560" y="1417320"/>
            <a:ext cx="265176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474720" y="1508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3D7A5E"/>
                </a:solidFill>
                <a:latin typeface="Cambria"/>
                <a:ea typeface="Cambria"/>
                <a:cs typeface="Cambria"/>
                <a:sym typeface="Cambria"/>
              </a:rPr>
              <a:t>700k+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474720" y="21488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natural products 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COCONUT database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217920" y="1417320"/>
            <a:ext cx="265176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355080" y="15087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3400"/>
              <a:buFont typeface="Cambria"/>
              <a:buNone/>
            </a:pPr>
            <a:r>
              <a:rPr b="0" i="0" lang="en-US" sz="3400" u="none" cap="none" strike="noStrike">
                <a:solidFill>
                  <a:srgbClr val="3D7A5E"/>
                </a:solidFill>
                <a:latin typeface="Cambria"/>
                <a:ea typeface="Cambria"/>
                <a:cs typeface="Cambria"/>
                <a:sym typeface="Cambria"/>
              </a:rPr>
              <a:t>400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355080" y="21488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known NP → drug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pairs for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33375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Despite the rich history of natural products in drug discovery, the computational link between a natural product scaffold and its derived drugs remains poorly understood. Existing generative models lack mechanisms to leverage the unique biosynthetic and evolutionary information encoded in natural product chemical space.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4251960"/>
            <a:ext cx="54864" cy="59436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58368" y="425196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Proposed Approach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58368" y="44805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Fine-tune GP-MolFormer on COCONUT with NaFM-derived cluster tokens and drug-likeness descriptors to recover known NP-derived approved drugs.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8686800" y="480060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b7e28a29c_0_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cb7e28a29c_0_1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cb7e28a29c_0_1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E2420"/>
                </a:solidFill>
                <a:latin typeface="Cambria"/>
                <a:ea typeface="Cambria"/>
                <a:cs typeface="Cambria"/>
                <a:sym typeface="Cambria"/>
              </a:rPr>
              <a:t>IBM’s GPMolformer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g3cb7e28a29c_0_1"/>
          <p:cNvCxnSpPr/>
          <p:nvPr/>
        </p:nvCxnSpPr>
        <p:spPr>
          <a:xfrm>
            <a:off x="457200" y="12070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g3cb7e28a29c_0_1"/>
          <p:cNvSpPr/>
          <p:nvPr/>
        </p:nvSpPr>
        <p:spPr>
          <a:xfrm>
            <a:off x="45720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ARCHITECTURE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4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MoLFormer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~47M params, 12 layers, 768-dim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Linear Attention + RoPE</a:t>
            </a:r>
          </a:p>
        </p:txBody>
      </p:sp>
      <p:sp>
        <p:nvSpPr>
          <p:cNvPr id="73" name="Google Shape;73;g3cb7e28a29c_0_1"/>
          <p:cNvSpPr/>
          <p:nvPr/>
        </p:nvSpPr>
        <p:spPr>
          <a:xfrm>
            <a:off x="333756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TOKENIZATION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4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SMILES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Schwaller tokenizer (canonical)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2362 vocab, max 202 tokens</a:t>
            </a:r>
          </a:p>
        </p:txBody>
      </p:sp>
      <p:sp>
        <p:nvSpPr>
          <p:cNvPr id="74" name="Google Shape;74;g3cb7e28a29c_0_1"/>
          <p:cNvSpPr/>
          <p:nvPr/>
        </p:nvSpPr>
        <p:spPr>
          <a:xfrm>
            <a:off x="621792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TRAINING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0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ZINC+PubChem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1.1B SMILES, 16x A100 GPUs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4 epochs, batch 1600, ~115h</a:t>
            </a:r>
          </a:p>
        </p:txBody>
      </p:sp>
      <p:sp>
        <p:nvSpPr>
          <p:cNvPr id="75" name="Google Shape;75;g3cb7e28a29c_0_1"/>
          <p:cNvSpPr/>
          <p:nvPr/>
        </p:nvSpPr>
        <p:spPr>
          <a:xfrm>
            <a:off x="457200" y="30175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g3cb7e28a29c_0_1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10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Pros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Foundation-scale: trained on 1.1B SMILES — largest generative chemical language model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Multi-task: de novo generation, scaffold decoration, property optimization (pair-tuning)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High validity (~99.7%) with strong diversity (IntDiv 0.86, FCD 0.06)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HuggingFace weights available (ibm-research/GP-MoLFormer-Uniq)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US" sz="1000">
                <a:solidFill>
                  <a:srgbClr val="C53030"/>
                </a:solidFill>
                <a:latin typeface="Calibri"/>
                <a:ea typeface="Calibri"/>
                <a:cs typeface="Calibri"/>
              </a:rPr>
              <a:t>Cons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b="1" lang="en-US" sz="900">
                <a:solidFill>
                  <a:srgbClr val="C53030"/>
                </a:solidFill>
                <a:latin typeface="Calibri"/>
                <a:ea typeface="Calibri"/>
                <a:cs typeface="Calibri"/>
              </a:rPr>
              <a:t xml:space="preserve">Heavy memorization: 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Up to 60% exact matches with training data; novelty drops to ~17% at 10B generations (Ross et al., 2025).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Not NP-specific: trained on general ZINC+PubChem, requires domain adaptation for NPs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Large compute: 16 A100 GPUs, ~115h training — hard to reproduce or fine-tune</a:t>
            </a:r>
          </a:p>
        </p:txBody>
      </p:sp>
      <p:sp>
        <p:nvSpPr>
          <p:cNvPr id="77" name="Google Shape;77;g3cb7e28a29c_0_1"/>
          <p:cNvSpPr/>
          <p:nvPr/>
        </p:nvSpPr>
        <p:spPr>
          <a:xfrm>
            <a:off x="8686800" y="480060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b7e28a29c_0_2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cb7e28a29c_0_24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cb7e28a29c_0_24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E2420"/>
                </a:solidFill>
                <a:latin typeface="Cambria"/>
                <a:ea typeface="Cambria"/>
                <a:cs typeface="Cambria"/>
                <a:sym typeface="Cambria"/>
              </a:rPr>
              <a:t>SynFormer - Drew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g3cb7e28a29c_0_24"/>
          <p:cNvCxnSpPr/>
          <p:nvPr/>
        </p:nvCxnSpPr>
        <p:spPr>
          <a:xfrm>
            <a:off x="457200" y="12070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g3cb7e28a29c_0_24"/>
          <p:cNvSpPr/>
          <p:nvPr/>
        </p:nvSpPr>
        <p:spPr>
          <a:xfrm>
            <a:off x="45720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cb7e28a29c_0_24"/>
          <p:cNvSpPr/>
          <p:nvPr/>
        </p:nvSpPr>
        <p:spPr>
          <a:xfrm>
            <a:off x="333756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cb7e28a29c_0_24"/>
          <p:cNvSpPr/>
          <p:nvPr/>
        </p:nvSpPr>
        <p:spPr>
          <a:xfrm>
            <a:off x="621792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cb7e28a29c_0_24"/>
          <p:cNvSpPr/>
          <p:nvPr/>
        </p:nvSpPr>
        <p:spPr>
          <a:xfrm>
            <a:off x="457200" y="30175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cb7e28a29c_0_24"/>
          <p:cNvSpPr/>
          <p:nvPr/>
        </p:nvSpPr>
        <p:spPr>
          <a:xfrm>
            <a:off x="457200" y="333756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Ipsum lor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cb7e28a29c_0_24"/>
          <p:cNvSpPr/>
          <p:nvPr/>
        </p:nvSpPr>
        <p:spPr>
          <a:xfrm>
            <a:off x="8686800" y="480060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6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b7e28a29c_0_38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cb7e28a29c_0_38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  <a:sym typeface="Calibri"/>
              </a:rPr>
              <a:t>Option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cb7e28a29c_0_38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E2420"/>
                </a:solidFill>
                <a:latin typeface="Cambria"/>
                <a:ea typeface="Cambria"/>
                <a:cs typeface="Cambria"/>
                <a:sym typeface="Cambria"/>
              </a:rPr>
              <a:t>NPGPT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g3cb7e28a29c_0_38"/>
          <p:cNvCxnSpPr/>
          <p:nvPr/>
        </p:nvCxnSpPr>
        <p:spPr>
          <a:xfrm>
            <a:off x="457200" y="12070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g3cb7e28a29c_0_38"/>
          <p:cNvSpPr/>
          <p:nvPr/>
        </p:nvSpPr>
        <p:spPr>
          <a:xfrm>
            <a:off x="45720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ARCHITECTURE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4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GPT-2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6 layers, 12 heads, 576-dim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PyTorch Lightning + HF</a:t>
            </a:r>
          </a:p>
        </p:txBody>
      </p:sp>
      <p:sp>
        <p:nvSpPr>
          <p:cNvPr id="103" name="Google Shape;103;g3cb7e28a29c_0_38"/>
          <p:cNvSpPr/>
          <p:nvPr/>
        </p:nvSpPr>
        <p:spPr>
          <a:xfrm>
            <a:off x="333756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TOKENIZATION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4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SMILES BPE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SMILES-aware BPE tokenizer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~1000 vocab, max 512 tokens</a:t>
            </a:r>
          </a:p>
        </p:txBody>
      </p:sp>
      <p:sp>
        <p:nvSpPr>
          <p:cNvPr id="104" name="Google Shape;104;g3cb7e28a29c_0_38"/>
          <p:cNvSpPr/>
          <p:nvPr/>
        </p:nvSpPr>
        <p:spPr>
          <a:xfrm>
            <a:off x="621792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TRAINING</a:t>
            </a:r>
          </a:p>
          <a:p>
            <a:pPr indent="0" lvl="0" marL="0" rtl="0" algn="ctr"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2400">
                <a:solidFill>
                  <a:srgbClr val="3D7A5E"/>
                </a:solidFill>
                <a:latin typeface="Cambria"/>
                <a:ea typeface="Cambria"/>
                <a:cs typeface="Cambria"/>
              </a:rPr>
              <a:t>COCONUT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Fine-tuned on COCONUT NPs</a:t>
            </a: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AdamW + Cosine LR, 30 epochs</a:t>
            </a:r>
          </a:p>
        </p:txBody>
      </p:sp>
      <p:sp>
        <p:nvSpPr>
          <p:cNvPr id="105" name="Google Shape;105;g3cb7e28a29c_0_38"/>
          <p:cNvSpPr/>
          <p:nvPr/>
        </p:nvSpPr>
        <p:spPr>
          <a:xfrm>
            <a:off x="457200" y="30175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cb7e28a29c_0_38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-US" sz="1000">
                <a:solidFill>
                  <a:srgbClr val="3D7A5E"/>
                </a:solidFill>
                <a:latin typeface="Calibri"/>
                <a:ea typeface="Calibri"/>
                <a:cs typeface="Calibri"/>
              </a:rPr>
              <a:t>Pros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NP-specific: Fine-tuned on COCONUT, purpose-built for natural product generation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Compact codebase (~300 lines, 4 modules) with clean Pydantic configs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Conditional generation from SMILES fragments (scaffold-based design)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Two pre-trained checkpoints available (smiles-gpt &amp; ChemGPT base)</a:t>
            </a: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1" lang="en-US" sz="1000">
                <a:solidFill>
                  <a:srgbClr val="C53030"/>
                </a:solidFill>
                <a:latin typeface="Calibri"/>
                <a:ea typeface="Calibri"/>
                <a:cs typeface="Calibri"/>
              </a:rPr>
              <a:t>Cons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b="1" lang="en-US" sz="900">
                <a:solidFill>
                  <a:srgbClr val="C53030"/>
                </a:solidFill>
                <a:latin typeface="Calibri"/>
                <a:ea typeface="Calibri"/>
                <a:cs typeface="Calibri"/>
              </a:rPr>
              <a:t xml:space="preserve">Low validity: </a:t>
            </a: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SMILES-based models achieve high novelty but low validity (~70-85%). MolGPT (Bagal et al., 2022) shows syntactically incorrect SMILES are a common failure mode in autoregressive generation.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No property conditioning (QED, SA) — generation is unconditional or fragment-seeded only</a:t>
            </a: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  <a:buChar char="•"/>
              <a:buSzPts val="900"/>
            </a:pPr>
            <a:r>
              <a:rPr lang="en-US" sz="9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Small model (6L/12H) may underfit complex NP structures vs. larger foundation models</a:t>
            </a:r>
          </a:p>
        </p:txBody>
      </p:sp>
      <p:sp>
        <p:nvSpPr>
          <p:cNvPr id="107" name="Google Shape;107;g3cb7e28a29c_0_38"/>
          <p:cNvSpPr/>
          <p:nvPr/>
        </p:nvSpPr>
        <p:spPr>
          <a:xfrm>
            <a:off x="8686800" y="480060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6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d6468a05f_0_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3D7A5E"/>
          </a:solidFill>
          <a:ln cap="flat" cmpd="sng" w="12700">
            <a:solidFill>
              <a:srgbClr val="3D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cd6468a05f_0_0"/>
          <p:cNvSpPr/>
          <p:nvPr/>
        </p:nvSpPr>
        <p:spPr>
          <a:xfrm>
            <a:off x="457200" y="201168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7A5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3D7A5E"/>
                </a:solidFill>
                <a:latin typeface="Calibri"/>
                <a:ea typeface="Calibri"/>
                <a:cs typeface="Calibri"/>
                <a:sym typeface="Calibri"/>
              </a:rPr>
              <a:t>Option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g3cd6468a05f_0_0"/>
          <p:cNvSpPr/>
          <p:nvPr/>
        </p:nvSpPr>
        <p:spPr>
          <a:xfrm>
            <a:off x="457200" y="47548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1E2420"/>
                </a:solidFill>
                <a:latin typeface="Cambria"/>
                <a:ea typeface="Cambria"/>
                <a:cs typeface="Cambria"/>
                <a:sym typeface="Cambria"/>
              </a:rPr>
              <a:t>Conclusion: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g3cd6468a05f_0_0"/>
          <p:cNvCxnSpPr/>
          <p:nvPr/>
        </p:nvCxnSpPr>
        <p:spPr>
          <a:xfrm>
            <a:off x="457200" y="1207008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g3cd6468a05f_0_0"/>
          <p:cNvSpPr/>
          <p:nvPr/>
        </p:nvSpPr>
        <p:spPr>
          <a:xfrm>
            <a:off x="45720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cd6468a05f_0_0"/>
          <p:cNvSpPr/>
          <p:nvPr/>
        </p:nvSpPr>
        <p:spPr>
          <a:xfrm>
            <a:off x="333756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cd6468a05f_0_0"/>
          <p:cNvSpPr/>
          <p:nvPr/>
        </p:nvSpPr>
        <p:spPr>
          <a:xfrm>
            <a:off x="6217920" y="1417320"/>
            <a:ext cx="2651700" cy="1371600"/>
          </a:xfrm>
          <a:prstGeom prst="rect">
            <a:avLst/>
          </a:prstGeom>
          <a:solidFill>
            <a:srgbClr val="EBF4EF"/>
          </a:solidFill>
          <a:ln cap="flat" cmpd="sng" w="9525">
            <a:solidFill>
              <a:srgbClr val="DDE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cd6468a05f_0_0"/>
          <p:cNvSpPr/>
          <p:nvPr/>
        </p:nvSpPr>
        <p:spPr>
          <a:xfrm>
            <a:off x="457200" y="30175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42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420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cd6468a05f_0_0"/>
          <p:cNvSpPr/>
          <p:nvPr/>
        </p:nvSpPr>
        <p:spPr>
          <a:xfrm>
            <a:off x="457200" y="333756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Ipsum lor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cd6468a05f_0_0"/>
          <p:cNvSpPr/>
          <p:nvPr/>
        </p:nvSpPr>
        <p:spPr>
          <a:xfrm>
            <a:off x="8686800" y="4800600"/>
            <a:ext cx="365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9B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A9BA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2026-02-26T22:58:32Z</dcterms:created>
  <dc:creator>PptxGenJS</dc:creator>
</cp:coreProperties>
</file>