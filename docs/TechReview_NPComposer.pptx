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54864" cy="16459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8229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Technology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743200"/>
            <a:ext cx="8229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00A896"/>
                </a:solidFill>
                <a:latin typeface="Calibri"/>
              </a:defRPr>
            </a:pPr>
            <a:r>
              <a:t>Molecular Generation Pipeline Design for NPComposer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840480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SMILES  ·  SELFIES  ·  Molecular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5669280"/>
            <a:ext cx="4572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NPComposer  |  Natural Product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66928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Juyoung Choi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1E293B"/>
                </a:solidFill>
                <a:latin typeface="Georgia"/>
              </a:defRPr>
            </a:pPr>
            <a: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28090"/>
                </a:solidFill>
                <a:latin typeface="Calibri"/>
              </a:defRPr>
            </a:pPr>
            <a:r>
              <a:t>Why does NPComposer need to choose a molecular generation pipeline?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4864" cy="4389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28090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438912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NPComposer generates novel natural product molecules using deep learning. The core design choice — how to represent molecules and which model architecture to use — determines:</a:t>
            </a:r>
            <a:br/>
            <a:br/>
            <a:r>
              <a:t>•  Validity rate of generated molecules</a:t>
            </a:r>
            <a:br/>
            <a:r>
              <a:t>•  Code complexity and development time</a:t>
            </a:r>
            <a:br/>
            <a:r>
              <a:t>•  Ability to handle complex NP structures</a:t>
            </a:r>
            <a:br/>
            <a:r>
              <a:t>•  Integration with existing cheminformatics tools</a:t>
            </a:r>
            <a:br/>
            <a:br/>
            <a:r>
              <a:t>A wrong choice (like Tableau's dead Python API) can waste months.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4864" cy="1188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6596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28090"/>
                </a:solidFill>
                <a:latin typeface="Georgia"/>
              </a:defRPr>
            </a:pPr>
            <a:r>
              <a:t>715K+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46888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molecules in COCONUT dataset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291840"/>
            <a:ext cx="5029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91840"/>
            <a:ext cx="54864" cy="1188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342900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28090"/>
                </a:solidFill>
                <a:latin typeface="Georgia"/>
              </a:defRPr>
            </a:pPr>
            <a: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93192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validity needed for drug 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754880"/>
            <a:ext cx="50292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754880"/>
            <a:ext cx="54864" cy="118872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4892040"/>
            <a:ext cx="1828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28090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94960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pipeline approaches evaluated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1E293B"/>
                </a:solidFill>
                <a:latin typeface="Georgia"/>
              </a:defRPr>
            </a:pPr>
            <a:r>
              <a:t>Three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28090"/>
                </a:solidFill>
                <a:latin typeface="Calibri"/>
              </a:defRPr>
            </a:pPr>
            <a:r>
              <a:t>Comparing end-to-end molecular generation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7452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SMILES + Char Tokenizer</a:t>
            </a:r>
            <a:br/>
            <a:r>
              <a:t>+ HuggingFace Transformers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8090"/>
                </a:solidFill>
                <a:latin typeface="Calibri"/>
              </a:defRPr>
            </a:pPr>
            <a:r>
              <a:t>Representation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9864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SMILES strings (e.g. CC(=O)Oc1ccccc1C(=O)O)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8090"/>
                </a:solidFill>
                <a:latin typeface="Calibri"/>
              </a:defRPr>
            </a:pPr>
            <a:r>
              <a:t>Tokenizer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Character-level (one char = one token)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8090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8736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HuggingFace GPT-2 / Transformers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8090"/>
                </a:solidFill>
                <a:latin typeface="Calibri"/>
              </a:defRPr>
            </a:pPr>
            <a:r>
              <a:t>Validity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8172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65–85%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0749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8090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27608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~150–300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6928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8090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87044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124K+ GitHub stars (HF)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64592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1645920"/>
            <a:ext cx="3383280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187452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1874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SELFIES + BPE Tokenizer</a:t>
            </a:r>
            <a:br/>
            <a:r>
              <a:t>+ x-transformers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69748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A896"/>
                </a:solidFill>
                <a:latin typeface="Calibri"/>
              </a:defRPr>
            </a:pPr>
            <a:r>
              <a:t>Representation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89864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SELFIES strings ([C][=C][Branch1]...)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329184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A896"/>
                </a:solidFill>
                <a:latin typeface="Calibri"/>
              </a:defRPr>
            </a:pPr>
            <a:r>
              <a:t>Tokenizer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4930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Byte-Pair Encoding (subword units)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388620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A896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08736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x-transformers / Custom PyTorch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48056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A896"/>
                </a:solidFill>
                <a:latin typeface="Calibri"/>
              </a:defRPr>
            </a:pPr>
            <a:r>
              <a:t>Validity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68172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100% (by design)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50749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A896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27608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~250–400 lines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566928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0A896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587044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700+ (SELFIES) / 5.7K (x-transformers)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1645920"/>
            <a:ext cx="33832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1645920"/>
            <a:ext cx="3383280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12480" y="187452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1874520"/>
            <a:ext cx="23774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Molecular Graph</a:t>
            </a:r>
            <a:br/>
            <a:r>
              <a:t>+ GNN (PyTorch Geometric)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69748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C39A"/>
                </a:solidFill>
                <a:latin typeface="Calibri"/>
              </a:defRPr>
            </a:pPr>
            <a:r>
              <a:t>Representation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289864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Graph (atoms=nodes, bonds=edges)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29184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C39A"/>
                </a:solidFill>
                <a:latin typeface="Calibri"/>
              </a:defRPr>
            </a:pPr>
            <a:r>
              <a:t>Tokenizer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34930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Graph encoding (no text tokenization)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388620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C39A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08736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PyTorch Geometric / DGL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448056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C39A"/>
                </a:solidFill>
                <a:latin typeface="Calibri"/>
              </a:defRPr>
            </a:pPr>
            <a:r>
              <a:t>Validity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68172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95–100% (tree constraints)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507492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C39A"/>
                </a:solidFill>
                <a:latin typeface="Calibri"/>
              </a:defRPr>
            </a:pPr>
            <a:r>
              <a:t>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527608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~1000–2500 lines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5669280"/>
            <a:ext cx="29260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02C39A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587044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4K+ (PyG)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1E293B"/>
                </a:solidFill>
                <a:latin typeface="Georgia"/>
              </a:defRPr>
            </a:pPr>
            <a:r>
              <a:t>Our Choice: Approach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SELFIES + BPE Tokenizer + Transformer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4864" cy="45720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0A896"/>
                </a:solidFill>
                <a:latin typeface="Calibri"/>
              </a:defRPr>
            </a:pPr>
            <a:r>
              <a:t>WHY APPROACH B?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41401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50008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100% Molecular Validity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78608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Every SELFIES string decodes to a valid molecule — no post-hoc filtering needed. Critical for drug discovery workflows.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19125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127248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Natural Product Friendly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55848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SELFIES handles complex ring systems, stereocenters, and macrocycles better than SMILES character tokenization.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396849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904488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BPE Captures Substructures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33088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Byte-Pair Encoding learns chemically meaningful token units (functional groups, ring fragments) unlike character-level.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474573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681728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Pre-trained Models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10328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MolGen-large (ICLR 2024) trained on 100M+ SELFIES molecules. NPGPT (2024) designed specifically for natural products.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522976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458968"/>
            <a:ext cx="4389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Manageable 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687568"/>
            <a:ext cx="43891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250–400 lines vs 1000–2500 for Graph GNN. Achievable in one quarter with good results.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737360"/>
            <a:ext cx="5029200" cy="7315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028090"/>
                </a:solidFill>
                <a:latin typeface="Calibri"/>
              </a:defRPr>
            </a:pPr>
            <a:r>
              <a:t>COMPARISON SUMMARY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377440"/>
            <a:ext cx="4663440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242316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24231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A: SMILES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423160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B: SELFIES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4231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C: Graph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743200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798064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Validity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2798064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65–85%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798064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2798064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95–100%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127248"/>
            <a:ext cx="466344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182112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Code Lines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182112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150–300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182112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250–400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3182112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1000–2500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5120" y="3511296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56616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35661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566160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Fast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56616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Slower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895344"/>
            <a:ext cx="466344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3950208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NP Handling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80" y="3950208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Fair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950208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Good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950208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Excellent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4279392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4334256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Pre-trained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80" y="433425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Many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4334256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Few (growing)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4334256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Few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75120" y="4663440"/>
            <a:ext cx="466344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0" y="4718304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Complexity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0" y="4718304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4718304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4718304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5047488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75120" y="5102352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3D Support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80" y="5102352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0" y="5102352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0" y="5102352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0" y="5431536"/>
            <a:ext cx="466344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75120" y="54864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1E293B"/>
                </a:solidFill>
                <a:latin typeface="Calibri"/>
              </a:defRPr>
            </a:pPr>
            <a:r>
              <a:t>Ecosystem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80" y="548640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Massive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0" y="5486400"/>
            <a:ext cx="1188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1">
                <a:solidFill>
                  <a:srgbClr val="00A896"/>
                </a:solidFill>
                <a:latin typeface="Calibri"/>
              </a:defRPr>
            </a:pPr>
            <a:r>
              <a:t>Growing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548640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1E293B"/>
                </a:solidFill>
                <a:latin typeface="Calibri"/>
              </a:defRPr>
            </a:pPr>
            <a:r>
              <a:t>Strong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315200" y="5669280"/>
            <a:ext cx="320040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0" y="5669280"/>
            <a:ext cx="3200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Best balance of validity +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Drawbacks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0">
                <a:solidFill>
                  <a:srgbClr val="00A896"/>
                </a:solidFill>
                <a:latin typeface="Calibri"/>
              </a:defRPr>
            </a:pPr>
            <a:r>
              <a:t>Honest assessment of our choice and the path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0292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29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KNOWN DRAWBACKS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368296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04288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Longer Strings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32888"/>
            <a:ext cx="4206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SELFIES representations are 10–40% longer than SMILES, increasing sequence length and training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172968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108960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Smaller 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37560"/>
            <a:ext cx="4206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Fewer pre-trained models and tutorials compared to SMILES-based approaches (700 vs 124K GitHub stars).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397764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13632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Less Interpretable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42232"/>
            <a:ext cx="4206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SELFIES tokens ([C][Branch1][Ring2]) are harder to read than SMILES for chemists used to SMILES notation.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782312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718304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 3D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946904"/>
            <a:ext cx="4206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Unlike graph-based methods, SELFIES is a 1D string representation and cannot encode 3D molecular geometry.</a:t>
            </a:r>
          </a:p>
        </p:txBody>
      </p:sp>
      <p:sp>
        <p:nvSpPr>
          <p:cNvPr id="21" name="Oval 20"/>
          <p:cNvSpPr/>
          <p:nvPr/>
        </p:nvSpPr>
        <p:spPr>
          <a:xfrm>
            <a:off x="1005840" y="5586984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522976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Edge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751576"/>
            <a:ext cx="4206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Recent 2025 research found theoretical edge cases where SELFIES validity may not hold, though practically &gt;99%.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737360"/>
            <a:ext cx="502920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1737360"/>
            <a:ext cx="50292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233172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304288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Integrate SELFIES tokenizer into NPComposer's Data Layer, replacing character-level SMILES tokenization.</a:t>
            </a:r>
          </a:p>
        </p:txBody>
      </p:sp>
      <p:sp>
        <p:nvSpPr>
          <p:cNvPr id="29" name="Oval 28"/>
          <p:cNvSpPr/>
          <p:nvPr/>
        </p:nvSpPr>
        <p:spPr>
          <a:xfrm>
            <a:off x="6675120" y="3136392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108960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Train BPE tokenizer on COCONUT+NPASS SELFIES to learn NP-specific subword vocabulary.</a:t>
            </a:r>
          </a:p>
        </p:txBody>
      </p:sp>
      <p:sp>
        <p:nvSpPr>
          <p:cNvPr id="31" name="Oval 30"/>
          <p:cNvSpPr/>
          <p:nvPr/>
        </p:nvSpPr>
        <p:spPr>
          <a:xfrm>
            <a:off x="6675120" y="3941064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913632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Evaluate MolGen-large (HuggingFace) as starting checkpoint for fine-tuning on our NP dataset.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4745736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718304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Implement RL training loop using TRL library with SA/QED reward functions from existing Evaluation component.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5550408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5522976"/>
            <a:ext cx="402336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Benchmark: compare validity, novelty, and diversity against SMILES baseline on held-out test set.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References: SELFIES (Krenn et al., 2019)  ·  MolGen (ICLR 2024)  ·  NPGPT (2024)  ·  JT-VAE (Jin et al., 2018)  ·  PyG (Fey &amp; Lenssen, 2019)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